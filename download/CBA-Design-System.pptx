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</p:sldIdLst>
  <p:sldSz cx="20105751" cy="11311001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6A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3809313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venir Next"/>
              </a:rPr>
              <a:t>CBA B+G  ·  DESIGN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53726"/>
            <a:ext cx="13809313" cy="44783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0000"/>
              </a:lnSpc>
            </a:pPr>
            <a:r>
              <a:rPr sz="12000" b="1">
                <a:solidFill>
                  <a:srgbClr val="FFFFFF"/>
                </a:solidFill>
                <a:latin typeface="Avenir Next"/>
              </a:rPr>
              <a:t>Um sistema</a:t>
            </a:r>
          </a:p>
          <a:p>
            <a:pPr algn="l">
              <a:lnSpc>
                <a:spcPct val="80000"/>
              </a:lnSpc>
            </a:pPr>
            <a:r>
              <a:rPr sz="12000" b="1">
                <a:solidFill>
                  <a:srgbClr val="FFFFFF"/>
                </a:solidFill>
                <a:latin typeface="Avenir Next"/>
              </a:rPr>
              <a:t>cabe em treze</a:t>
            </a:r>
          </a:p>
          <a:p>
            <a:pPr algn="l">
              <a:lnSpc>
                <a:spcPct val="80000"/>
              </a:lnSpc>
            </a:pPr>
            <a:r>
              <a:rPr sz="12000" b="1">
                <a:solidFill>
                  <a:srgbClr val="FFFFFF"/>
                </a:solidFill>
                <a:latin typeface="Avenir Next"/>
              </a:rPr>
              <a:t>estilos</a:t>
            </a:r>
            <a:r>
              <a:rPr sz="12000" b="1">
                <a:solidFill>
                  <a:srgbClr val="FD5E6D"/>
                </a:solidFill>
                <a:latin typeface="Avenir Next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052301"/>
            <a:ext cx="9036875" cy="1557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>
                <a:solidFill>
                  <a:srgbClr val="FFFFFF"/>
                </a:solidFill>
                <a:latin typeface="Avenir Next"/>
              </a:rPr>
              <a:t>Documentação da tipografia, cor e grid do CBA Studio.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O QUE É ISTO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05174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A ferramenta é a definição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775457"/>
            <a:ext cx="13809313" cy="2040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Este documento não inventa um padrão: ele descreve o que a faixa CBA Studio já aplica com um clique. A fonte da verdade é o código do add-in; aqui e nos slides seguintes ele está escrito em português.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488368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FONTE DA VERDADE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6877542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SetDefaults, no .bas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6387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ESPELHO EM CÓDIGO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8205561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tools/design-system/tokens.py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6488368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REGRAS EM TEXTO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6877542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design.md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7816387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GATE ANTI-DERIVA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06875" y="8205561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check-tokens.py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ABERTURA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O caminho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878283"/>
            <a:ext cx="13809313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Sete blocos, do que é invariável para o que é aplicado.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828582"/>
            <a:ext cx="4264437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690866"/>
            <a:ext cx="4264437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260272"/>
            <a:ext cx="4264437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Página, margem, módulo, raio.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4437" y="3828582"/>
            <a:ext cx="4264437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4437" y="4690866"/>
            <a:ext cx="4264437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4437" y="5260272"/>
            <a:ext cx="4264437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Cinco slots, dois papéis de tipo.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3828582"/>
            <a:ext cx="4264437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4690866"/>
            <a:ext cx="4264437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06875" y="5260272"/>
            <a:ext cx="4264437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Os treze estilos, um a um.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79313" y="3828582"/>
            <a:ext cx="4264437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79313" y="4690866"/>
            <a:ext cx="4264437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Componentes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79313" y="5260272"/>
            <a:ext cx="4264437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Caixas, cards, imagens.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6926969"/>
            <a:ext cx="4264437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7789253"/>
            <a:ext cx="4264437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8358659"/>
            <a:ext cx="4264437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Layouts que o sistema aceita.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4437" y="6926969"/>
            <a:ext cx="4264437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4437" y="7789253"/>
            <a:ext cx="4264437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Regras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4437" y="8358659"/>
            <a:ext cx="4264437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Anti-vícios e migração.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06875" y="6926969"/>
            <a:ext cx="4264437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7.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06875" y="7789253"/>
            <a:ext cx="4264437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Outras mídias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06875" y="8358659"/>
            <a:ext cx="4264437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Web, impresso, social.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79313" y="6926969"/>
            <a:ext cx="4264437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8.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79313" y="7789253"/>
            <a:ext cx="4264437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Aplicação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79313" y="8358659"/>
            <a:ext cx="4264437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 faixa e o Brand Standards.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ABERTURA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6A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812714"/>
            <a:ext cx="13809313" cy="38468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>
                <a:solidFill>
                  <a:srgbClr val="FFFFFF"/>
                </a:solidFill>
                <a:latin typeface="Avenir Next"/>
              </a:rPr>
              <a:t>1.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5136841"/>
            <a:ext cx="13809313" cy="1107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FFFFFF"/>
                </a:solidFill>
                <a:latin typeface="Avenir Next"/>
              </a:rPr>
              <a:t>Fundamentos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455886"/>
            <a:ext cx="9036875" cy="2040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FFFFFF"/>
                </a:solidFill>
                <a:latin typeface="Avenir Next"/>
              </a:rPr>
              <a:t>A página, a margem, o módulo de espaçamento e o raio. Todo o resto deriva daqui.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FFFFFF"/>
                </a:solidFill>
                <a:latin typeface="Avenir Next"/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venir Nex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9036875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A página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132283"/>
            <a:ext cx="9036875" cy="20003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16:9 customizado, não o 16:9 padrão do PowerPoint. Deck em outro formato entra distorcido: o botão Page Size da faixa converte.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 altura é a ponte entre mídias: 1080px equivale a 890,63pt, logo 1pt = 1,2126px.</a:t>
            </a:r>
          </a:p>
        </p:txBody>
      </p:sp>
      <p:sp>
        <p:nvSpPr>
          <p:cNvPr id="4" name="Rectangle 3"/>
          <p:cNvSpPr/>
          <p:nvPr/>
        </p:nvSpPr>
        <p:spPr>
          <a:xfrm>
            <a:off x="12451829" y="1524000"/>
            <a:ext cx="6891921" cy="3877225"/>
          </a:xfrm>
          <a:prstGeom prst="rect">
            <a:avLst/>
          </a:prstGeom>
          <a:solidFill>
            <a:srgbClr val="FFFFFF"/>
          </a:solidFill>
          <a:ln w="12700">
            <a:solidFill>
              <a:srgbClr val="436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451829" y="6163225"/>
            <a:ext cx="6891921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LARGURA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51829" y="6552399"/>
            <a:ext cx="6891921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1583,13 pt  ·  1920 px  ·  55,8 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451829" y="7353276"/>
            <a:ext cx="6891921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ALTURA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51829" y="7742450"/>
            <a:ext cx="6891921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890,63 pt  ·  1080 px  ·  31,4 cm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51829" y="8543328"/>
            <a:ext cx="6891921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PROPORÇÃO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51829" y="8932502"/>
            <a:ext cx="6891921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16:9 customizado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FUNDAMENTOS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9036875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Margem e área útil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132283"/>
            <a:ext cx="9036875" cy="800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 margem tem 60pt, três módulos exatos, nos quatro lados. Ela existe para o slide sobreviver a recorte, projeção e reaproveitamento em outra mídia.</a:t>
            </a:r>
          </a:p>
        </p:txBody>
      </p:sp>
      <p:sp>
        <p:nvSpPr>
          <p:cNvPr id="4" name="Rectangle 3"/>
          <p:cNvSpPr/>
          <p:nvPr/>
        </p:nvSpPr>
        <p:spPr>
          <a:xfrm>
            <a:off x="12451829" y="1524000"/>
            <a:ext cx="6891921" cy="3877225"/>
          </a:xfrm>
          <a:prstGeom prst="rect">
            <a:avLst/>
          </a:prstGeom>
          <a:solidFill>
            <a:srgbClr val="FFFFFF"/>
          </a:solidFill>
          <a:ln w="12700">
            <a:solidFill>
              <a:srgbClr val="436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713030" y="1785201"/>
            <a:ext cx="6369519" cy="3354823"/>
          </a:xfrm>
          <a:prstGeom prst="rect">
            <a:avLst/>
          </a:prstGeom>
          <a:noFill/>
          <a:ln w="12700">
            <a:solidFill>
              <a:srgbClr val="FD5E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451829" y="6163225"/>
            <a:ext cx="6891921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MARGEM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451829" y="6552399"/>
            <a:ext cx="6891921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60 pt  ·  73 px  ·  2,12 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51829" y="7353276"/>
            <a:ext cx="6891921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ÁREA ÚTIL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51829" y="7742450"/>
            <a:ext cx="6891921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1463 x 771 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51829" y="8543328"/>
            <a:ext cx="6891921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COLUNAS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51829" y="8932502"/>
            <a:ext cx="6891921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4 de 335,78 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FUNDAMENTOS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9036875" cy="1661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O módulo de espaçamento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963198"/>
            <a:ext cx="9036875" cy="12002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Toda distância entre colunas, cards e blocos é múltiplo de 20pt, e o raio e a margem também: 20 e 60. Distância que não é múltiplo de 20 é acidente, não decisão.</a:t>
            </a:r>
          </a:p>
        </p:txBody>
      </p:sp>
      <p:sp>
        <p:nvSpPr>
          <p:cNvPr id="4" name="Rectangle 3"/>
          <p:cNvSpPr/>
          <p:nvPr/>
        </p:nvSpPr>
        <p:spPr>
          <a:xfrm>
            <a:off x="12451829" y="1524000"/>
            <a:ext cx="6891921" cy="3877225"/>
          </a:xfrm>
          <a:prstGeom prst="rect">
            <a:avLst/>
          </a:prstGeom>
          <a:solidFill>
            <a:srgbClr val="FFFFFF"/>
          </a:solidFill>
          <a:ln w="12700">
            <a:solidFill>
              <a:srgbClr val="436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713030" y="1785201"/>
            <a:ext cx="6369519" cy="3354823"/>
          </a:xfrm>
          <a:prstGeom prst="rect">
            <a:avLst/>
          </a:prstGeom>
          <a:noFill/>
          <a:ln w="12700">
            <a:solidFill>
              <a:srgbClr val="FD5E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713030" y="5140024"/>
            <a:ext cx="87067" cy="87067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87164" y="5140024"/>
            <a:ext cx="87067" cy="87067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061298" y="5140024"/>
            <a:ext cx="87067" cy="87067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235432" y="5140024"/>
            <a:ext cx="87067" cy="87067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409566" y="5140024"/>
            <a:ext cx="87067" cy="87067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583700" y="5140024"/>
            <a:ext cx="87067" cy="87067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57835" y="5140024"/>
            <a:ext cx="87067" cy="87067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931969" y="5140024"/>
            <a:ext cx="87067" cy="87067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51829" y="6163225"/>
            <a:ext cx="6891921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MÓDULO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51829" y="6552399"/>
            <a:ext cx="6891921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20 pt  ·  24 px  ·  0,71 cm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51829" y="7353276"/>
            <a:ext cx="6891921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MÚLTIPLOS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51829" y="7742450"/>
            <a:ext cx="6891921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20 · 40 · 60 · 80 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51829" y="8543328"/>
            <a:ext cx="6891921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RELAÇÃO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51829" y="8932502"/>
            <a:ext cx="6891921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raio = 1 módulo, gutter =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FUNDAMENTOS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Âncora de encaixe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132283"/>
            <a:ext cx="13809313" cy="2040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A âncora não é a margem. A margem delimita a página; a âncora é o passo de alinhamento entre objetos. São papéis diferentes e convivem.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166781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PADRÃO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555955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1,27 cm  ·  36 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494800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EM PIXELS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83974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44 px @1080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6875" y="6166781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PASSOS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6555955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0,5 · 1 · 1,27 · 1,5 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7494800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PASSOS (cont.)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7883974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 · 2,5 · 3 · 4 · 5 cm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FUNDAMENTOS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Raio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132283"/>
            <a:ext cx="13809313" cy="2040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O raio é um valor visual constante, não uma proporção: um card grande e um botão pequeno tem o mesmo arredondamento. É o que faz formas de tamanhos diferentes parecerem da mesma família.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166781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RAIO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555955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20 pt  ·  24 px  ·  0,71 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494800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EM OOXML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83974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adj = raio / (menor lado / 2) x 50000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6875" y="6166781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PILL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6555955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adj = 50000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7494800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RETO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7883974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adj =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FUNDAMENTOS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06875" y="762000"/>
            <a:ext cx="9036875" cy="9787001"/>
          </a:xfrm>
          <a:prstGeom prst="roundRect">
            <a:avLst>
              <a:gd name="adj" fmla="val 2810"/>
            </a:avLst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14875" y="4412974"/>
            <a:ext cx="8020875" cy="24850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FFFFF"/>
                </a:solidFill>
                <a:latin typeface="Avenir Next"/>
              </a:rPr>
              <a:t>60 de margem.</a:t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FFFFF"/>
                </a:solidFill>
                <a:latin typeface="Avenir Next"/>
              </a:rPr>
              <a:t>20 de módulo.</a:t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FFFFF"/>
                </a:solidFill>
                <a:latin typeface="Avenir Next"/>
              </a:rPr>
              <a:t>20 de raio.</a:t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FFFFF"/>
                </a:solidFill>
                <a:latin typeface="Avenir Next"/>
              </a:rPr>
              <a:t/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FFFFF"/>
                </a:solidFill>
                <a:latin typeface="Avenir Next"/>
              </a:rPr>
              <a:t>Tudo múltiplo de 20.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9036875" cy="2769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D5E6D"/>
                </a:solidFill>
                <a:latin typeface="Avenir Next"/>
              </a:rPr>
              <a:t>COMO OS TRÊS SE COMBINAM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72761"/>
            <a:ext cx="9036875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Margem, módulo e raio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843044"/>
            <a:ext cx="9036875" cy="54409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A margem diz onde começa. O módulo diz de quanto em quanto se anda. O raio diz como a forma termina.</a:t>
            </a:r>
          </a:p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Com os três fixos, dois slides feitos por pessoas diferentes saem parecidos sem combinação prévia: que é o único teste que importa num design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FUNDAMENTOS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5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152773"/>
            <a:ext cx="13809313" cy="38468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>
                <a:solidFill>
                  <a:srgbClr val="FFFFFF"/>
                </a:solidFill>
                <a:latin typeface="Avenir Next"/>
              </a:rPr>
              <a:t>2.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5476901"/>
            <a:ext cx="13809313" cy="1107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FFFFFF"/>
                </a:solidFill>
                <a:latin typeface="Avenir Next"/>
              </a:rPr>
              <a:t>Cor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795945"/>
            <a:ext cx="9036875" cy="1360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FFFFFF"/>
                </a:solidFill>
                <a:latin typeface="Avenir Next"/>
              </a:rPr>
              <a:t>Cinco slots. Dois carregam tipo. Um resolve contraste sozinho.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FFFFFF"/>
                </a:solidFill>
                <a:latin typeface="Avenir Next"/>
              </a:rPr>
              <a:t>COR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venir Nex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A paleta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878283"/>
            <a:ext cx="13809313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Os índices importam: a configuração de marca referência por número, não por nome.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5326364"/>
            <a:ext cx="3309950" cy="1934583"/>
          </a:xfrm>
          <a:prstGeom prst="roundRect">
            <a:avLst>
              <a:gd name="adj" fmla="val 131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PAL0</a:t>
            </a:r>
          </a:p>
          <a:p>
            <a:pPr algn="l">
              <a:lnSpc>
                <a:spcPct val="100000"/>
              </a:lnSpc>
              <a:spcBef>
                <a:spcPts val="1610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Rosa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#FD5E6D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9950" y="5326364"/>
            <a:ext cx="3309950" cy="1934583"/>
          </a:xfrm>
          <a:prstGeom prst="roundRect">
            <a:avLst>
              <a:gd name="adj" fmla="val 131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PAL1</a:t>
            </a:r>
          </a:p>
          <a:p>
            <a:pPr algn="l">
              <a:lnSpc>
                <a:spcPct val="100000"/>
              </a:lnSpc>
              <a:spcBef>
                <a:spcPts val="1610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#436AE1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97900" y="5326364"/>
            <a:ext cx="3309950" cy="1934583"/>
          </a:xfrm>
          <a:prstGeom prst="roundRect">
            <a:avLst>
              <a:gd name="adj" fmla="val 131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PAL2</a:t>
            </a:r>
          </a:p>
          <a:p>
            <a:pPr algn="l">
              <a:lnSpc>
                <a:spcPct val="100000"/>
              </a:lnSpc>
              <a:spcBef>
                <a:spcPts val="1610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Bege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#EEECE6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215850" y="5326364"/>
            <a:ext cx="3309950" cy="1934583"/>
          </a:xfrm>
          <a:prstGeom prst="roundRect">
            <a:avLst>
              <a:gd name="adj" fmla="val 131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PAL3</a:t>
            </a:r>
          </a:p>
          <a:p>
            <a:pPr algn="l">
              <a:lnSpc>
                <a:spcPct val="100000"/>
              </a:lnSpc>
              <a:spcBef>
                <a:spcPts val="1610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Branco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#FFFFFF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033800" y="5326364"/>
            <a:ext cx="3309950" cy="1934583"/>
          </a:xfrm>
          <a:prstGeom prst="roundRect">
            <a:avLst>
              <a:gd name="adj" fmla="val 131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PAL4</a:t>
            </a:r>
          </a:p>
          <a:p>
            <a:pPr algn="l">
              <a:lnSpc>
                <a:spcPct val="100000"/>
              </a:lnSpc>
              <a:spcBef>
                <a:spcPts val="1610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Preto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#000000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05174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Rosa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998089"/>
            <a:ext cx="9036875" cy="6548869"/>
          </a:xfrm>
          <a:prstGeom prst="roundRect">
            <a:avLst>
              <a:gd name="adj" fmla="val 3878"/>
            </a:avLst>
          </a:prstGeom>
          <a:solidFill>
            <a:srgbClr val="FD5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06875" y="2998089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HEX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06875" y="3387263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#FD5E6D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06875" y="4464669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6875" y="4853843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253, 94, 109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5931250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SLOT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6320424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pal0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7651830"/>
            <a:ext cx="9036875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Cor de tipo 1. Statements, títulos, chapéus, números-destaque.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05174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Azul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998089"/>
            <a:ext cx="9036875" cy="6548869"/>
          </a:xfrm>
          <a:prstGeom prst="roundRect">
            <a:avLst>
              <a:gd name="adj" fmla="val 3878"/>
            </a:avLst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06875" y="2998089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HEX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06875" y="3387263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#436AE1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06875" y="4464669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6875" y="4853843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67, 106, 225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5931250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SLOT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6320424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pal1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7651830"/>
            <a:ext cx="9036875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Cor de tipo 2. Corpo de texto, tópicos, legendas, manchetes.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05174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Bege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998089"/>
            <a:ext cx="9036875" cy="6548869"/>
          </a:xfrm>
          <a:prstGeom prst="roundRect">
            <a:avLst>
              <a:gd name="adj" fmla="val 3878"/>
            </a:avLst>
          </a:prstGeom>
          <a:solidFill>
            <a:srgbClr val="EEECE6"/>
          </a:solidFill>
          <a:ln w="12700">
            <a:solidFill>
              <a:srgbClr val="436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06875" y="2998089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HEX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06875" y="3387263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#EEECE6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06875" y="4464669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6875" y="4853843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238, 236, 230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5931250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SLOT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6320424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pal2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7651830"/>
            <a:ext cx="9036875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Fundo de conteúdo padrão. Nunca é cor de tipo.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05174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Branco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998089"/>
            <a:ext cx="9036875" cy="6548869"/>
          </a:xfrm>
          <a:prstGeom prst="roundRect">
            <a:avLst>
              <a:gd name="adj" fmla="val 387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06875" y="2998089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HEX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06875" y="3387263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#FFFFFF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06875" y="4464669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6875" y="4853843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255, 255, 255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5931250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SLOT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6320424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pal3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7651830"/>
            <a:ext cx="9036875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Fundo claro e texto sobre fundo saturado (regra de contraste).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05174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Preto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998089"/>
            <a:ext cx="9036875" cy="6548869"/>
          </a:xfrm>
          <a:prstGeom prst="roundRect">
            <a:avLst>
              <a:gd name="adj" fmla="val 3878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06875" y="2998089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HEX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06875" y="3387263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#000000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06875" y="4464669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6875" y="4853843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0, 0, 0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5931250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SLOT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6320424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pal4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7651830"/>
            <a:ext cx="9036875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Reserva. Não usar em tipo da marca.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PAPÉIS DE COR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05174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O tipo só tem duas cores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4863281"/>
            <a:ext cx="5855250" cy="2818485"/>
          </a:xfrm>
          <a:prstGeom prst="roundRect">
            <a:avLst>
              <a:gd name="adj" fmla="val 90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Rosa
pal0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Statements, títulos, chapéus e números-destaque. É a cor que marca hierarquia alta.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25250" y="4863281"/>
            <a:ext cx="5855250" cy="2818485"/>
          </a:xfrm>
          <a:prstGeom prst="roundRect">
            <a:avLst>
              <a:gd name="adj" fmla="val 90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
pal1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Corpo de texto, tópicos, legendas e manchetes. É a cor que se le em volume.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488500" y="4863281"/>
            <a:ext cx="5855250" cy="2818485"/>
          </a:xfrm>
          <a:prstGeom prst="roundRect">
            <a:avLst>
              <a:gd name="adj" fmla="val 90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Branco
pal3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Não é escolha: aparece quando a regra de contraste age sobre fundo saturado.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06875" y="762000"/>
            <a:ext cx="9036875" cy="9787001"/>
          </a:xfrm>
          <a:prstGeom prst="roundRect">
            <a:avLst>
              <a:gd name="adj" fmla="val 2810"/>
            </a:avLst>
          </a:prstGeom>
          <a:solidFill>
            <a:srgbClr val="FD5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14875" y="4409127"/>
            <a:ext cx="8020875" cy="2492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FFFFF"/>
                </a:solidFill>
                <a:latin typeface="Avenir Next"/>
              </a:rPr>
              <a:t>Título 60 é rosa.</a:t>
            </a:r>
          </a:p>
          <a:p>
            <a:pPr algn="l">
              <a:lnSpc>
                <a:spcPct val="90000"/>
              </a:lnSpc>
            </a:pPr>
            <a:r>
              <a:rPr sz="6000" b="1">
                <a:solidFill>
                  <a:srgbClr val="FFFFFF"/>
                </a:solidFill>
                <a:latin typeface="Avenir Next"/>
              </a:rPr>
              <a:t>Sobre fundo rosa,</a:t>
            </a:r>
          </a:p>
          <a:p>
            <a:pPr algn="l">
              <a:lnSpc>
                <a:spcPct val="90000"/>
              </a:lnSpc>
            </a:pPr>
            <a:r>
              <a:rPr sz="6000" b="1">
                <a:solidFill>
                  <a:srgbClr val="FFFFFF"/>
                </a:solidFill>
                <a:latin typeface="Avenir Next"/>
              </a:rPr>
              <a:t>ele nasce branco.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9036875" cy="2769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D5E6D"/>
                </a:solidFill>
                <a:latin typeface="Avenir Next"/>
              </a:rPr>
              <a:t>REGRA DE CONTRASTE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72761"/>
            <a:ext cx="9036875" cy="1661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Texto nunca some no fundo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673959"/>
            <a:ext cx="9036875" cy="47608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Se a cor do texto for exatamente a cor do fundo, o texto vira branco.</a:t>
            </a:r>
          </a:p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O fundo relevante é, nesta ordem: o da própria forma, o do grupo que a contém, o do slide. Uma forma sólida cobrindo a página também conta.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FUNDOS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05174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Fundos permitidos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5299511"/>
            <a:ext cx="4264437" cy="1946024"/>
          </a:xfrm>
          <a:prstGeom prst="roundRect">
            <a:avLst>
              <a:gd name="adj" fmla="val 130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Bege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O fundo de conteúdo padrão. Tipo em rosa e azul.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4437" y="5299511"/>
            <a:ext cx="4264437" cy="1946024"/>
          </a:xfrm>
          <a:prstGeom prst="roundRect">
            <a:avLst>
              <a:gd name="adj" fmla="val 130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Branco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Cards e areas de respiro. Tipo em rosa e azul.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06875" y="5299511"/>
            <a:ext cx="4264437" cy="1946024"/>
          </a:xfrm>
          <a:prstGeom prst="roundRect">
            <a:avLst>
              <a:gd name="adj" fmla="val 130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Aberturas e destaques. Tipo em branco.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079313" y="5299511"/>
            <a:ext cx="4264437" cy="1946024"/>
          </a:xfrm>
          <a:prstGeom prst="roundRect">
            <a:avLst>
              <a:gd name="adj" fmla="val 130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Rosa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Aberturas e destaques. Tipo em branco.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Cor: o que vale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878283"/>
            <a:ext cx="13809313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 paleta é fechada. Não existe 'um azul um pouco mais claro'.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3687690"/>
            <a:ext cx="9036875" cy="5211931"/>
          </a:xfrm>
          <a:prstGeom prst="roundRect">
            <a:avLst>
              <a:gd name="adj" fmla="val 487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0" rIns="508000" tIns="508000" bIns="508000"/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436AE1"/>
                </a:solidFill>
                <a:latin typeface="Avenir Next"/>
              </a:rPr>
              <a:t>Sim</a:t>
            </a:r>
          </a:p>
          <a:p>
            <a:pPr>
              <a:lnSpc>
                <a:spcPct val="130000"/>
              </a:lnSpc>
              <a:spcBef>
                <a:spcPts val="295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Usar os cinco slots como estao</a:t>
            </a:r>
          </a:p>
          <a:p>
            <a:pPr>
              <a:lnSpc>
                <a:spcPct val="130000"/>
              </a:lnSpc>
              <a:spcBef>
                <a:spcPts val="4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Deixar a regra de contraste decidir o branco</a:t>
            </a:r>
          </a:p>
          <a:p>
            <a:pPr>
              <a:lnSpc>
                <a:spcPct val="130000"/>
              </a:lnSpc>
              <a:spcBef>
                <a:spcPts val="4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Bege como fundo padrão de conteúdo</a:t>
            </a:r>
          </a:p>
          <a:p>
            <a:pPr>
              <a:lnSpc>
                <a:spcPct val="130000"/>
              </a:lnSpc>
              <a:spcBef>
                <a:spcPts val="4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Rosa e azul como os dois papéis de tipo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06875" y="3687690"/>
            <a:ext cx="9036875" cy="5211931"/>
          </a:xfrm>
          <a:prstGeom prst="roundRect">
            <a:avLst>
              <a:gd name="adj" fmla="val 487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0" rIns="508000" tIns="508000" bIns="508000"/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Nunca</a:t>
            </a:r>
          </a:p>
          <a:p>
            <a:pPr>
              <a:lnSpc>
                <a:spcPct val="130000"/>
              </a:lnSpc>
              <a:spcBef>
                <a:spcPts val="295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Criar tom intermediário 'para variar'</a:t>
            </a:r>
          </a:p>
          <a:p>
            <a:pPr>
              <a:lnSpc>
                <a:spcPct val="130000"/>
              </a:lnSpc>
              <a:spcBef>
                <a:spcPts val="4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Texto preto em conteúdo de marca</a:t>
            </a:r>
          </a:p>
          <a:p>
            <a:pPr>
              <a:lnSpc>
                <a:spcPct val="130000"/>
              </a:lnSpc>
              <a:spcBef>
                <a:spcPts val="4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Cor de fundo fora dos quatro permitidos</a:t>
            </a:r>
          </a:p>
          <a:p>
            <a:pPr>
              <a:lnSpc>
                <a:spcPct val="130000"/>
              </a:lnSpc>
              <a:spcBef>
                <a:spcPts val="4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Transparência para 'suavizar' uma cor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6A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812714"/>
            <a:ext cx="13809313" cy="38468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>
                <a:solidFill>
                  <a:srgbClr val="FFFFFF"/>
                </a:solidFill>
                <a:latin typeface="Avenir Next"/>
              </a:rPr>
              <a:t>3.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5136841"/>
            <a:ext cx="13809313" cy="1107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FFFFFF"/>
                </a:solidFill>
                <a:latin typeface="Avenir Next"/>
              </a:rPr>
              <a:t>Tipografia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455886"/>
            <a:ext cx="9036875" cy="2040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FFFFFF"/>
                </a:solidFill>
                <a:latin typeface="Avenir Next"/>
              </a:rPr>
              <a:t>Uma família, treze estilos. Cada um já traz peso, cor e entrelinha: escolher o estilo decide as quatro coisas.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FFFFFF"/>
                </a:solidFill>
                <a:latin typeface="Avenir Next"/>
              </a:rPr>
              <a:t>TIPOGRAFIA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venir Next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A escala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878283"/>
            <a:ext cx="13809313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Treze corpos, nada entre eles. Se não está aqui, não é do sistema.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343885"/>
            <a:ext cx="33099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250PT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733059"/>
            <a:ext cx="33099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Big Number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302465"/>
            <a:ext cx="3309950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Bold · rosa · 1.00x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9950" y="3343885"/>
            <a:ext cx="33099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120PT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9950" y="3733059"/>
            <a:ext cx="33099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9950" y="4302465"/>
            <a:ext cx="3309950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Bold · rosa · 0.80x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7900" y="3343885"/>
            <a:ext cx="33099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80PT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7900" y="3733059"/>
            <a:ext cx="33099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Manchete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7900" y="4302465"/>
            <a:ext cx="3309950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Bold · azul · 0.90x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15850" y="3343885"/>
            <a:ext cx="33099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60PT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15850" y="3733059"/>
            <a:ext cx="33099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Título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15850" y="4302465"/>
            <a:ext cx="3309950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Bold · rosa · 0.90x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33800" y="3343885"/>
            <a:ext cx="33099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44PT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33800" y="3733059"/>
            <a:ext cx="33099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Destaque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33800" y="4302465"/>
            <a:ext cx="3309950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Regular · azul · 1.15x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5614330"/>
            <a:ext cx="33099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34PT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6003505"/>
            <a:ext cx="33099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Subtítulo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572911"/>
            <a:ext cx="3309950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Bold · rosa · 0.95x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9950" y="5614330"/>
            <a:ext cx="33099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34PT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9950" y="6003505"/>
            <a:ext cx="33099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Texto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9950" y="6572911"/>
            <a:ext cx="3309950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Regular · azul · 1.30x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7900" y="5614330"/>
            <a:ext cx="33099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28PT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7900" y="6003505"/>
            <a:ext cx="33099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Tópico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7900" y="6572911"/>
            <a:ext cx="3309950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Bold · azul · 1.00x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15850" y="5614330"/>
            <a:ext cx="33099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24PT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15850" y="6003505"/>
            <a:ext cx="33099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Texto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215850" y="6572911"/>
            <a:ext cx="3309950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Regular · azul · 1.00x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33800" y="5614330"/>
            <a:ext cx="33099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20PT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33800" y="6003505"/>
            <a:ext cx="33099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Apoio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33800" y="6572911"/>
            <a:ext cx="3309950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Regular · azul · 1.30x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000" y="7884776"/>
            <a:ext cx="33099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18PT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000" y="8273950"/>
            <a:ext cx="33099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Chapéu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000" y="8843357"/>
            <a:ext cx="3309950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Bold · rosa · 1.00x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9950" y="7884776"/>
            <a:ext cx="33099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15PT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9950" y="8273950"/>
            <a:ext cx="33099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Texto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9950" y="8843357"/>
            <a:ext cx="3309950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Regular · azul · 1.30x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97900" y="7884776"/>
            <a:ext cx="33099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12PT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97900" y="8273950"/>
            <a:ext cx="33099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Legenda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97900" y="8843357"/>
            <a:ext cx="3309950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Bold · azul · 1.30x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215850" y="7884776"/>
            <a:ext cx="33099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12PT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215850" y="8273950"/>
            <a:ext cx="33099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CAPS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215850" y="8843357"/>
            <a:ext cx="3309950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Bold · azul · 1.00x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05174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Big Number 250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250pt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303px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146888"/>
            <a:ext cx="13809313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O número que carrega a página inteira. Um por slide, sem concorrência.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3030810"/>
            <a:ext cx="18581751" cy="38468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>
                <a:solidFill>
                  <a:srgbClr val="FD5E6D"/>
                </a:solidFill>
                <a:latin typeface="Avenir Next"/>
              </a:rPr>
              <a:t>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05174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Statement 120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120pt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0.80x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146px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146888"/>
            <a:ext cx="13809313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 frase-manifesto. Ponto final em azul; sobre fundo azul, o texto vira branco e o ponto rosa.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3453634"/>
            <a:ext cx="18581751" cy="30011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0000"/>
              </a:lnSpc>
            </a:pPr>
            <a:r>
              <a:rPr sz="12000" b="1">
                <a:solidFill>
                  <a:srgbClr val="FD5E6D"/>
                </a:solidFill>
                <a:latin typeface="Avenir Next"/>
              </a:rPr>
              <a:t>A marca não</a:t>
            </a:r>
          </a:p>
          <a:p>
            <a:pPr algn="l">
              <a:lnSpc>
                <a:spcPct val="80000"/>
              </a:lnSpc>
            </a:pPr>
            <a:r>
              <a:rPr sz="12000" b="1">
                <a:solidFill>
                  <a:srgbClr val="FD5E6D"/>
                </a:solidFill>
                <a:latin typeface="Avenir Next"/>
              </a:rPr>
              <a:t>é o que você diz</a:t>
            </a:r>
            <a:r>
              <a:rPr sz="12000" b="1">
                <a:solidFill>
                  <a:srgbClr val="436AE1"/>
                </a:solidFill>
                <a:latin typeface="Avenir Next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05174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Manchete 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80pt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0.90x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97px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146888"/>
            <a:ext cx="13809313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Título de abertura de capítulo.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3846338"/>
            <a:ext cx="18581751" cy="22157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436AE1"/>
                </a:solidFill>
                <a:latin typeface="Avenir Next"/>
              </a:rPr>
              <a:t>O começo de</a:t>
            </a:r>
          </a:p>
          <a:p>
            <a:pPr algn="l">
              <a:lnSpc>
                <a:spcPct val="90000"/>
              </a:lnSpc>
            </a:pPr>
            <a:r>
              <a:rPr sz="8000" b="1">
                <a:solidFill>
                  <a:srgbClr val="436AE1"/>
                </a:solidFill>
                <a:latin typeface="Avenir Next"/>
              </a:rPr>
              <a:t>um capítulo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05174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Título 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60pt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0.90x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73px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146888"/>
            <a:ext cx="13809313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Título de página.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538768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Título de página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05174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Destaque 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44pt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Regular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1.15x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53px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146888"/>
            <a:ext cx="13809313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Corpo de destaque e manifesto. O maior corpo que ainda é texto, não título.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175627"/>
            <a:ext cx="18581751" cy="1557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>
                <a:solidFill>
                  <a:srgbClr val="436AE1"/>
                </a:solidFill>
                <a:latin typeface="Avenir Next"/>
              </a:rPr>
              <a:t>O corpo de destaque carrega a ideia principal</a:t>
            </a:r>
          </a:p>
          <a:p>
            <a:pPr algn="l">
              <a:lnSpc>
                <a:spcPct val="115000"/>
              </a:lnSpc>
            </a:pPr>
            <a:r>
              <a:rPr sz="4400" b="0">
                <a:solidFill>
                  <a:srgbClr val="436AE1"/>
                </a:solidFill>
                <a:latin typeface="Avenir Next"/>
              </a:rPr>
              <a:t>sem virar título.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05174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Subtítulo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34pt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0.95x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41px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146888"/>
            <a:ext cx="13809313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Subtítulo e descritivo abaixo do título.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705720"/>
            <a:ext cx="18581751" cy="4970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Subtítulo que explica o título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05174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Texto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272291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762921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34pt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7272291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762921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Regular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7272291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762921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7272291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762921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1.30x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7272291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762921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41px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8746818"/>
            <a:ext cx="13809313" cy="800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Texto corrido grande: intro de pagina e paragrafo de argumento. Entre o Destaque 44, que e' statement curto, e o Texto 24.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074071"/>
            <a:ext cx="18581751" cy="1360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Texto corrido grande. É o parágrafo de argumento: entra onde o</a:t>
            </a:r>
          </a:p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Destaque 44 pesaria demais e o Texto 24 ficaria miúdo.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05174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Tópico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28pt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34px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146888"/>
            <a:ext cx="13809313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Título de tópico ou de card.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738803"/>
            <a:ext cx="18581751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Título de tópico ou de card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05174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Texto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24pt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Regular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29px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146888"/>
            <a:ext cx="13809313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Texto corrido. O padrão de toda caixa nova.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584930"/>
            <a:ext cx="18581751" cy="7385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436AE1"/>
                </a:solidFill>
                <a:latin typeface="Avenir Next"/>
              </a:rPr>
              <a:t>Texto corrido. É o estilo que toda caixa nova recebe ao nascer,</a:t>
            </a:r>
          </a:p>
          <a:p>
            <a:pPr algn="l">
              <a:lnSpc>
                <a:spcPct val="100000"/>
              </a:lnSpc>
            </a:pPr>
            <a:r>
              <a:rPr sz="2400" b="0">
                <a:solidFill>
                  <a:srgbClr val="436AE1"/>
                </a:solidFill>
                <a:latin typeface="Avenir Next"/>
              </a:rPr>
              <a:t>porque é o que mais aparece num deck de verdade.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05174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Apoio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Regular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1.30x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24px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146888"/>
            <a:ext cx="13809313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Texto de apoio em pilares e colunas.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554155"/>
            <a:ext cx="18581751" cy="800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Texto de apoio em pilares e colunas. Respira mais que o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texto corrido porque costuma vir em bloco estreito.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05174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Chapéu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18pt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22px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146888"/>
            <a:ext cx="13809313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Chapéu acima do título.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815739"/>
            <a:ext cx="18581751" cy="2769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D5E6D"/>
                </a:solidFill>
                <a:latin typeface="Avenir Next"/>
              </a:rPr>
              <a:t>CHAPÉU ACIMA DO TÍTULO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05174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Texto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15pt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Regular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1.30x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18px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146888"/>
            <a:ext cx="13809313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Texto corrido pequeno, em slides densos.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654173"/>
            <a:ext cx="18581751" cy="6001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Texto corrido pequeno, para slides densos onde 24pt não caberia.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436AE1"/>
                </a:solidFill>
                <a:latin typeface="Avenir Next"/>
              </a:rPr>
              <a:t>A entrelinha de 1,3x mantém a leitura confortável mesmo apertado.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05174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Legenda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12pt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1.30x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15px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146888"/>
            <a:ext cx="13809313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Legendas, notas e fontes.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714183"/>
            <a:ext cx="18581751" cy="4800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Legenda de imagem, nota de rodapé ou fonte de dado.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Fonte: CBA B+G, 2026.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ESCALA TIPOGRÁFICA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05174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CAPS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12pt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15px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146888"/>
            <a:ext cx="13809313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Rótulo em caixa alta. Mesmo corpo da Legenda 12, entrelinha diferente.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861901"/>
            <a:ext cx="18581751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Rótulo em caixa alta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412511"/>
            <a:ext cx="13809313" cy="2769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D5E6D"/>
                </a:solidFill>
                <a:latin typeface="Avenir Next"/>
              </a:rPr>
              <a:t>ENTRELINHA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123272"/>
            <a:ext cx="13809313" cy="1661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Quanto maior o corpo,</a:t>
            </a:r>
          </a:p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mais apertada a linha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4324471"/>
            <a:ext cx="13809313" cy="2040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Não é arbitrário. Em 250 e 120pt o espaço entre linhas já é enorme em valor absoluto, e o multiplicador comprime. Em 12 e 15pt é o inverso: a linha precisa de 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7126830"/>
            <a:ext cx="4264437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Sempre exata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696236"/>
            <a:ext cx="4264437" cy="800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Múltiplo do corpo, nunca 'simples' ou 'duplo'.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4437" y="7126830"/>
            <a:ext cx="4264437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Pertence ao estilo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4437" y="7696236"/>
            <a:ext cx="4264437" cy="800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Legenda 12 e CAPS 12 dividem o corpo e divergem na entrelinha.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7126830"/>
            <a:ext cx="4264437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Tabela por tamanho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7696236"/>
            <a:ext cx="4264437" cy="12002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Alimenta os botões de Entrelinha. Onde discordar do estilo, o estilo manda.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Entrelinha por estilo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132283"/>
            <a:ext cx="13809313" cy="68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O valor efetivo em pontos é o corpo vezes o multiplicador.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4158642"/>
            <a:ext cx="4264437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250PT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547816"/>
            <a:ext cx="4264437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   =   250.0 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486661"/>
            <a:ext cx="4264437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120PT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5875835"/>
            <a:ext cx="4264437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0.80x   =   96.0 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814680"/>
            <a:ext cx="4264437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80PT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7203855"/>
            <a:ext cx="4264437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0.90x   =   72.0 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8142700"/>
            <a:ext cx="4264437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60PT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8531874"/>
            <a:ext cx="4264437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0.90x   =   54.0 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4437" y="4158642"/>
            <a:ext cx="4264437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44PT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4437" y="4547816"/>
            <a:ext cx="4264437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1.15x   =   50.6 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4437" y="5486661"/>
            <a:ext cx="4264437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34PT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4437" y="5875835"/>
            <a:ext cx="4264437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0.95x   =   32.3 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4437" y="6814680"/>
            <a:ext cx="4264437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34PT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4437" y="7203855"/>
            <a:ext cx="4264437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1.30x   =   44.2 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4437" y="8142700"/>
            <a:ext cx="4264437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28PT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4437" y="8531874"/>
            <a:ext cx="4264437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   =   28.0 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06875" y="4158642"/>
            <a:ext cx="4264437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24PT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06875" y="4547816"/>
            <a:ext cx="4264437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   =   24.0 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06875" y="5486661"/>
            <a:ext cx="4264437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20PT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06875" y="5875835"/>
            <a:ext cx="4264437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1.30x   =   26.0 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06875" y="6814680"/>
            <a:ext cx="4264437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18PT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875" y="7203855"/>
            <a:ext cx="4264437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   =   18.0 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06875" y="8142700"/>
            <a:ext cx="4264437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15PT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06875" y="8531874"/>
            <a:ext cx="4264437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1.30x   =   19.5 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79313" y="4158642"/>
            <a:ext cx="4264437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12PT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79313" y="4547816"/>
            <a:ext cx="4264437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1.30x   =   15.6 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79313" y="5486661"/>
            <a:ext cx="4264437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12PT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79313" y="5875835"/>
            <a:ext cx="4264437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1.00x   =   12.0 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06875" y="762000"/>
            <a:ext cx="9036875" cy="9787001"/>
          </a:xfrm>
          <a:prstGeom prst="roundRect">
            <a:avLst>
              <a:gd name="adj" fmla="val 2810"/>
            </a:avLst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14875" y="3416317"/>
            <a:ext cx="8020875" cy="44783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0000"/>
              </a:lnSpc>
            </a:pPr>
            <a:r>
              <a:rPr sz="12000" b="1">
                <a:solidFill>
                  <a:srgbClr val="FFFFFF"/>
                </a:solidFill>
                <a:latin typeface="Avenir Next"/>
              </a:rPr>
              <a:t>Branco.</a:t>
            </a:r>
          </a:p>
          <a:p>
            <a:pPr algn="l">
              <a:lnSpc>
                <a:spcPct val="80000"/>
              </a:lnSpc>
            </a:pPr>
            <a:r>
              <a:rPr sz="12000" b="1">
                <a:solidFill>
                  <a:srgbClr val="FFFFFF"/>
                </a:solidFill>
                <a:latin typeface="Avenir Next"/>
              </a:rPr>
              <a:t>Ponto rosa</a:t>
            </a:r>
            <a:r>
              <a:rPr sz="12000" b="1">
                <a:solidFill>
                  <a:srgbClr val="FD5E6D"/>
                </a:solidFill>
                <a:latin typeface="Avenir Next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9036875" cy="2769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D5E6D"/>
                </a:solidFill>
                <a:latin typeface="Avenir Next"/>
              </a:rPr>
              <a:t>COMPORTAMENTO PROPRIO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72761"/>
            <a:ext cx="9036875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O ponto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843044"/>
            <a:ext cx="9036875" cy="54409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O Statement 120 pinta o ponto final de azul. Só o ponto, e só se a frase terminar em ponto.</a:t>
            </a:r>
          </a:p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Sobre fundo azul o texto vira branco e o ponto vira rosa: as duas regras agem juntas sem se anular. É o único estilo com comportamento próprio.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06875" y="762000"/>
            <a:ext cx="9036875" cy="9787001"/>
          </a:xfrm>
          <a:prstGeom prst="roundRect">
            <a:avLst>
              <a:gd name="adj" fmla="val 281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14875" y="5378528"/>
            <a:ext cx="8020875" cy="5539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Rótulo em caixa alta</a:t>
            </a:r>
          </a:p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com três pontos</a:t>
            </a:r>
          </a:p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de espaçamento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9036875" cy="2769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D5E6D"/>
                </a:solidFill>
                <a:latin typeface="Avenir Next"/>
              </a:rPr>
              <a:t>COMPORTAMENTO PROPRIO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72761"/>
            <a:ext cx="9036875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Caixa alta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843044"/>
            <a:ext cx="9036875" cy="47608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Aplica caixa alta e 3pt de espaçamento entre letras. Caixa alta sem espaçamento fecha demais em Avenir Next Bold.</a:t>
            </a:r>
          </a:p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É reversível: aplicar outro estilo por cima desfaz a caixa alta e zera o espaçamento. Nenhum estilo deixa resíduo.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5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152773"/>
            <a:ext cx="13809313" cy="38468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>
                <a:solidFill>
                  <a:srgbClr val="FFFFFF"/>
                </a:solidFill>
                <a:latin typeface="Avenir Next"/>
              </a:rPr>
              <a:t>4.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5476901"/>
            <a:ext cx="13809313" cy="1107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FFFFFF"/>
                </a:solidFill>
                <a:latin typeface="Avenir Next"/>
              </a:rPr>
              <a:t>Componentes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795945"/>
            <a:ext cx="9036875" cy="1360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FFFFFF"/>
                </a:solidFill>
                <a:latin typeface="Avenir Next"/>
              </a:rPr>
              <a:t>Poucas pecas, todas derivadas do raio e do módulo.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FFFFFF"/>
                </a:solidFill>
                <a:latin typeface="Avenir Next"/>
              </a:rPr>
              <a:t>COMPONENTES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venir Next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AS DUAS PECAS 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05174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Caixa e bloco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5089475"/>
            <a:ext cx="5855250" cy="2366098"/>
          </a:xfrm>
          <a:prstGeom prst="roundRect">
            <a:avLst>
              <a:gd name="adj" fmla="val 1073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Caixa de texto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Nasce em Texto 24, âncorada na medida escolhida. Sem preenchimento e sem contorno.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25250" y="5089475"/>
            <a:ext cx="5855250" cy="2366098"/>
          </a:xfrm>
          <a:prstGeom prst="roundRect">
            <a:avLst>
              <a:gd name="adj" fmla="val 1073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Rounded box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Bloco de cor com o raio do sistema. Tambem nasce em Texto 24.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488500" y="5089475"/>
            <a:ext cx="5855250" cy="2366098"/>
          </a:xfrm>
          <a:prstGeom prst="roundRect">
            <a:avLst>
              <a:gd name="adj" fmla="val 1073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Pill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Bloco totalmente arredondado. Para rotulos e banners curtos, nunca para texto longo.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COMPONENTES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Cards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878283"/>
            <a:ext cx="13809313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Card é rounded box com padding de um módulo. A grade sai da divisão da área útil com gaps múltiplos de 20pt.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5326364"/>
            <a:ext cx="4264437" cy="1934583"/>
          </a:xfrm>
          <a:prstGeom prst="roundRect">
            <a:avLst>
              <a:gd name="adj" fmla="val 131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 CARDS</a:t>
            </a:r>
          </a:p>
          <a:p>
            <a:pPr algn="l">
              <a:lnSpc>
                <a:spcPct val="100000"/>
              </a:lnSpc>
              <a:spcBef>
                <a:spcPts val="1610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706 pt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gap de 20pt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4437" y="5326364"/>
            <a:ext cx="4264437" cy="1934583"/>
          </a:xfrm>
          <a:prstGeom prst="roundRect">
            <a:avLst>
              <a:gd name="adj" fmla="val 131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3 CARDS</a:t>
            </a:r>
          </a:p>
          <a:p>
            <a:pPr algn="l">
              <a:lnSpc>
                <a:spcPct val="100000"/>
              </a:lnSpc>
              <a:spcBef>
                <a:spcPts val="1610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464 pt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gap de 20pt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06875" y="5326364"/>
            <a:ext cx="4264437" cy="1934583"/>
          </a:xfrm>
          <a:prstGeom prst="roundRect">
            <a:avLst>
              <a:gd name="adj" fmla="val 131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4 CARDS</a:t>
            </a:r>
          </a:p>
          <a:p>
            <a:pPr algn="l">
              <a:lnSpc>
                <a:spcPct val="100000"/>
              </a:lnSpc>
              <a:spcBef>
                <a:spcPts val="1610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343 pt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gap de 20pt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079313" y="5326364"/>
            <a:ext cx="4264437" cy="1934583"/>
          </a:xfrm>
          <a:prstGeom prst="roundRect">
            <a:avLst>
              <a:gd name="adj" fmla="val 131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PADDING</a:t>
            </a:r>
          </a:p>
          <a:p>
            <a:pPr algn="l">
              <a:lnSpc>
                <a:spcPct val="100000"/>
              </a:lnSpc>
              <a:spcBef>
                <a:spcPts val="1610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40 pt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dois módulos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COMPONENTES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Imagens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132283"/>
            <a:ext cx="13809313" cy="2040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Imagem entra com o mesmo raio das formas. Recorte é pelo botão Crop da faixa, que usa o comando nativo do PowerPoint: nada de esticar para caber.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166781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RAIO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555955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20 pt, igual às formas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494800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RECORTE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83974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Formas &gt; Crop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6875" y="6166781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PROPORÇÃO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6555955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nunca distorcer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7494800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LEGENDA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7883974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Legenda 12, abaixo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COMPONENTES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Componentes: o que vale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878283"/>
            <a:ext cx="13809313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Quando bater a vontade de separar com um traco, a resposta é hierarquia.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3687690"/>
            <a:ext cx="9036875" cy="5211931"/>
          </a:xfrm>
          <a:prstGeom prst="roundRect">
            <a:avLst>
              <a:gd name="adj" fmla="val 487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0" rIns="508000" tIns="508000" bIns="508000"/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436AE1"/>
                </a:solidFill>
                <a:latin typeface="Avenir Next"/>
              </a:rPr>
              <a:t>Sim</a:t>
            </a:r>
          </a:p>
          <a:p>
            <a:pPr>
              <a:lnSpc>
                <a:spcPct val="130000"/>
              </a:lnSpc>
              <a:spcBef>
                <a:spcPts val="295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Espaço em branco em múltiplo de 20pt</a:t>
            </a:r>
          </a:p>
          <a:p>
            <a:pPr>
              <a:lnSpc>
                <a:spcPct val="130000"/>
              </a:lnSpc>
              <a:spcBef>
                <a:spcPts val="4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Mudanca de corpo para separar assunto</a:t>
            </a:r>
          </a:p>
          <a:p>
            <a:pPr>
              <a:lnSpc>
                <a:spcPct val="130000"/>
              </a:lnSpc>
              <a:spcBef>
                <a:spcPts val="4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Bloco de cor para agrupar</a:t>
            </a:r>
          </a:p>
          <a:p>
            <a:pPr>
              <a:lnSpc>
                <a:spcPct val="130000"/>
              </a:lnSpc>
              <a:spcBef>
                <a:spcPts val="4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O mesmo raio em tudo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06875" y="3687690"/>
            <a:ext cx="9036875" cy="5211931"/>
          </a:xfrm>
          <a:prstGeom prst="roundRect">
            <a:avLst>
              <a:gd name="adj" fmla="val 487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0" rIns="508000" tIns="508000" bIns="508000"/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Nunca</a:t>
            </a:r>
          </a:p>
          <a:p>
            <a:pPr>
              <a:lnSpc>
                <a:spcPct val="130000"/>
              </a:lnSpc>
              <a:spcBef>
                <a:spcPts val="295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Linha fina decorativa</a:t>
            </a:r>
          </a:p>
          <a:p>
            <a:pPr>
              <a:lnSpc>
                <a:spcPct val="130000"/>
              </a:lnSpc>
              <a:spcBef>
                <a:spcPts val="4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Barra vertical de destaque</a:t>
            </a:r>
          </a:p>
          <a:p>
            <a:pPr>
              <a:lnSpc>
                <a:spcPct val="130000"/>
              </a:lnSpc>
              <a:spcBef>
                <a:spcPts val="4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Sombra, gradiente ou brilho</a:t>
            </a:r>
          </a:p>
          <a:p>
            <a:pPr>
              <a:lnSpc>
                <a:spcPct val="130000"/>
              </a:lnSpc>
              <a:spcBef>
                <a:spcPts val="4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Raio diferente 'porque a forma é menor'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COMPONENTES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6A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812714"/>
            <a:ext cx="13809313" cy="38468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>
                <a:solidFill>
                  <a:srgbClr val="FFFFFF"/>
                </a:solidFill>
                <a:latin typeface="Avenir Next"/>
              </a:rPr>
              <a:t>5.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5136841"/>
            <a:ext cx="13809313" cy="1107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FFFFFF"/>
                </a:solidFill>
                <a:latin typeface="Avenir Next"/>
              </a:rPr>
              <a:t>Arquétipos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455886"/>
            <a:ext cx="9036875" cy="2040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FFFFFF"/>
                </a:solidFill>
                <a:latin typeface="Avenir Next"/>
              </a:rPr>
              <a:t>Os layouts que o sistema aceita. Fora deles, é composição nova e composição nova pede revisão.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FFFFFF"/>
                </a:solidFill>
                <a:latin typeface="Avenir Next"/>
              </a:rPr>
              <a:t>ARQUÉTIPOS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venir Next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O catálogo, 1 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878283"/>
            <a:ext cx="13809313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Abertura, especificação e amostra.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3608308"/>
            <a:ext cx="4264437" cy="2431348"/>
          </a:xfrm>
          <a:prstGeom prst="roundRect">
            <a:avLst>
              <a:gd name="adj" fmla="val 1044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1</a:t>
            </a:r>
          </a:p>
          <a:p>
            <a:pPr algn="l">
              <a:lnSpc>
                <a:spcPct val="100000"/>
              </a:lnSpc>
              <a:spcBef>
                <a:spcPts val="246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Hero cover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Capa. Fundo saturado.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4437" y="3608308"/>
            <a:ext cx="4264437" cy="2431348"/>
          </a:xfrm>
          <a:prstGeom prst="roundRect">
            <a:avLst>
              <a:gd name="adj" fmla="val 1044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2</a:t>
            </a:r>
          </a:p>
          <a:p>
            <a:pPr algn="l">
              <a:lnSpc>
                <a:spcPct val="100000"/>
              </a:lnSpc>
              <a:spcBef>
                <a:spcPts val="246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Chapter divider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Abertura de bloco.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06875" y="3608308"/>
            <a:ext cx="4264437" cy="2431348"/>
          </a:xfrm>
          <a:prstGeom prst="roundRect">
            <a:avLst>
              <a:gd name="adj" fmla="val 1044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3</a:t>
            </a:r>
          </a:p>
          <a:p>
            <a:pPr algn="l">
              <a:lnSpc>
                <a:spcPct val="100000"/>
              </a:lnSpc>
              <a:spcBef>
                <a:spcPts val="246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Spec page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Título, intro e pares.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079313" y="3608308"/>
            <a:ext cx="4264437" cy="2431348"/>
          </a:xfrm>
          <a:prstGeom prst="roundRect">
            <a:avLst>
              <a:gd name="adj" fmla="val 1044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4</a:t>
            </a:r>
          </a:p>
          <a:p>
            <a:pPr algn="l">
              <a:lnSpc>
                <a:spcPct val="100000"/>
              </a:lnSpc>
              <a:spcBef>
                <a:spcPts val="246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Type specimen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Amostra e ficha.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6547656"/>
            <a:ext cx="4264437" cy="2431348"/>
          </a:xfrm>
          <a:prstGeom prst="roundRect">
            <a:avLst>
              <a:gd name="adj" fmla="val 1044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5</a:t>
            </a:r>
          </a:p>
          <a:p>
            <a:pPr algn="l">
              <a:lnSpc>
                <a:spcPct val="100000"/>
              </a:lnSpc>
              <a:spcBef>
                <a:spcPts val="246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Swatch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Uma cor por página.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4437" y="6547656"/>
            <a:ext cx="4264437" cy="2431348"/>
          </a:xfrm>
          <a:prstGeom prst="roundRect">
            <a:avLst>
              <a:gd name="adj" fmla="val 1044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6</a:t>
            </a:r>
          </a:p>
          <a:p>
            <a:pPr algn="l">
              <a:lnSpc>
                <a:spcPct val="100000"/>
              </a:lnSpc>
              <a:spcBef>
                <a:spcPts val="246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Multi card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De dois a quatro cards.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06875" y="6547656"/>
            <a:ext cx="4264437" cy="2431348"/>
          </a:xfrm>
          <a:prstGeom prst="roundRect">
            <a:avLst>
              <a:gd name="adj" fmla="val 1044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7</a:t>
            </a:r>
          </a:p>
          <a:p>
            <a:pPr algn="l">
              <a:lnSpc>
                <a:spcPct val="100000"/>
              </a:lnSpc>
              <a:spcBef>
                <a:spcPts val="246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Card grid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Grade com caixa.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O catálogo, 2 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878283"/>
            <a:ext cx="13809313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Composição, regra e fecho.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3608308"/>
            <a:ext cx="4264437" cy="2431348"/>
          </a:xfrm>
          <a:prstGeom prst="roundRect">
            <a:avLst>
              <a:gd name="adj" fmla="val 1044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8</a:t>
            </a:r>
          </a:p>
          <a:p>
            <a:pPr algn="l">
              <a:lnSpc>
                <a:spcPct val="100000"/>
              </a:lnSpc>
              <a:spcBef>
                <a:spcPts val="246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Grid plain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Grade sem caixa.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4437" y="3608308"/>
            <a:ext cx="4264437" cy="2431348"/>
          </a:xfrm>
          <a:prstGeom prst="roundRect">
            <a:avLst>
              <a:gd name="adj" fmla="val 1044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9</a:t>
            </a:r>
          </a:p>
          <a:p>
            <a:pPr algn="l">
              <a:lnSpc>
                <a:spcPct val="100000"/>
              </a:lnSpc>
              <a:spcBef>
                <a:spcPts val="246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Zoned content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Zona e faixa.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06875" y="3608308"/>
            <a:ext cx="4264437" cy="2431348"/>
          </a:xfrm>
          <a:prstGeom prst="roundRect">
            <a:avLst>
              <a:gd name="adj" fmla="val 1044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10</a:t>
            </a:r>
          </a:p>
          <a:p>
            <a:pPr algn="l">
              <a:lnSpc>
                <a:spcPct val="100000"/>
              </a:lnSpc>
              <a:spcBef>
                <a:spcPts val="246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Stat band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Faixa de números.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079313" y="3608308"/>
            <a:ext cx="4264437" cy="2431348"/>
          </a:xfrm>
          <a:prstGeom prst="roundRect">
            <a:avLst>
              <a:gd name="adj" fmla="val 1044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11</a:t>
            </a:r>
          </a:p>
          <a:p>
            <a:pPr algn="l">
              <a:lnSpc>
                <a:spcPct val="100000"/>
              </a:lnSpc>
              <a:spcBef>
                <a:spcPts val="246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Quote side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Texto e painel.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6547656"/>
            <a:ext cx="4264437" cy="2431348"/>
          </a:xfrm>
          <a:prstGeom prst="roundRect">
            <a:avLst>
              <a:gd name="adj" fmla="val 1044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12</a:t>
            </a:r>
          </a:p>
          <a:p>
            <a:pPr algn="l">
              <a:lnSpc>
                <a:spcPct val="100000"/>
              </a:lnSpc>
              <a:spcBef>
                <a:spcPts val="246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Do e nunca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Duas colunas.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4437" y="6547656"/>
            <a:ext cx="4264437" cy="2431348"/>
          </a:xfrm>
          <a:prstGeom prst="roundRect">
            <a:avLst>
              <a:gd name="adj" fmla="val 1044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13</a:t>
            </a:r>
          </a:p>
          <a:p>
            <a:pPr algn="l">
              <a:lnSpc>
                <a:spcPct val="100000"/>
              </a:lnSpc>
              <a:spcBef>
                <a:spcPts val="246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Diagram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Esquema em escala.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06875" y="6547656"/>
            <a:ext cx="4264437" cy="2431348"/>
          </a:xfrm>
          <a:prstGeom prst="roundRect">
            <a:avLst>
              <a:gd name="adj" fmla="val 1044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14</a:t>
            </a:r>
          </a:p>
          <a:p>
            <a:pPr algn="l">
              <a:lnSpc>
                <a:spcPct val="100000"/>
              </a:lnSpc>
              <a:spcBef>
                <a:spcPts val="246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Closing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Fecho do documento.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6A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3809313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venir Next"/>
              </a:rPr>
              <a:t>ARQUÉTIPO 1  ·  VARIAÇÃO A  ·  AZUL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53726"/>
            <a:ext cx="13809313" cy="30011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0000"/>
              </a:lnSpc>
            </a:pPr>
            <a:r>
              <a:rPr sz="12000" b="1">
                <a:solidFill>
                  <a:srgbClr val="FFFFFF"/>
                </a:solidFill>
                <a:latin typeface="Avenir Next"/>
              </a:rPr>
              <a:t>Uma frase que</a:t>
            </a:r>
          </a:p>
          <a:p>
            <a:pPr algn="l">
              <a:lnSpc>
                <a:spcPct val="80000"/>
              </a:lnSpc>
            </a:pPr>
            <a:r>
              <a:rPr sz="12000" b="1">
                <a:solidFill>
                  <a:srgbClr val="FFFFFF"/>
                </a:solidFill>
                <a:latin typeface="Avenir Next"/>
              </a:rPr>
              <a:t>marca a página</a:t>
            </a:r>
            <a:r>
              <a:rPr sz="12000" b="1">
                <a:solidFill>
                  <a:srgbClr val="FD5E6D"/>
                </a:solidFill>
                <a:latin typeface="Avenir Next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575119"/>
            <a:ext cx="9036875" cy="1557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>
                <a:solidFill>
                  <a:srgbClr val="FFFFFF"/>
                </a:solidFill>
                <a:latin typeface="Avenir Next"/>
              </a:rPr>
              <a:t>Statement 120 sobre azul: o texto vira branco e o ponto, rosa.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5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3809313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venir Next"/>
              </a:rPr>
              <a:t>ARQUÉTIPO 1  ·  VARIAÇÃO B  ·  ROSA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53726"/>
            <a:ext cx="13809313" cy="30011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0000"/>
              </a:lnSpc>
            </a:pPr>
            <a:r>
              <a:rPr sz="12000" b="1">
                <a:solidFill>
                  <a:srgbClr val="FFFFFF"/>
                </a:solidFill>
                <a:latin typeface="Avenir Next"/>
              </a:rPr>
              <a:t>A mesma capa,</a:t>
            </a:r>
          </a:p>
          <a:p>
            <a:pPr algn="l">
              <a:lnSpc>
                <a:spcPct val="80000"/>
              </a:lnSpc>
            </a:pPr>
            <a:r>
              <a:rPr sz="12000" b="1">
                <a:solidFill>
                  <a:srgbClr val="FFFFFF"/>
                </a:solidFill>
                <a:latin typeface="Avenir Next"/>
              </a:rPr>
              <a:t>o outro fundo</a:t>
            </a:r>
            <a:r>
              <a:rPr sz="12000" b="1">
                <a:solidFill>
                  <a:srgbClr val="436AE1"/>
                </a:solidFill>
                <a:latin typeface="Avenir Next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575119"/>
            <a:ext cx="9036875" cy="1557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>
                <a:solidFill>
                  <a:srgbClr val="FFFFFF"/>
                </a:solidFill>
                <a:latin typeface="Avenir Next"/>
              </a:rPr>
              <a:t>Sobre rosa o ponto final vira azul. Nada mais muda.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6A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598830"/>
            <a:ext cx="13809313" cy="38468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>
                <a:solidFill>
                  <a:srgbClr val="FFFFFF"/>
                </a:solidFill>
                <a:latin typeface="Avenir Next"/>
              </a:rPr>
              <a:t>2.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922957"/>
            <a:ext cx="13809313" cy="22157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FFFFFF"/>
                </a:solidFill>
                <a:latin typeface="Avenir Next"/>
              </a:rPr>
              <a:t>Chapter divider</a:t>
            </a:r>
          </a:p>
          <a:p>
            <a:pPr algn="l">
              <a:lnSpc>
                <a:spcPct val="90000"/>
              </a:lnSpc>
            </a:pPr>
            <a:r>
              <a:rPr sz="8000" b="1">
                <a:solidFill>
                  <a:srgbClr val="FFFFFF"/>
                </a:solidFill>
                <a:latin typeface="Avenir Next"/>
              </a:rPr>
              <a:t>sobre azul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349889"/>
            <a:ext cx="9036875" cy="1360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FFFFFF"/>
                </a:solidFill>
                <a:latin typeface="Avenir Next"/>
              </a:rPr>
              <a:t>Número, título e apoio formam um grupo só, centralizado na altura útil.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FFFFFF"/>
                </a:solidFill>
                <a:latin typeface="Avenir Next"/>
              </a:rPr>
              <a:t>ARQUÉTIPOS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venir Next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598830"/>
            <a:ext cx="13809313" cy="38468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>
                <a:solidFill>
                  <a:srgbClr val="FD5E6D"/>
                </a:solidFill>
                <a:latin typeface="Avenir Next"/>
              </a:rPr>
              <a:t>2.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922957"/>
            <a:ext cx="13809313" cy="22157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436AE1"/>
                </a:solidFill>
                <a:latin typeface="Avenir Next"/>
              </a:rPr>
              <a:t>Chapter divider</a:t>
            </a:r>
          </a:p>
          <a:p>
            <a:pPr algn="l">
              <a:lnSpc>
                <a:spcPct val="90000"/>
              </a:lnSpc>
            </a:pPr>
            <a:r>
              <a:rPr sz="8000" b="1">
                <a:solidFill>
                  <a:srgbClr val="436AE1"/>
                </a:solidFill>
                <a:latin typeface="Avenir Next"/>
              </a:rPr>
              <a:t>sobre bege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349889"/>
            <a:ext cx="9036875" cy="1360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Em fundo claro o Big Number e a Manchete voltam às cores de tipo da marca.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 3  ·  VARIAÇÃO A  ·  BEGE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05174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Spec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775457"/>
            <a:ext cx="13809313" cy="2040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Título, introdução e pares rótulo/valor. É o arquétipo de ficha técnica: quando o conteúdo é uma tabela curta, ele evita virar tabela de verdade.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488368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ATÉ 8 PARES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6877542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Dois blocos de 2 colunas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6387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ACIMA DE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8205561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Quatro blocos de 1 coluna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6488368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RÓTULO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6877542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CAPS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7816387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VALOR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06875" y="8205561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Tópico 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 3  ·  VARIAÇÃO B  ·  BRANCO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05174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Spec page sobre branco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775457"/>
            <a:ext cx="13809313" cy="1360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O mesmo arquétipo em fundo branco. Todos os arquétipos aceitam os quatro fundos permitidos sem nenhum ajuste.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48308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FUNDO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6537482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Branco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476327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7865501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Rosa e azul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6148308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CONTRASTE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6537482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Não dispara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7476327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USO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06875" y="7865501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Áreas de respiro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 4  ·  VARIAÇÃO A  ·  BEGE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05174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Título 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60pt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0.90x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73px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146888"/>
            <a:ext cx="13809313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Título de página.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538768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Título de página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 4  ·  VARIAÇÃO B  ·  BRANCO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05174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Destaque 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44pt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35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835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Regular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470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470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Azul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1105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1105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1.15x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7400" y="7672362"/>
            <a:ext cx="3208350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PX @1080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27400" y="8029288"/>
            <a:ext cx="3208350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53px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146888"/>
            <a:ext cx="13809313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Corpo de destaque e manifesto. O maior corpo que ainda é texto, não título.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175627"/>
            <a:ext cx="18581751" cy="1557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>
                <a:solidFill>
                  <a:srgbClr val="436AE1"/>
                </a:solidFill>
                <a:latin typeface="Avenir Next"/>
              </a:rPr>
              <a:t>O corpo de destaque carrega a ideia principal</a:t>
            </a:r>
          </a:p>
          <a:p>
            <a:pPr algn="l">
              <a:lnSpc>
                <a:spcPct val="115000"/>
              </a:lnSpc>
            </a:pPr>
            <a:r>
              <a:rPr sz="4400" b="0">
                <a:solidFill>
                  <a:srgbClr val="436AE1"/>
                </a:solidFill>
                <a:latin typeface="Avenir Next"/>
              </a:rPr>
              <a:t>sem virar título.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05174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Rosa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998089"/>
            <a:ext cx="9036875" cy="6548869"/>
          </a:xfrm>
          <a:prstGeom prst="roundRect">
            <a:avLst>
              <a:gd name="adj" fmla="val 3878"/>
            </a:avLst>
          </a:prstGeom>
          <a:solidFill>
            <a:srgbClr val="FD5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06875" y="2998089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HEX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06875" y="3387263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#FD5E6D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06875" y="4464669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6875" y="4853843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253, 94, 109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5931250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SLOT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6320424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pal0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7651830"/>
            <a:ext cx="9036875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Cor de tipo 1. Statements, títulos, chapéus, números-destaque.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05174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Branco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998089"/>
            <a:ext cx="9036875" cy="6548869"/>
          </a:xfrm>
          <a:prstGeom prst="roundRect">
            <a:avLst>
              <a:gd name="adj" fmla="val 3878"/>
            </a:avLst>
          </a:prstGeom>
          <a:solidFill>
            <a:srgbClr val="FFFFFF"/>
          </a:solidFill>
          <a:ln w="12700">
            <a:solidFill>
              <a:srgbClr val="436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06875" y="2998089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HEX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06875" y="3387263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#FFFFFF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06875" y="4464669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6875" y="4853843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255, 255, 255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5931250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SLOT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6320424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pal3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7651830"/>
            <a:ext cx="9036875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Fundo claro e texto sobre fundo saturado (regra de contraste).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 6  ·  VARIAÇÃO A  ·  BEGE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05174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Multi card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5299511"/>
            <a:ext cx="5855250" cy="1946024"/>
          </a:xfrm>
          <a:prstGeom prst="roundRect">
            <a:avLst>
              <a:gd name="adj" fmla="val 130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Dois a quatro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Mais que quatro vira grade densa, que é outro arquétipo.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25250" y="5299511"/>
            <a:ext cx="5855250" cy="1946024"/>
          </a:xfrm>
          <a:prstGeom prst="roundRect">
            <a:avLst>
              <a:gd name="adj" fmla="val 130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Mesma altura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O card de maior conteúdo dá a altura; os outros ficam com mais espaço negativo.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488500" y="5299511"/>
            <a:ext cx="5855250" cy="1946024"/>
          </a:xfrm>
          <a:prstGeom prst="roundRect">
            <a:avLst>
              <a:gd name="adj" fmla="val 130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Padding de 40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Card grande respira mais: dois módulos de cada lado.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6A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FFFFFF"/>
                </a:solidFill>
                <a:latin typeface="Avenir Next"/>
              </a:rPr>
              <a:t>ARQUÉTIPO 6  ·  VARIAÇÃO B  ·  AZUL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05174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FFFFF"/>
                </a:solidFill>
                <a:latin typeface="Avenir Next"/>
              </a:rPr>
              <a:t>Multi card sobre azul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5045511"/>
            <a:ext cx="9036875" cy="2454024"/>
          </a:xfrm>
          <a:prstGeom prst="roundRect">
            <a:avLst>
              <a:gd name="adj" fmla="val 103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0" rIns="508000" tIns="508000" bIns="508000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Fundo saturado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O título do slide vira branco pela regra de contraste, sem ninguém escolher.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06875" y="5045511"/>
            <a:ext cx="9036875" cy="2454024"/>
          </a:xfrm>
          <a:prstGeom prst="roundRect">
            <a:avLst>
              <a:gd name="adj" fmla="val 103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0" rIns="508000" tIns="508000" bIns="508000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Card claro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Dentro do card o fundo é claro de novo, e o tipo volta às cores da marca.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FFFFFF"/>
                </a:solidFill>
                <a:latin typeface="Avenir Next"/>
              </a:rPr>
              <a:t>ARQUÉTIPOS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venir Next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Card grid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878283"/>
            <a:ext cx="13809313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Grade densa em caixa, de quatro colunas.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5077982"/>
            <a:ext cx="4264437" cy="2431348"/>
          </a:xfrm>
          <a:prstGeom prst="roundRect">
            <a:avLst>
              <a:gd name="adj" fmla="val 1044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1</a:t>
            </a:r>
          </a:p>
          <a:p>
            <a:pPr algn="l">
              <a:lnSpc>
                <a:spcPct val="100000"/>
              </a:lnSpc>
              <a:spcBef>
                <a:spcPts val="246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Item curto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Rótulo, título e uma linha.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4437" y="5077982"/>
            <a:ext cx="4264437" cy="2431348"/>
          </a:xfrm>
          <a:prstGeom prst="roundRect">
            <a:avLst>
              <a:gd name="adj" fmla="val 1044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2</a:t>
            </a:r>
          </a:p>
          <a:p>
            <a:pPr algn="l">
              <a:lnSpc>
                <a:spcPct val="100000"/>
              </a:lnSpc>
              <a:spcBef>
                <a:spcPts val="246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Padding 20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Card de grade usa um módulo.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06875" y="5077982"/>
            <a:ext cx="4264437" cy="2431348"/>
          </a:xfrm>
          <a:prstGeom prst="roundRect">
            <a:avLst>
              <a:gd name="adj" fmla="val 1044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3</a:t>
            </a:r>
          </a:p>
          <a:p>
            <a:pPr algn="l">
              <a:lnSpc>
                <a:spcPct val="100000"/>
              </a:lnSpc>
              <a:spcBef>
                <a:spcPts val="246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Vão de 40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O mesmo da horizontal.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079313" y="5077982"/>
            <a:ext cx="4264437" cy="2431348"/>
          </a:xfrm>
          <a:prstGeom prst="roundRect">
            <a:avLst>
              <a:gd name="adj" fmla="val 1044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4</a:t>
            </a:r>
          </a:p>
          <a:p>
            <a:pPr algn="l">
              <a:lnSpc>
                <a:spcPct val="100000"/>
              </a:lnSpc>
              <a:spcBef>
                <a:spcPts val="246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Mesma altura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O maior manda nos outros.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5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FFFFF"/>
                </a:solidFill>
                <a:latin typeface="Avenir Next"/>
              </a:rPr>
              <a:t>Card grid em duas colunas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878283"/>
            <a:ext cx="13809313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FFFFFF"/>
                </a:solidFill>
                <a:latin typeface="Avenir Next"/>
              </a:rPr>
              <a:t>A mesma grade sobre rosa, com menos colunas e mais corpo.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5072364"/>
            <a:ext cx="9036875" cy="2442583"/>
          </a:xfrm>
          <a:prstGeom prst="roundRect">
            <a:avLst>
              <a:gd name="adj" fmla="val 1039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0" rIns="508000" tIns="508000" bIns="508000"/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DUAS COLUNAS</a:t>
            </a:r>
          </a:p>
          <a:p>
            <a:pPr algn="l">
              <a:lnSpc>
                <a:spcPct val="100000"/>
              </a:lnSpc>
              <a:spcBef>
                <a:spcPts val="1610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Dois módulos cada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Para item com texto de verdade, não só rótulo.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06875" y="5072364"/>
            <a:ext cx="9036875" cy="2442583"/>
          </a:xfrm>
          <a:prstGeom prst="roundRect">
            <a:avLst>
              <a:gd name="adj" fmla="val 1039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0" rIns="508000" tIns="508000" bIns="508000"/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PADDING</a:t>
            </a:r>
          </a:p>
          <a:p>
            <a:pPr algn="l">
              <a:lnSpc>
                <a:spcPct val="100000"/>
              </a:lnSpc>
              <a:spcBef>
                <a:spcPts val="1610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Volta para 40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Com dois cards na linha o card é grande outra vez.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FFFFFF"/>
                </a:solidFill>
                <a:latin typeface="Avenir Next"/>
              </a:rPr>
              <a:t>ARQUÉTIPOS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venir Next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Grid plain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878283"/>
            <a:ext cx="13809313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 mesma grade sem caixa. Quando o item é curto, a caixa não acrescenta informação, só peso.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177741"/>
            <a:ext cx="4264437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040024"/>
            <a:ext cx="4264437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Sem caixa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6609430"/>
            <a:ext cx="4264437" cy="800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O alinhamento sustenta o agrupamento.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4437" y="5177741"/>
            <a:ext cx="4264437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4437" y="6040024"/>
            <a:ext cx="4264437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Mesma grade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4437" y="6609430"/>
            <a:ext cx="4264437" cy="800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As colunas são as mesmas do card grid.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5177741"/>
            <a:ext cx="4264437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6040024"/>
            <a:ext cx="4264437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Vão maior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06875" y="6609430"/>
            <a:ext cx="4264437" cy="800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Sem borda, o espaço é que separa as linhas.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79313" y="5177741"/>
            <a:ext cx="4264437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79313" y="6040024"/>
            <a:ext cx="4264437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Mais leve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79313" y="6609430"/>
            <a:ext cx="4264437" cy="800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Preferir quando houver seis itens ou mais.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6A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FFFFF"/>
                </a:solidFill>
                <a:latin typeface="Avenir Next"/>
              </a:rPr>
              <a:t>Grid plain sobre azul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878283"/>
            <a:ext cx="13809313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FFFFFF"/>
                </a:solidFill>
                <a:latin typeface="Avenir Next"/>
              </a:rPr>
              <a:t>Sem caixa nenhuma, o fundo saturado passa por trás de tudo.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177741"/>
            <a:ext cx="4264437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FFFFF"/>
                </a:solidFill>
                <a:latin typeface="Avenir Next"/>
              </a:rP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040024"/>
            <a:ext cx="4264437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Avenir Next"/>
              </a:rPr>
              <a:t>Tipo branco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6609430"/>
            <a:ext cx="4264437" cy="800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FFFFFF"/>
                </a:solidFill>
                <a:latin typeface="Avenir Next"/>
              </a:rPr>
              <a:t>A regra de contraste vale para os três blocos.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4437" y="5177741"/>
            <a:ext cx="4264437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FFFFF"/>
                </a:solidFill>
                <a:latin typeface="Avenir Next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4437" y="6040024"/>
            <a:ext cx="4264437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Avenir Next"/>
              </a:rPr>
              <a:t>Três colunas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4437" y="6609430"/>
            <a:ext cx="4264437" cy="800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FFFFFF"/>
                </a:solidFill>
                <a:latin typeface="Avenir Next"/>
              </a:rPr>
              <a:t>Item mais largo aceita duas linhas de apoio.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5177741"/>
            <a:ext cx="4264437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FFFFF"/>
                </a:solidFill>
                <a:latin typeface="Avenir Next"/>
              </a:rP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6040024"/>
            <a:ext cx="4264437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Avenir Next"/>
              </a:rPr>
              <a:t>Sem borda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06875" y="6609430"/>
            <a:ext cx="4264437" cy="800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FFFFFF"/>
                </a:solidFill>
                <a:latin typeface="Avenir Next"/>
              </a:rPr>
              <a:t>Nada de caixa clara para simular card.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FFFFFF"/>
                </a:solidFill>
                <a:latin typeface="Avenir Next"/>
              </a:rPr>
              <a:t>ARQUÉTIPOS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venir Next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687944"/>
            <a:ext cx="13809313" cy="2769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D5E6D"/>
                </a:solidFill>
                <a:latin typeface="Avenir Next"/>
              </a:rPr>
              <a:t>ARQUÉTIPO 9  ·  VARIAÇÃO A  ·  BEGE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398705"/>
            <a:ext cx="13809313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Zoned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768989"/>
            <a:ext cx="13809313" cy="27204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Coluna de argumento em cima, desdobramento na faixa de baixo. É o layout de maior densidade que o sistema aceita sem virar poluição.</a:t>
            </a:r>
          </a:p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Use quando o conteúdo tem uma tese e três a cinco consequências.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7251467"/>
            <a:ext cx="4264437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Uma tese por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820873"/>
            <a:ext cx="4264437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Se há duas, são dois slides.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4437" y="7251467"/>
            <a:ext cx="4264437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Três a cinco itens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4437" y="7820873"/>
            <a:ext cx="4264437" cy="800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Menos que três não pede o layout; mais que cinco não cabe.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7251467"/>
            <a:ext cx="4264437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Título em Tópico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7820873"/>
            <a:ext cx="4264437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Corpo em Apoio 20 ou Texto 15.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228039"/>
            <a:ext cx="13809313" cy="2769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D5E6D"/>
                </a:solidFill>
                <a:latin typeface="Avenir Next"/>
              </a:rPr>
              <a:t>ARQUÉTIPO 9  ·  VARIAÇÃO B  ·  BRANCO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938800"/>
            <a:ext cx="13809313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Zoned content sobre branco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4309084"/>
            <a:ext cx="13809313" cy="2040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O mesmo arquétipo em fundo branco. A zona de cima e a faixa de baixo são posicionadas como um grupo só, e o grupo centraliza na altura útil.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7111442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Grupo, não zonas soltas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680849"/>
            <a:ext cx="9036875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Ancorar a faixa na base joga tudo para o pé da página.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06875" y="7111442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Faixa alinhada à grade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6875" y="7680849"/>
            <a:ext cx="9036875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Cada item ocupa colunas inteiras.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354073"/>
            <a:ext cx="13809313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 10  ·  VARIAÇÃO A  ·  BEGE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997247"/>
            <a:ext cx="13809313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Stat 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4367531"/>
            <a:ext cx="13809313" cy="1360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Variação da faixa inferior para números. A zona de cima sustenta o argumento e a faixa entrega a evidência, sem competir por atenção.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489770"/>
            <a:ext cx="4264437" cy="1107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436AE1"/>
                </a:solidFill>
                <a:latin typeface="Avenir Next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554814"/>
            <a:ext cx="4264437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arquétipos no catálogo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4437" y="6489770"/>
            <a:ext cx="4264437" cy="1107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436AE1"/>
                </a:solidFill>
                <a:latin typeface="Avenir Nex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4437" y="7554814"/>
            <a:ext cx="4264437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cores na paleta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6489770"/>
            <a:ext cx="4264437" cy="1107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436AE1"/>
                </a:solidFill>
                <a:latin typeface="Avenir Next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7554814"/>
            <a:ext cx="4264437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pontos de módulo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79313" y="6489770"/>
            <a:ext cx="4264437" cy="1107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436AE1"/>
                </a:solidFill>
                <a:latin typeface="Avenir Next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79313" y="7554814"/>
            <a:ext cx="4264437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colunas na grade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6A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354073"/>
            <a:ext cx="13809313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FFFFFF"/>
                </a:solidFill>
                <a:latin typeface="Avenir Next"/>
              </a:rPr>
              <a:t>ARQUÉTIPO 10  ·  VARIAÇÃO B  ·  AZUL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997247"/>
            <a:ext cx="13809313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FFFFF"/>
                </a:solidFill>
                <a:latin typeface="Avenir Next"/>
              </a:rPr>
              <a:t>Stat band sobre azul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4367531"/>
            <a:ext cx="13809313" cy="1360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FFFFFF"/>
                </a:solidFill>
                <a:latin typeface="Avenir Next"/>
              </a:rPr>
              <a:t>Sobre fundo saturado o número e o rótulo ficam brancos. O contraste não é uma escolha de quem monta 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489770"/>
            <a:ext cx="4264437" cy="1107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FFFFFF"/>
                </a:solidFill>
                <a:latin typeface="Avenir Next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554814"/>
            <a:ext cx="4264437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FFFFFF"/>
                </a:solidFill>
                <a:latin typeface="Avenir Next"/>
              </a:rPr>
              <a:t>estilos na faixa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4437" y="6489770"/>
            <a:ext cx="4264437" cy="1107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FFFFFF"/>
                </a:solidFill>
                <a:latin typeface="Avenir Nex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4437" y="7554814"/>
            <a:ext cx="4264437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FFFFFF"/>
                </a:solidFill>
                <a:latin typeface="Avenir Next"/>
              </a:rPr>
              <a:t>estilo ainda pendente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6489770"/>
            <a:ext cx="4264437" cy="1107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FFFFFF"/>
                </a:solidFill>
                <a:latin typeface="Avenir Next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7554814"/>
            <a:ext cx="4264437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FFFFFF"/>
                </a:solidFill>
                <a:latin typeface="Avenir Next"/>
              </a:rPr>
              <a:t>dívidas registradas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FFFFFF"/>
                </a:solidFill>
                <a:latin typeface="Avenir Next"/>
              </a:rPr>
              <a:t>ARQUÉTIPOS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venir Next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06875" y="762000"/>
            <a:ext cx="9036875" cy="9787001"/>
          </a:xfrm>
          <a:prstGeom prst="roundRect">
            <a:avLst>
              <a:gd name="adj" fmla="val 2810"/>
            </a:avLst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14875" y="4487602"/>
            <a:ext cx="8020875" cy="2335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>
                <a:solidFill>
                  <a:srgbClr val="FFFFFF"/>
                </a:solidFill>
                <a:latin typeface="Avenir Next"/>
              </a:rPr>
              <a:t>O painel carrega</a:t>
            </a:r>
          </a:p>
          <a:p>
            <a:pPr algn="l">
              <a:lnSpc>
                <a:spcPct val="115000"/>
              </a:lnSpc>
            </a:pPr>
            <a:r>
              <a:rPr sz="4400" b="0">
                <a:solidFill>
                  <a:srgbClr val="FFFFFF"/>
                </a:solidFill>
                <a:latin typeface="Avenir Next"/>
              </a:rPr>
              <a:t>o que o texto</a:t>
            </a:r>
          </a:p>
          <a:p>
            <a:pPr algn="l">
              <a:lnSpc>
                <a:spcPct val="115000"/>
              </a:lnSpc>
            </a:pPr>
            <a:r>
              <a:rPr sz="4400" b="0">
                <a:solidFill>
                  <a:srgbClr val="FFFFFF"/>
                </a:solidFill>
                <a:latin typeface="Avenir Next"/>
              </a:rPr>
              <a:t>afirma.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9036875" cy="2769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D5E6D"/>
                </a:solidFill>
                <a:latin typeface="Avenir Next"/>
              </a:rPr>
              <a:t>ARQUÉTIPO 11  ·  VARIAÇÃO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72761"/>
            <a:ext cx="9036875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Quote 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843044"/>
            <a:ext cx="9036875" cy="27204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Texto à esquerda, painel de cor à direita. O painel não é decoração: ele carrega a citação, o número ou a amostra que sustenta o argumento do lado esquerdo.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06875" y="762000"/>
            <a:ext cx="9036875" cy="9787001"/>
          </a:xfrm>
          <a:prstGeom prst="roundRect">
            <a:avLst>
              <a:gd name="adj" fmla="val 2810"/>
            </a:avLst>
          </a:prstGeom>
          <a:solidFill>
            <a:srgbClr val="FD5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14875" y="4876902"/>
            <a:ext cx="8020875" cy="1557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>
                <a:solidFill>
                  <a:srgbClr val="FFFFFF"/>
                </a:solidFill>
                <a:latin typeface="Avenir Next"/>
              </a:rPr>
              <a:t>A mesma peça,</a:t>
            </a:r>
          </a:p>
          <a:p>
            <a:pPr algn="l">
              <a:lnSpc>
                <a:spcPct val="115000"/>
              </a:lnSpc>
            </a:pPr>
            <a:r>
              <a:rPr sz="4400" b="0">
                <a:solidFill>
                  <a:srgbClr val="FFFFFF"/>
                </a:solidFill>
                <a:latin typeface="Avenir Next"/>
              </a:rPr>
              <a:t>outra cor.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9036875" cy="2769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D5E6D"/>
                </a:solidFill>
                <a:latin typeface="Avenir Next"/>
              </a:rPr>
              <a:t>ARQUÉTIPO 11  ·  VARIAÇÃO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72761"/>
            <a:ext cx="9036875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Quote side em rosa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843044"/>
            <a:ext cx="9036875" cy="27204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O painel aceita as duas cores de tipo como fundo. Sobre rosa o texto do painel vira branco, e o lado esquerdo continua nas cores da marca.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Do e nunca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878283"/>
            <a:ext cx="13809313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Duas colunas de mesma largura, cabeçalho em Subtítulo 34.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4164427"/>
            <a:ext cx="9036875" cy="4258457"/>
          </a:xfrm>
          <a:prstGeom prst="roundRect">
            <a:avLst>
              <a:gd name="adj" fmla="val 59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0" rIns="508000" tIns="508000" bIns="508000"/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436AE1"/>
                </a:solidFill>
                <a:latin typeface="Avenir Next"/>
              </a:rPr>
              <a:t>Sim</a:t>
            </a:r>
          </a:p>
          <a:p>
            <a:pPr>
              <a:lnSpc>
                <a:spcPct val="130000"/>
              </a:lnSpc>
              <a:spcBef>
                <a:spcPts val="295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Uma regra por linha.</a:t>
            </a:r>
          </a:p>
          <a:p>
            <a:pPr>
              <a:lnSpc>
                <a:spcPct val="130000"/>
              </a:lnSpc>
              <a:spcBef>
                <a:spcPts val="4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Verbo no infinitivo.</a:t>
            </a:r>
          </a:p>
          <a:p>
            <a:pPr>
              <a:lnSpc>
                <a:spcPct val="130000"/>
              </a:lnSpc>
              <a:spcBef>
                <a:spcPts val="4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O par sim/nunca fala do mesmo assunto.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06875" y="4164427"/>
            <a:ext cx="9036875" cy="4258457"/>
          </a:xfrm>
          <a:prstGeom prst="roundRect">
            <a:avLst>
              <a:gd name="adj" fmla="val 59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0" rIns="508000" tIns="508000" bIns="508000"/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Nunca</a:t>
            </a:r>
          </a:p>
          <a:p>
            <a:pPr>
              <a:lnSpc>
                <a:spcPct val="130000"/>
              </a:lnSpc>
              <a:spcBef>
                <a:spcPts val="295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Parágrafo dentro da coluna.</a:t>
            </a:r>
          </a:p>
          <a:p>
            <a:pPr>
              <a:lnSpc>
                <a:spcPct val="130000"/>
              </a:lnSpc>
              <a:spcBef>
                <a:spcPts val="4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Regra que só vale às vezes.</a:t>
            </a:r>
          </a:p>
          <a:p>
            <a:pPr>
              <a:lnSpc>
                <a:spcPct val="130000"/>
              </a:lnSpc>
              <a:spcBef>
                <a:spcPts val="4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Coluna com mais itens que a outra.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Do e nunca sobre branco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878283"/>
            <a:ext cx="13809313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Em fundo branco o card do arquétipo vira bege, para a caixa continuar existindo.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4641164"/>
            <a:ext cx="9036875" cy="3304983"/>
          </a:xfrm>
          <a:prstGeom prst="roundRect">
            <a:avLst>
              <a:gd name="adj" fmla="val 7685"/>
            </a:avLst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0" rIns="508000" tIns="508000" bIns="508000"/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436AE1"/>
                </a:solidFill>
                <a:latin typeface="Avenir Next"/>
              </a:rPr>
              <a:t>Sim</a:t>
            </a:r>
          </a:p>
          <a:p>
            <a:pPr>
              <a:lnSpc>
                <a:spcPct val="130000"/>
              </a:lnSpc>
              <a:spcBef>
                <a:spcPts val="295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Card sempre de cor diferente do fundo.</a:t>
            </a:r>
          </a:p>
          <a:p>
            <a:pPr>
              <a:lnSpc>
                <a:spcPct val="130000"/>
              </a:lnSpc>
              <a:spcBef>
                <a:spcPts val="4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Cabeçalho colorido, itens em Apoio 20.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06875" y="4641164"/>
            <a:ext cx="9036875" cy="3304983"/>
          </a:xfrm>
          <a:prstGeom prst="roundRect">
            <a:avLst>
              <a:gd name="adj" fmla="val 7685"/>
            </a:avLst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0" rIns="508000" tIns="508000" bIns="508000"/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Nunca</a:t>
            </a:r>
          </a:p>
          <a:p>
            <a:pPr>
              <a:lnSpc>
                <a:spcPct val="130000"/>
              </a:lnSpc>
              <a:spcBef>
                <a:spcPts val="295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Card branco sobre fundo branco.</a:t>
            </a:r>
          </a:p>
          <a:p>
            <a:pPr>
              <a:lnSpc>
                <a:spcPct val="130000"/>
              </a:lnSpc>
              <a:spcBef>
                <a:spcPts val="4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Contorno para salvar um card invisível.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9036875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132283"/>
            <a:ext cx="9036875" cy="800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Esquema em escala: o retângulo do slide e a margem são proporcionais de verdade, medidos dos mesmos tokens.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2451829" y="1524000"/>
            <a:ext cx="6891921" cy="3877225"/>
          </a:xfrm>
          <a:prstGeom prst="rect">
            <a:avLst/>
          </a:prstGeom>
          <a:solidFill>
            <a:srgbClr val="FFFFFF"/>
          </a:solidFill>
          <a:ln w="12700">
            <a:solidFill>
              <a:srgbClr val="436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713030" y="1785201"/>
            <a:ext cx="6369519" cy="3354823"/>
          </a:xfrm>
          <a:prstGeom prst="rect">
            <a:avLst/>
          </a:prstGeom>
          <a:noFill/>
          <a:ln w="12700">
            <a:solidFill>
              <a:srgbClr val="FD5E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713030" y="5140024"/>
            <a:ext cx="87067" cy="87067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87164" y="5140024"/>
            <a:ext cx="87067" cy="87067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061298" y="5140024"/>
            <a:ext cx="87067" cy="87067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235432" y="5140024"/>
            <a:ext cx="87067" cy="87067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409566" y="5140024"/>
            <a:ext cx="87067" cy="87067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583700" y="5140024"/>
            <a:ext cx="87067" cy="87067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57835" y="5140024"/>
            <a:ext cx="87067" cy="87067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931969" y="5140024"/>
            <a:ext cx="87067" cy="87067"/>
          </a:xfrm>
          <a:prstGeom prst="rect">
            <a:avLst/>
          </a:prstGeom>
          <a:solidFill>
            <a:srgbClr val="436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51829" y="6163225"/>
            <a:ext cx="6891921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PÁGINA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51829" y="6552399"/>
            <a:ext cx="6891921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1583,13 x 890,63 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51829" y="7353276"/>
            <a:ext cx="6891921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MARGEM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51829" y="7742450"/>
            <a:ext cx="6891921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60 pt nos quatro lados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51829" y="8543328"/>
            <a:ext cx="6891921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MÓDULO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51829" y="8932502"/>
            <a:ext cx="6891921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20 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9036875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Diagram sobre branco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132283"/>
            <a:ext cx="9036875" cy="800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O mesmo esquema em fundo branco. O retângulo interno é sempre branco e ganha contorno para não sumir.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06875" y="1524000"/>
            <a:ext cx="9036875" cy="5083923"/>
          </a:xfrm>
          <a:prstGeom prst="rect">
            <a:avLst/>
          </a:prstGeom>
          <a:solidFill>
            <a:srgbClr val="FFFFFF"/>
          </a:solidFill>
          <a:ln w="12700">
            <a:solidFill>
              <a:srgbClr val="436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649369" y="1866494"/>
            <a:ext cx="8351887" cy="4398935"/>
          </a:xfrm>
          <a:prstGeom prst="rect">
            <a:avLst/>
          </a:prstGeom>
          <a:noFill/>
          <a:ln w="12700">
            <a:solidFill>
              <a:srgbClr val="FD5E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06875" y="7369923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CONTORNO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06875" y="7759098"/>
            <a:ext cx="9036875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Azul, 1 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6875" y="8559975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MARGEM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8949149"/>
            <a:ext cx="9036875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Rosa, 1 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ARQUÉTIPOS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6A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3809313" cy="44783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0000"/>
              </a:lnSpc>
            </a:pPr>
            <a:r>
              <a:rPr sz="12000" b="1">
                <a:solidFill>
                  <a:srgbClr val="FFFFFF"/>
                </a:solidFill>
                <a:latin typeface="Avenir Next"/>
              </a:rPr>
              <a:t>O fecho é um</a:t>
            </a:r>
          </a:p>
          <a:p>
            <a:pPr algn="l">
              <a:lnSpc>
                <a:spcPct val="80000"/>
              </a:lnSpc>
            </a:pPr>
            <a:r>
              <a:rPr sz="12000" b="1">
                <a:solidFill>
                  <a:srgbClr val="FFFFFF"/>
                </a:solidFill>
                <a:latin typeface="Avenir Next"/>
              </a:rPr>
              <a:t>Statement, e nada mais</a:t>
            </a:r>
            <a:r>
              <a:rPr sz="12000" b="1">
                <a:solidFill>
                  <a:srgbClr val="FD5E6D"/>
                </a:solidFill>
                <a:latin typeface="Avenir Next"/>
              </a:rPr>
              <a:t>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5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3809313" cy="30011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0000"/>
              </a:lnSpc>
            </a:pPr>
            <a:r>
              <a:rPr sz="12000" b="1">
                <a:solidFill>
                  <a:srgbClr val="FFFFFF"/>
                </a:solidFill>
                <a:latin typeface="Avenir Next"/>
              </a:rPr>
              <a:t>O mesmo fecho,</a:t>
            </a:r>
          </a:p>
          <a:p>
            <a:pPr algn="l">
              <a:lnSpc>
                <a:spcPct val="80000"/>
              </a:lnSpc>
            </a:pPr>
            <a:r>
              <a:rPr sz="12000" b="1">
                <a:solidFill>
                  <a:srgbClr val="FFFFFF"/>
                </a:solidFill>
                <a:latin typeface="Avenir Next"/>
              </a:rPr>
              <a:t>sobre rosa</a:t>
            </a:r>
            <a:r>
              <a:rPr sz="12000" b="1">
                <a:solidFill>
                  <a:srgbClr val="436AE1"/>
                </a:solidFill>
                <a:latin typeface="Avenir Next"/>
              </a:rPr>
              <a:t>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5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152773"/>
            <a:ext cx="13809313" cy="38468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>
                <a:solidFill>
                  <a:srgbClr val="FFFFFF"/>
                </a:solidFill>
                <a:latin typeface="Avenir Next"/>
              </a:rPr>
              <a:t>6.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5476901"/>
            <a:ext cx="13809313" cy="1107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FFFFFF"/>
                </a:solidFill>
                <a:latin typeface="Avenir Next"/>
              </a:rPr>
              <a:t>Regras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795945"/>
            <a:ext cx="9036875" cy="1360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FFFFFF"/>
                </a:solidFill>
                <a:latin typeface="Avenir Next"/>
              </a:rPr>
              <a:t>O que o sistema nunca emite, e para onde vai o que ficou de fora.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FFFFFF"/>
                </a:solidFill>
                <a:latin typeface="Avenir Next"/>
              </a:rPr>
              <a:t>REGRAS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venir Next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Anti-vícios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878283"/>
            <a:ext cx="13809313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A lista do que o sistema recusa. Não é preferência estética: é o que mantém dois decks parecidos.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3687690"/>
            <a:ext cx="9036875" cy="5211931"/>
          </a:xfrm>
          <a:prstGeom prst="roundRect">
            <a:avLst>
              <a:gd name="adj" fmla="val 487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0" rIns="508000" tIns="508000" bIns="508000"/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436AE1"/>
                </a:solidFill>
                <a:latin typeface="Avenir Next"/>
              </a:rPr>
              <a:t>Sim</a:t>
            </a:r>
          </a:p>
          <a:p>
            <a:pPr>
              <a:lnSpc>
                <a:spcPct val="130000"/>
              </a:lnSpc>
              <a:spcBef>
                <a:spcPts val="295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Corpo da escala dos treze</a:t>
            </a:r>
          </a:p>
          <a:p>
            <a:pPr>
              <a:lnSpc>
                <a:spcPct val="130000"/>
              </a:lnSpc>
              <a:spcBef>
                <a:spcPts val="4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Cor dos cinco slots</a:t>
            </a:r>
          </a:p>
          <a:p>
            <a:pPr>
              <a:lnSpc>
                <a:spcPct val="130000"/>
              </a:lnSpc>
              <a:spcBef>
                <a:spcPts val="4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Entrelinha do estilo</a:t>
            </a:r>
          </a:p>
          <a:p>
            <a:pPr>
              <a:lnSpc>
                <a:spcPct val="130000"/>
              </a:lnSpc>
              <a:spcBef>
                <a:spcPts val="4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Avenir Next, Regular ou Bold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06875" y="3687690"/>
            <a:ext cx="9036875" cy="5211931"/>
          </a:xfrm>
          <a:prstGeom prst="roundRect">
            <a:avLst>
              <a:gd name="adj" fmla="val 487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0" rIns="508000" tIns="508000" bIns="508000"/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Nunca</a:t>
            </a:r>
          </a:p>
          <a:p>
            <a:pPr>
              <a:lnSpc>
                <a:spcPct val="130000"/>
              </a:lnSpc>
              <a:spcBef>
                <a:spcPts val="295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Linha decorativa ou divisória</a:t>
            </a:r>
          </a:p>
          <a:p>
            <a:pPr>
              <a:lnSpc>
                <a:spcPct val="130000"/>
              </a:lnSpc>
              <a:spcBef>
                <a:spcPts val="4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Gradiente, sombra, brilho, contorno</a:t>
            </a:r>
          </a:p>
          <a:p>
            <a:pPr>
              <a:lnSpc>
                <a:spcPct val="130000"/>
              </a:lnSpc>
              <a:spcBef>
                <a:spcPts val="4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Cor ou corpo fora da tabela</a:t>
            </a:r>
          </a:p>
          <a:p>
            <a:pPr>
              <a:lnSpc>
                <a:spcPct val="130000"/>
              </a:lnSpc>
              <a:spcBef>
                <a:spcPts val="4000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Icone inventado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Checklist de auditoria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878283"/>
            <a:ext cx="13809313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O que olhar antes de mandar um deck para fora.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828582"/>
            <a:ext cx="4264437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690866"/>
            <a:ext cx="4264437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Fonte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260272"/>
            <a:ext cx="4264437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Toda run em Avenir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4437" y="3828582"/>
            <a:ext cx="4264437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4437" y="4690866"/>
            <a:ext cx="4264437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Corpo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4437" y="5260272"/>
            <a:ext cx="4264437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Todo corpo na escala dos treze.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3828582"/>
            <a:ext cx="4264437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4690866"/>
            <a:ext cx="4264437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06875" y="5260272"/>
            <a:ext cx="4264437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Toda cor nos cinco slots.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6926969"/>
            <a:ext cx="4264437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7789253"/>
            <a:ext cx="4264437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Entrelinha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8358659"/>
            <a:ext cx="4264437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Bate com a do estilo.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4437" y="6926969"/>
            <a:ext cx="4264437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4437" y="7789253"/>
            <a:ext cx="4264437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Margem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4437" y="8358659"/>
            <a:ext cx="4264437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Nada invade os 76pt.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06875" y="6926969"/>
            <a:ext cx="4264437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06875" y="7789253"/>
            <a:ext cx="4264437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Contraste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06875" y="8358659"/>
            <a:ext cx="4264437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Nenhum texto na cor do fundo.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REGRAS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Migração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132283"/>
            <a:ext cx="13809313" cy="1360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Corpos de versões anteriores que sairam da escala fechada. O botão Padronizar tipografia faz o arredondamento sozinho.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162712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55 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551886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vira 60 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6490731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36 E 32 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879905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vira 34 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7818750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22 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8207924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vira 24 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5162712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16 E 14 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5551886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vira 15 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06875" y="6490731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ROTULO 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06875" y="6879905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vira Título 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06875" y="7818750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ACIMA DE 185 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06875" y="8207924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vira 250 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REGRAS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6A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492833"/>
            <a:ext cx="13809313" cy="38468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>
                <a:solidFill>
                  <a:srgbClr val="FFFFFF"/>
                </a:solidFill>
                <a:latin typeface="Avenir Next"/>
              </a:rPr>
              <a:t>7.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5816960"/>
            <a:ext cx="13809313" cy="1107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FFFFFF"/>
                </a:solidFill>
                <a:latin typeface="Avenir Next"/>
              </a:rPr>
              <a:t>Outras mídias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136005"/>
            <a:ext cx="9036875" cy="68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FFFFFF"/>
                </a:solidFill>
                <a:latin typeface="Avenir Next"/>
              </a:rPr>
              <a:t>Os tokens viajam. O que muda é a unidade.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FFFFFF"/>
                </a:solidFill>
                <a:latin typeface="Avenir Next"/>
              </a:rPr>
              <a:t>OUTRAS MÍDIAS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venir Next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 MESMA REGRA EM TRÊS UNIDADES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05174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Web, impresso, social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4879438"/>
            <a:ext cx="5855250" cy="2786171"/>
          </a:xfrm>
          <a:prstGeom prst="roundRect">
            <a:avLst>
              <a:gd name="adj" fmla="val 911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Web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Use px da tabela (base 1080). A entrelinha vira line-height sem unidade: o multiplicador é o mesmo número. Raio de 25px, módulo de 24px.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25250" y="4879438"/>
            <a:ext cx="5855250" cy="2786171"/>
          </a:xfrm>
          <a:prstGeom prst="roundRect">
            <a:avLst>
              <a:gd name="adj" fmla="val 911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Impresso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Use cm. A página é 55,8 x 31,4cm; em A4 paisagem o fator é 0,53. A escala não muda, só o tamanho fisico.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488500" y="4879438"/>
            <a:ext cx="5855250" cy="2786171"/>
          </a:xfrm>
          <a:prstGeom prst="roundRect">
            <a:avLst>
              <a:gd name="adj" fmla="val 911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Social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Recorte a área útil, nunca a página inteira. A margem de 76pt existe para o conteúdo sobreviver ao corte.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OUTRAS MÍDIAS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06875" y="762000"/>
            <a:ext cx="9036875" cy="9787001"/>
          </a:xfrm>
          <a:prstGeom prst="roundRect">
            <a:avLst>
              <a:gd name="adj" fmla="val 281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14875" y="4412974"/>
            <a:ext cx="8020875" cy="24850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Duas cores de tipo.</a:t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Escala fechada.</a:t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Entrelinha do estilo.</a:t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Espacamento em módulo.</a:t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FD5E6D"/>
                </a:solidFill>
                <a:latin typeface="Avenir Next"/>
              </a:rPr>
              <a:t>Contraste automatico.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9036875" cy="2769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D5E6D"/>
                </a:solidFill>
                <a:latin typeface="Avenir Next"/>
              </a:rPr>
              <a:t>O QUE NAO MUDA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72761"/>
            <a:ext cx="9036875" cy="1661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A hierarquia mora nas razões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673959"/>
            <a:ext cx="9036875" cy="47608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Se o layout não for 1920x1080, escale por proporção: nunca reescolha corpos.</a:t>
            </a:r>
          </a:p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A diferenca entre Título 60 e Texto 24 não está em 60 e 24: está na razão entre eles. Mantida a razão, o sistema sobrevive a qualquer tamanho de tela ou papel.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OUTRAS MÍDIAS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5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492833"/>
            <a:ext cx="13809313" cy="38468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0" b="1">
                <a:solidFill>
                  <a:srgbClr val="FFFFFF"/>
                </a:solidFill>
                <a:latin typeface="Avenir Next"/>
              </a:rPr>
              <a:t>8.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5816960"/>
            <a:ext cx="13809313" cy="1107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>
                <a:solidFill>
                  <a:srgbClr val="FFFFFF"/>
                </a:solidFill>
                <a:latin typeface="Avenir Next"/>
              </a:rPr>
              <a:t>Aplicação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136005"/>
            <a:ext cx="9036875" cy="68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FFFFFF"/>
                </a:solidFill>
                <a:latin typeface="Avenir Next"/>
              </a:rPr>
              <a:t>Onde este sistema vira um clique.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FFFFFF"/>
                </a:solidFill>
                <a:latin typeface="Avenir Next"/>
              </a:rPr>
              <a:t>APLICAÇÃO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venir Next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A faixa CBA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878283"/>
            <a:ext cx="13809313" cy="40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436AE1"/>
                </a:solidFill>
                <a:latin typeface="Avenir Next"/>
              </a:rPr>
              <a:t>Os grupos da aba, e o que cada um resolve.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3684999"/>
            <a:ext cx="4264437" cy="2354657"/>
          </a:xfrm>
          <a:prstGeom prst="roundRect">
            <a:avLst>
              <a:gd name="adj" fmla="val 1078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INSERIR</a:t>
            </a:r>
          </a:p>
          <a:p>
            <a:pPr algn="l">
              <a:lnSpc>
                <a:spcPct val="100000"/>
              </a:lnSpc>
              <a:spcBef>
                <a:spcPts val="1610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Caixa e bloco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Já nascem no padrão.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4437" y="3684999"/>
            <a:ext cx="4264437" cy="2354657"/>
          </a:xfrm>
          <a:prstGeom prst="roundRect">
            <a:avLst>
              <a:gd name="adj" fmla="val 1078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TIPOGRAFIA</a:t>
            </a:r>
          </a:p>
          <a:p>
            <a:pPr algn="l">
              <a:lnSpc>
                <a:spcPct val="100000"/>
              </a:lnSpc>
              <a:spcBef>
                <a:spcPts val="1610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13 estilos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Um clique aplica quatro decisões.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06875" y="3684999"/>
            <a:ext cx="4264437" cy="2354657"/>
          </a:xfrm>
          <a:prstGeom prst="roundRect">
            <a:avLst>
              <a:gd name="adj" fmla="val 1078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ENTRELINHA</a:t>
            </a:r>
          </a:p>
          <a:p>
            <a:pPr algn="l">
              <a:lnSpc>
                <a:spcPct val="100000"/>
              </a:lnSpc>
              <a:spcBef>
                <a:spcPts val="1610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Por tamanho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Para texto sem estilo.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079313" y="3684999"/>
            <a:ext cx="4264437" cy="2354657"/>
          </a:xfrm>
          <a:prstGeom prst="roundRect">
            <a:avLst>
              <a:gd name="adj" fmla="val 1078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TEXTO</a:t>
            </a:r>
          </a:p>
          <a:p>
            <a:pPr algn="l">
              <a:lnSpc>
                <a:spcPct val="100000"/>
              </a:lnSpc>
              <a:spcBef>
                <a:spcPts val="1610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Peso e alinhamento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Negrito, esquerda, centro.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6547656"/>
            <a:ext cx="4264437" cy="2354657"/>
          </a:xfrm>
          <a:prstGeom prst="roundRect">
            <a:avLst>
              <a:gd name="adj" fmla="val 1078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FONTE / FUNDO</a:t>
            </a:r>
          </a:p>
          <a:p>
            <a:pPr algn="l">
              <a:lnSpc>
                <a:spcPct val="100000"/>
              </a:lnSpc>
              <a:spcBef>
                <a:spcPts val="1610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Paleta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Só os cinco slots.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4437" y="6547656"/>
            <a:ext cx="4264437" cy="2354657"/>
          </a:xfrm>
          <a:prstGeom prst="roundRect">
            <a:avLst>
              <a:gd name="adj" fmla="val 1078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FORMAS</a:t>
            </a:r>
          </a:p>
          <a:p>
            <a:pPr algn="l">
              <a:lnSpc>
                <a:spcPct val="100000"/>
              </a:lnSpc>
              <a:spcBef>
                <a:spcPts val="1610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Raio e crop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Rounded, tirar, recortar.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06875" y="6547656"/>
            <a:ext cx="4264437" cy="2354657"/>
          </a:xfrm>
          <a:prstGeom prst="roundRect">
            <a:avLst>
              <a:gd name="adj" fmla="val 1078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ALINHAR</a:t>
            </a:r>
          </a:p>
          <a:p>
            <a:pPr algn="l">
              <a:lnSpc>
                <a:spcPct val="100000"/>
              </a:lnSpc>
              <a:spcBef>
                <a:spcPts val="1610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Âncoras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Encaixe em medida fixa.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079313" y="6547656"/>
            <a:ext cx="4264437" cy="2354657"/>
          </a:xfrm>
          <a:prstGeom prst="roundRect">
            <a:avLst>
              <a:gd name="adj" fmla="val 1078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AUDITORIA</a:t>
            </a:r>
          </a:p>
          <a:p>
            <a:pPr algn="l">
              <a:lnSpc>
                <a:spcPct val="100000"/>
              </a:lnSpc>
              <a:spcBef>
                <a:spcPts val="1610"/>
              </a:spcBef>
            </a:pPr>
            <a:r>
              <a:rPr sz="2800" b="1">
                <a:solidFill>
                  <a:srgbClr val="436AE1"/>
                </a:solidFill>
                <a:latin typeface="Avenir Next"/>
              </a:rPr>
              <a:t>Padronizar</a:t>
            </a:r>
          </a:p>
          <a:p>
            <a:pPr algn="l">
              <a:lnSpc>
                <a:spcPct val="130000"/>
              </a:lnSpc>
              <a:spcBef>
                <a:spcPts val="1091"/>
              </a:spcBef>
            </a:pPr>
            <a:r>
              <a:rPr sz="2000" b="0">
                <a:solidFill>
                  <a:srgbClr val="436AE1"/>
                </a:solidFill>
                <a:latin typeface="Avenir Next"/>
              </a:rPr>
              <a:t>Encaixa o que fugiu.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APLICAÇÃO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8581751" cy="8309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D5E6D"/>
                </a:solidFill>
                <a:latin typeface="Avenir Next"/>
              </a:rPr>
              <a:t>Mudar os padroes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132283"/>
            <a:ext cx="13809313" cy="2040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>
                <a:solidFill>
                  <a:srgbClr val="436AE1"/>
                </a:solidFill>
                <a:latin typeface="Avenir Next"/>
              </a:rPr>
              <a:t>A página de Brand Standards gera uma linha de configuração que a faixa aplica sem recompilar nada. É como o sistema evolui sem virar código novo.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166781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PÁGINA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555955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Padroes &gt; Abrir página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494800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APLICAR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83974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Padroes &gt; Aplicar config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06875" y="6166781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FORMATO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6875" y="6555955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chave=valor separado por 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6875" y="7494800"/>
            <a:ext cx="9036875" cy="184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ESTILO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6875" y="7883974"/>
            <a:ext cx="9036875" cy="430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436AE1"/>
                </a:solidFill>
                <a:latin typeface="Avenir Next"/>
              </a:rPr>
              <a:t>s_&lt;id&gt; = corpo|bold|papel|entrelinha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308958"/>
            <a:ext cx="889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cap="all" spc="300">
                <a:solidFill>
                  <a:srgbClr val="436AE1"/>
                </a:solidFill>
                <a:latin typeface="Avenir Next"/>
              </a:rPr>
              <a:t>APLICAÇÃO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73751" y="10308958"/>
            <a:ext cx="1270000" cy="240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1">
                <a:solidFill>
                  <a:srgbClr val="436AE1"/>
                </a:solidFill>
                <a:latin typeface="Avenir Next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6A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3809313" cy="44783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0000"/>
              </a:lnSpc>
            </a:pPr>
            <a:r>
              <a:rPr sz="12000" b="1">
                <a:solidFill>
                  <a:srgbClr val="FFFFFF"/>
                </a:solidFill>
                <a:latin typeface="Avenir Next"/>
              </a:rPr>
              <a:t>Treze estilos,</a:t>
            </a:r>
          </a:p>
          <a:p>
            <a:pPr algn="l">
              <a:lnSpc>
                <a:spcPct val="80000"/>
              </a:lnSpc>
            </a:pPr>
            <a:r>
              <a:rPr sz="12000" b="1">
                <a:solidFill>
                  <a:srgbClr val="FFFFFF"/>
                </a:solidFill>
                <a:latin typeface="Avenir Next"/>
              </a:rPr>
              <a:t>cinco cores,</a:t>
            </a:r>
          </a:p>
          <a:p>
            <a:pPr algn="l">
              <a:lnSpc>
                <a:spcPct val="80000"/>
              </a:lnSpc>
            </a:pPr>
            <a:r>
              <a:rPr sz="12000" b="1">
                <a:solidFill>
                  <a:srgbClr val="FFFFFF"/>
                </a:solidFill>
                <a:latin typeface="Avenir Next"/>
              </a:rPr>
              <a:t>um módulo</a:t>
            </a:r>
            <a:r>
              <a:rPr sz="12000" b="1">
                <a:solidFill>
                  <a:srgbClr val="FD5E6D"/>
                </a:solidFill>
                <a:latin typeface="Avenir Next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