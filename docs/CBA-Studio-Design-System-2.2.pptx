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20105751" cy="1131100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CBA B+G  · 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76120"/>
            <a:ext cx="13809313" cy="396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sistema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cabe em treze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estilos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54520"/>
            <a:ext cx="9036875" cy="1285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Documentação da tipografia, cor e grid do CBA Studio.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 QUE É 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ferramenta é a definição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46400"/>
            <a:ext cx="13809313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Este documento não inventa um padrão: ele descreve o que a faixa CBA Studio já aplica com um clique. A fonte da verdade é o código do add-in; aqui e nos slides seguintes ele está escrito em português.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721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DA VERDADE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8785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SetDefaults, no .bas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7421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ESPELHO EM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1485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tools/design-system/tokens.py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721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 EM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8785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421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GATE ANTI-DERIVA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81485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check-tokens.py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Sete blocos, do que é invariável para o que é aplicado.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Página, margem, módulo, raio.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Cinco slots, dois papéis de tipo.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treze estilos, um a 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Caixas, cards, imagens.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Layouts que o sistema aceita.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4437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437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Anti-vícios e migração.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Web, impresso, social.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79313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79313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79313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faixa e o Brand Standards.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A página, a margem, o módulo de espaçamento e o raio. Todo o resto deriva daqui.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página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9036875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customizado, não o 16:9 padrão do PowerPoint. Deck em outro formato entra distorcido: o botão Page Size da faixa converte.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altura é a ponte entre mídias: 1080px equivale a 890,63pt, logo 1pt = 1,2126px.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5608" y="1524000"/>
            <a:ext cx="7238142" cy="40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05608" y="63580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LARGURA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05608" y="67644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1583,13 pt  ·  1920 px  ·  55,8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05608" y="76026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05608" y="80090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890,63 pt  ·  1080 px  ·  31,4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05608" y="88472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05608" y="92536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 e área útil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9036875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margem tem 60pt, três módulos exatos, nos quatro lados. Ela existe para o slide sobreviver a recorte, projeção e reaproveitamento em outra mídia.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5608" y="1524000"/>
            <a:ext cx="7238142" cy="40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79931" y="1798322"/>
            <a:ext cx="6689497" cy="3523355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05608" y="63580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05608" y="67644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60 pt  ·  73 px  ·  2,12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05608" y="76026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ÁREA ÚTIL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05608" y="80090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1463 x 771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05608" y="88472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COLUNAS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05608" y="92536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4 de 335,78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módulo de espaçamento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71800"/>
            <a:ext cx="9036875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distância entre colunas, cards e blocos é múltiplo de 20pt, e o raio e a margem também: 20 e 60. Distância que não é múltiplo de 20 é acidente, não decisão.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5608" y="1524000"/>
            <a:ext cx="7238142" cy="40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79931" y="1798322"/>
            <a:ext cx="6689497" cy="3523355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79931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562812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745694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928576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111458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294340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477222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660103" y="5321678"/>
            <a:ext cx="91440" cy="91440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05608" y="63580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5608" y="67644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05608" y="76026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MÚLTIPLOS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05608" y="80090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· 40 · 60 · 80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05608" y="8847201"/>
            <a:ext cx="723814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05608" y="9253601"/>
            <a:ext cx="723814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= 1 módulo, gutter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Âncora de encaixe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âncora não é a margem. A margem delimita a página; a âncora é o passo de alinhamento entre objetos. São papéis diferentes e convivem.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1,27 cm  ·  36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 px @1080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0,5 · 1 · 1,27 · 1,5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 (cont.)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 · 2,5 · 3 · 4 · 5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raio é um valor visual constante, não uma proporção: um card grande e um botão pequeno tem o mesmo arredondamento. É o que faz formas de tamanhos diferentes parecerem da mesma família.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OOXML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raio / (menor lado / 2) x 50000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50000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619180"/>
            <a:ext cx="8020875" cy="2072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60 de margem.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20 de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20 de raio.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Tudo múltiplo de 20.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COMO OS TRÊS SE COMBINAM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Margem, módulo e raio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449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margem diz onde começa. O módulo diz de quanto em quanto se anda. O raio diz como a forma termina.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Com os três fixos, dois slides feitos por pessoas diferentes saem parecidos sem combinação prévia: que é o único teste que importa num design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Cinco slots. Dois carregam tipo. Um resolve contraste sozinho.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índices importam: a configuração de marca referência por número, não por nome.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45900"/>
            <a:ext cx="33099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PAL0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9950" y="5045900"/>
            <a:ext cx="33099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PAL1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7900" y="5045900"/>
            <a:ext cx="33099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PAL2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215850" y="5045900"/>
            <a:ext cx="33099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PAL3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33800" y="5045900"/>
            <a:ext cx="33099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PAL4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Preto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6637401"/>
          </a:xfrm>
          <a:prstGeom prst="roundRect">
            <a:avLst>
              <a:gd name="adj" fmla="val 3826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253, 94, 109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1. Statements, títulos, chapéus, números-destaque.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6637401"/>
          </a:xfrm>
          <a:prstGeom prst="roundRect">
            <a:avLst>
              <a:gd name="adj" fmla="val 3826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67, 106, 225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2. Corpo de texto, tópicos, legendas, manchetes.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6637401"/>
          </a:xfrm>
          <a:prstGeom prst="roundRect">
            <a:avLst>
              <a:gd name="adj" fmla="val 3826"/>
            </a:avLst>
          </a:prstGeom>
          <a:solidFill>
            <a:srgbClr val="EEECE6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238, 236, 230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de conteúdo padrão. Nunca é cor de tipo.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Branco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6637401"/>
          </a:xfrm>
          <a:prstGeom prst="roundRect">
            <a:avLst>
              <a:gd name="adj" fmla="val 38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255, 255, 255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claro e texto sobre fundo saturado (regra de contraste).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Preto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6637401"/>
          </a:xfrm>
          <a:prstGeom prst="roundRect">
            <a:avLst>
              <a:gd name="adj" fmla="val 382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0, 0, 0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Reserva. Não usar em tipo da marca.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PAPÉIS DE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tipo só tem duas 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
pal0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Statements, títulos, chapéus e números-destaque. É a cor que marca hierarquia alta.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2946400"/>
            <a:ext cx="5855250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
pal1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texto, tópicos, legendas e manchetes. É a cor que se le em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2946400"/>
            <a:ext cx="5855250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
pal3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Não é escolha: aparece quando a regra de contraste age sobre fundo saturado.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588700"/>
            <a:ext cx="8020875" cy="213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Título 60 é rosa.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Sobre fundo rosa,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ele nasce branco.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REGRA DE CONTRASTE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nunca some no 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9036875" cy="5052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Se a cor do texto for exatamente a cor do fundo, o texto vira branco.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fundo relevante é, nesta ordem: o preenchimento da própria forma; senão o do grupo que a contém; senão o do slide e isso inclui uma forma sólida cobrindo a página, que é como a maioria dos decks reais é montada.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Fundos permitidos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fundo de conteúdo padrão. Tipo em rosa e azul.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29464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e areas de respiro. Tipo em rosa e azul.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29464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29464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Cor: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paleta é fechada. Não existe 'um azul um pouco mais claro'.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6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Usar os cinco slots como estao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Deixar a regra de contraste decidir o branco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Bege como fundo padrão de conteúdo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Rosa e azul como os dois papéis de tipo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6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Criar tom intermediário 'para variar'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preto em conteúdo de marca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fundo fora dos quatro permitidos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Transparência para 'suavizar' uma 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Uma família, treze estilos. Cada um já traz peso, cor e entrelinha: escolher o estilo decide as quatro coisas.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Treze corpos, nada entre eles. Se não está aqui, não é do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457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061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Big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7157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9950" y="34457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9950" y="41061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9950" y="47157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0.80x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7900" y="34457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7900" y="41061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Manchete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7900" y="47157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0.90x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15850" y="34457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15850" y="41061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15850" y="47157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0.90x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33800" y="34457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33800" y="41061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Destaque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33800" y="47157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1.15x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5539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2143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Subtítulo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8239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0.95x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9950" y="55539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9950" y="62143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9950" y="68239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7900" y="55539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7900" y="62143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Tópico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7900" y="68239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15850" y="55539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15850" y="62143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15850" y="68239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1.00x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33800" y="55539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33800" y="62143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Apoio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33800" y="68239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76621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83225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Chapéu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89321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9950" y="76621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9950" y="83225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9950" y="89321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7900" y="76621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7900" y="83225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7900" y="89321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1.30x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15850" y="7662100"/>
            <a:ext cx="3309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215850" y="8322500"/>
            <a:ext cx="3309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5850" y="8932100"/>
            <a:ext cx="3309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Big Number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303px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número que carrega a página inteira. Um por slide, sem concorrência.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369500"/>
            <a:ext cx="18581751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Statement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146px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frase-manifesto. Ponto final em azul; sobre fundo azul, o texto vira branco e o ponto rosa.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585400"/>
            <a:ext cx="18581751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A marca não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é o que você diz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Manchete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97px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abertura de capítulo.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91800"/>
            <a:ext cx="18581751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O começo de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um capítulo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página.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76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de página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Destaque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53px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destaque e manifesto. O maior corpo que ainda é texto, não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314380"/>
            <a:ext cx="18581751" cy="1285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corpo de destaque carrega a ideia principal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sem virar título.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Subtítulo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Subtítulo e descritivo abaixo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41100"/>
            <a:ext cx="18581751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Subtítulo que explica 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3994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058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3994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78058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3994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78058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3994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78058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3994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78058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923401"/>
            <a:ext cx="13809313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grande: intro de pagina e paragrafo de argumento. Entre o Destaque 44, que e' statement curto, e o Texto 24.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230560"/>
            <a:ext cx="18581751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Texto corrido grande. É o parágrafo de argumento: entra onde o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Destaque 44 pesaria demais e o Texto 24 ficaria miúdo.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Tópico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tópico ou de card.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79200"/>
            <a:ext cx="1858175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de tópico ou de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29px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corrido. O padrão de toda caixa nova.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652200"/>
            <a:ext cx="18581751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Texto corrido. É o estilo que toda caixa nova recebe ao nascer,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porque é o que mais aparece num deck de verdade.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Apoio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626800"/>
            <a:ext cx="18581751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 Respira mais que 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porque costuma vir em bloco estreito.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Chapéu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22px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Chapéu acima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42700"/>
            <a:ext cx="1858175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CHAPÉU ACIMA DO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pequeno, em slides densos.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09350"/>
            <a:ext cx="18581751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corrido pequeno, para slides densos onde 24pt não caberia.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 entrelinha de 1,3x mantém a leitura confortável mesmo apertado.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Legenda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Legendas, notas e fontes.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58880"/>
            <a:ext cx="18581751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Legenda de imagem, nota de rodapé ou fonte de dado.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Fonte: CBA B+G,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CAPS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7296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1360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2536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 em caixa alta. Mesmo corpo da Legenda 12, entrelinha diferente.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808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80605"/>
            <a:ext cx="1380931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ENTRELINHA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17205"/>
            <a:ext cx="13809313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Quanto maior o corpo,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mais apertada a linha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27005"/>
            <a:ext cx="13809313" cy="3368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Não é arbitrario. Em 250 e 120pt o espaço entre linhas já é enorme em valor absoluto: o multiplicador comprime para o bloco ler como uma massa só.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Em 12 e 15pt acontece o inverso: a linha precisa de ar para o olho achar a proxima.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57045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Sempre exata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66645"/>
            <a:ext cx="4264437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Multiplo do corpo, nunca 'simples' ou 'duplo', que variam com a fonte e quebram entre máquinas.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7857045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Pertence ao estilo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8466645"/>
            <a:ext cx="4264437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Legenda 12 e CAPS 12 dividem o corpo e divergem na entrelinha. Uma tabela por tamanho não descreveria os dois.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7857045"/>
            <a:ext cx="4264437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Há uma tabela por tamanho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8822245"/>
            <a:ext cx="4264437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Ela alimenta os botões de Entrelinha e age em texto sem estilo. Onde discordam, o estilo manda.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Entrelinha por estilo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valor efetivo em pontos é o corpo vezes o multiplicador.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1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71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250.0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98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   =   96.0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85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25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72.0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12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2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54.0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437" y="431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4437" y="471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   =   50.6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4437" y="558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4437" y="598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   =   32.3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437" y="685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437" y="725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44.2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4437" y="812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852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28.0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6875" y="431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875" y="471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24.0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558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598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26.0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685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875" y="725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18.0 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6875" y="812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6875" y="852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19.5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79313" y="431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79313" y="471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15.6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79313" y="558057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79313" y="598697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12.0 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3674300"/>
            <a:ext cx="8020875" cy="396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Branco.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Ponto rosa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ponto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561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Statement 120 pinta o ponto final de azul. Só o ponto, e só se a frase terminar em ponto.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Sobre fundo azul, o texto vira branco e o ponto vira rosa: as duas regras agindo juntas sem se anular.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É o único estilo com comportamento próprio. Os outros doze são declarativos.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5426900"/>
            <a:ext cx="80208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 três pontos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de espaçamento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3929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Aplica caixa alta e 3pt de espaçamento entre letras. Caixa alta sem espaçamento fecha demais em Avenir Next Bold.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É reversível: aplicar outro estilo por cima desfaz a caixa alta e zera o espaçamento. Nenhum estilo deixa resíduo.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Poucas pecas, todas derivadas do raio e do módulo.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AS DUAS PECAS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e bloco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de texto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Nasce em Texto 24, âncorada na medida escolhida. Sem preenchimento e sem contorno.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2946400"/>
            <a:ext cx="58552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Rounded box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com o raio do sistema. Tambem nasce em Texto 24.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2946400"/>
            <a:ext cx="5855250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Pill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totalmente arredondado. Para rotulos e banners curtos, nunca para texto longo.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é rounded box com padding de um módulo. A grade sai da divisão da área útil com gaps múltiplos de 20pt.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459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 CARDS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706 pt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50459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 CARDS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464 pt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50459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 CARDS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343 pt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5045900"/>
            <a:ext cx="4264437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PADDING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40 pt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dois módulos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Imagens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Imagem entra com o mesmo raio das formas. Recorte é pelo botão Crop da faixa, que usa o comando nativo do PowerPoint: nada de esticar para caber.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pt, igual às 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Formas &gt; 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nunca distorcer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 12, abaixo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Componentes: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Quando bater a vontade de separar com um traco, a resposta é hierarquia.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6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Espaço em branco em múltiplo de 20pt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Mudanca de corpo para separar assunto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para agrupar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raio em tudo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6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fina decorativa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Barra vertical de destaque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Sombra, gradiente ou brilho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diferente 'porque a forma é menor'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Os layouts que o sistema aceita. Fora deles, é composição nova e composição nova pede revisão.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Abertura, especificação e amostra.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Hero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Capa. Fundo saturado.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Chapter divider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 de bloco.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Spec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Título, intro e pares.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Type specimen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Amostra e ficha. Bloco 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cor. Bloco 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4437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Multi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437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 a 4 cards.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Grade com caixa.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Composição, regra e fecho.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Grid 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Grade sem caixa.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Zoned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Zona e faixa.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Faixa de números.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Quote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e painel.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 e nunca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Duas colunas. Bloco 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4437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437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Esquema em escala. Bloco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Closing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Fecho. Último slide.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ARQUÉTIPO 01  ·  HERO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76120"/>
            <a:ext cx="1380931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Uma frase que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marca a página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735320"/>
            <a:ext cx="9036875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Statement 120 sobre fundo saturado: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o texto vira branco e o ponto, rosa.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Chapter divider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sobre bege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99400"/>
            <a:ext cx="9036875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mesmo arquétipo do bloco 01, com fundo claro: Big Number e Manchete mantém a cor de tipo.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903920"/>
            <a:ext cx="1380931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640520"/>
            <a:ext cx="13809313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Pillar dense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64520"/>
            <a:ext cx="13809313" cy="224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Coluna de argumento à esquerda, desdobramento à direita. É o layout de maior densidade que o sistema aceita sem virar poluição.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Use quando o conteúdo tem uma tese e três a cinco consequências.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17188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Uma tese por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8148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 há duas, são dois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717188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Três a cinco itens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7781480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Menos que três não pede o layout; mais que cinco não cabe.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717188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em Tópico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78148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em Texto 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691570"/>
            <a:ext cx="8020875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O painel carrega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o que o texto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afirma.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Quote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224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Texto à esquerda, painel de cor à direita. O painel não é decoracao: ele carrega a citação, o número ou a amostra que sustenta o argumento do lado esquerdo.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Multi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Dois a quatro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Mais que quatro vira grade densa, que é outro arquétipo.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2946400"/>
            <a:ext cx="5855250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altura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de alturas diferentes quebram a leitura horizontal.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2946400"/>
            <a:ext cx="5855250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Gap de 20pt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Sempre o módulo, nunca uma folga escolhida no olho.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Spec page sobre branco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46400"/>
            <a:ext cx="13809313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mesmo arquétipo de especificacao, em fundo branco. Todos os arquétipos aceitam os quatro fundos permitidos sem ajuste.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914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5978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4614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678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 e azul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1914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5978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Não dispara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4614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78678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Areas de respiro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 grid em duas colunas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grade, com menos colunas e mais corpo por item.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45900"/>
            <a:ext cx="9036875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Duas colunas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Dois módulos de largura cada, para item com texto.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5045900"/>
            <a:ext cx="9036875" cy="261620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Quatro colunas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coluna cada, para rótulo e número.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Grid 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 sem caixa. Quando o item é curto, a caixa não acrescenta informação, só peso.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084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354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 caixa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963600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alinhamento sustenta o agrupamento.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5084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6354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6963600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As colunas são as mesmas do card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084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6354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Item curto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963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Rótulo, título e uma linha de apoio.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5084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6354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Mais leve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6963600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Preferir quando houver seis itens ou mais.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38260"/>
            <a:ext cx="1380931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98660"/>
            <a:ext cx="13809313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522660"/>
            <a:ext cx="13809313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Variação da faixa inferior para números. A zona de cima sustenta o argumento e a faixa entrega a evidência, sem competir por atenção.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07340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7734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estilos na escala fechada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6407340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767734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cores na paleta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07340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67734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pontos de módulo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79313" y="6407340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79313" y="767734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colunas na 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VARIAÇÃO DE FUNDO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Multi card sobre 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1955800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Fundo saturado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título vira branco pela regra de contraste, sem ninguém escolher.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2946400"/>
            <a:ext cx="9036875" cy="1955800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claro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card mantém o fundo branco e o tipo volta às cores da marca.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Regras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 que o sistema nunca emite, e para onde vai o que ficou de fora.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REGRAS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Anti-vícios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lista do que o sistema recusa. Não é preferência estética: é o que mantém dois decks parecidos.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6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da escala dos treze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dos cinco slots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Entrelinha do estilo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Avenir Next, Regular ou Bold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6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decorativa ou divisória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Gradiente, sombra, brilho, contorno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ou corpo fora da tabela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Icone inventado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Checklist de auditoria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que olhar antes de mandar um deck para fora.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run em Avenir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Todo corpo na escala dos treze.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38902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1602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57698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cor nos cinco slots.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Bate com a do estilo.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437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437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4437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Nada invade os 76pt.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6875" y="6608000"/>
            <a:ext cx="4264437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6875" y="787800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875" y="8487600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Nenhum texto na cor do fundo.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Migração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Corpos de versões anteriores que sairam da escala fechada. O botão Padronizar tipografia faz o arredondamento sozinho.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2262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55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326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60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4962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36 E 32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9026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34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662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22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726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24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2262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16 E 14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6326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15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4962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ROTULO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6875" y="69026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Título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6875" y="776624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ACIMA DE 185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06875" y="817264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250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Os tokens viajam. O que muda é a unidade.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 MESMA REGRA EM TRÊS UNIDADES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Web, impresso, social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9464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Web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px da tabela (base 1080). A entrelinha vira line-height sem unidade: o multiplicador é o mesmo número. Raio de 25px, módulo de 24px.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2946400"/>
            <a:ext cx="5855250" cy="29464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Impresso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cm. A página é 55,8 x 31,4cm; em A4 paisagem o fator é 0,53. A escala não muda, só o tamanho fisico.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2946400"/>
            <a:ext cx="5855250" cy="29464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Social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Recorte a área útil, nunca a página inteira. A margem de 76pt existe para o conteúdo sobreviver ao corte.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619180"/>
            <a:ext cx="8020875" cy="2072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Duas cores de tipo.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Escala fechada.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Entrelinha do estilo.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Espacamento em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Contraste automatico.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O QUE NAO MUDA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hierarquia mora nas razões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9036875" cy="3929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Se o layout não for 1920x1080, escale por proporção: nunca reescolha corpos.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diferenca entre Título 60 e Texto 24 não está em 60 e 24: está na razão entre eles. Mantida a razão, o sistema sobrevive a qualquer tamanho de tela ou papel.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985000"/>
            <a:ext cx="9036875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Onde este sistema vira um clique.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faixa CBA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grupos da aba, e o que cada um resolve.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82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INSERIR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e bloco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Já nascem no padrão.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31282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13 estilos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Um clique aplica quatro decisões.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31282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Por tamanho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Para texto sem estilo.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31282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TEXTO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Peso e alinhamento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Negrito, esquerda, centro.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66080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/ FUNDO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Paleta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Só os cinco slots.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4437" y="66080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FORMAS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Raio e crop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Rounded, tirar, recortar.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6875" y="66080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ALINHAR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Âncoras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Encaixe em medida fixa.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79313" y="6608000"/>
            <a:ext cx="4264437" cy="297180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AUDITORIA</a:t>
            </a:r>
          </a:p>
          <a:p>
            <a:pPr algn="l">
              <a:lnSpc>
                <a:spcPct val="100000"/>
              </a:lnSpc>
              <a:spcBef>
                <a:spcPts val="400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Padronizar</a:t>
            </a:r>
          </a:p>
          <a:p>
            <a:pPr algn="l">
              <a:lnSpc>
                <a:spcPct val="130000"/>
              </a:lnSpc>
              <a:spcBef>
                <a:spcPts val="2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Encaixa o que fugiu.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Mudar os padroes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684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página de Brand Standards gera uma linha de configuração que a faixa aplica sem recompilar nada. É como o sistema evolui sem virar código novo.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PÁGINA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Abrir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Aplicar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4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4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chave=valor separado por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1191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ESTILO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1831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s_&lt;id&gt; = corpo|bold|papel|entrelinha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674300"/>
            <a:ext cx="13809313" cy="396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Treze estilos,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cinco cores,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módulo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