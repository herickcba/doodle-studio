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>
        <p:scale>
          <a:sx n="76" d="100"/>
          <a:sy n="76" d="100"/>
        </p:scale>
        <p:origin x="64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3809313" cy="198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CBA B+G  ·  DESIGN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76120"/>
            <a:ext cx="13809313" cy="396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Um sistema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cabe em treze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estilos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54520"/>
            <a:ext cx="9036875" cy="12852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Documentação da tipografia, cor e grid do CBA Studio.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 QUE É ISTO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ferramenta é a definição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946400"/>
            <a:ext cx="13809313" cy="1684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Este documento não inventa um padrão: ele descreve o que a faixa CBA Studio já aplica com um clique. A fonte da verdade é o código do add-in; aqui e nos slides seguintes ele está escrito em português.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4721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FONTE DA VERDADE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8785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SetDefaults, no .bas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7421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ESPELHO EM CÓDIGO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1485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tools/design-system/tokens.py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4721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 EM 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8785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421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GATE ANTI-DERIVA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81485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check-tokens.py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ABERTURA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caminho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Sete blocos, do que é invariável para o que é aplicado.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732401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dirty="0" err="1">
                <a:solidFill>
                  <a:srgbClr val="436AE1"/>
                </a:solidFill>
                <a:latin typeface="Avenir Next"/>
              </a:rPr>
              <a:t>Fundamentos</a:t>
            </a:r>
            <a:endParaRPr sz="2800" b="1" dirty="0">
              <a:solidFill>
                <a:srgbClr val="436AE1"/>
              </a:solidFill>
              <a:latin typeface="Avenir Nex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2000" y="5342001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Página, margem, módulo, raio.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4732401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5342001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Cinco slots, dois papéis de tipo.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4732401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5342001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treze estilos, um a 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79313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79313" y="4732401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79313" y="5342001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Caixas, cards, imagens.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70184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7860601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8470201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Layouts que o sistema aceita.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437" y="70184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4437" y="7860601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4437" y="8470201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Anti-vícios e migração.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06875" y="70184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7.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6875" y="7860601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6875" y="8470201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Web, impresso, social.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79313" y="70184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79313" y="7860601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79313" y="8470201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faixa e o Brand Standards.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ABERTURA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2057305"/>
            <a:ext cx="13809313" cy="3847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 dirty="0">
                <a:solidFill>
                  <a:srgbClr val="FFFFFF"/>
                </a:solidFill>
                <a:latin typeface="Avenir Next"/>
              </a:rPr>
              <a:t>1</a:t>
            </a:r>
            <a:r>
              <a:rPr sz="25000" b="1" dirty="0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638610"/>
            <a:ext cx="13809313" cy="101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Fundamentos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1684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dirty="0">
                <a:solidFill>
                  <a:srgbClr val="FFFFFF"/>
                </a:solidFill>
                <a:latin typeface="Avenir Next"/>
              </a:rPr>
              <a:t>A </a:t>
            </a:r>
            <a:r>
              <a:rPr sz="3400" b="0" dirty="0" err="1">
                <a:solidFill>
                  <a:srgbClr val="FFFFFF"/>
                </a:solidFill>
                <a:latin typeface="Avenir Next"/>
              </a:rPr>
              <a:t>página</a:t>
            </a:r>
            <a:r>
              <a:rPr sz="3400" b="0" dirty="0">
                <a:solidFill>
                  <a:srgbClr val="FFFFFF"/>
                </a:solidFill>
                <a:latin typeface="Avenir Next"/>
              </a:rPr>
              <a:t>, a </a:t>
            </a:r>
            <a:r>
              <a:rPr sz="3400" b="0" dirty="0" err="1">
                <a:solidFill>
                  <a:srgbClr val="FFFFFF"/>
                </a:solidFill>
                <a:latin typeface="Avenir Next"/>
              </a:rPr>
              <a:t>margem</a:t>
            </a:r>
            <a:r>
              <a:rPr sz="3400" b="0" dirty="0">
                <a:solidFill>
                  <a:srgbClr val="FFFFFF"/>
                </a:solidFill>
                <a:latin typeface="Avenir Next"/>
              </a:rPr>
              <a:t>, o </a:t>
            </a:r>
            <a:r>
              <a:rPr sz="3400" b="0" dirty="0" err="1">
                <a:solidFill>
                  <a:srgbClr val="FFFFFF"/>
                </a:solidFill>
                <a:latin typeface="Avenir Next"/>
              </a:rPr>
              <a:t>módulo</a:t>
            </a:r>
            <a:r>
              <a:rPr sz="3400" b="0" dirty="0">
                <a:solidFill>
                  <a:srgbClr val="FFFFFF"/>
                </a:solidFill>
                <a:latin typeface="Avenir Next"/>
              </a:rPr>
              <a:t> de </a:t>
            </a:r>
            <a:r>
              <a:rPr sz="3400" b="0" dirty="0" err="1">
                <a:solidFill>
                  <a:srgbClr val="FFFFFF"/>
                </a:solidFill>
                <a:latin typeface="Avenir Next"/>
              </a:rPr>
              <a:t>espaçamento</a:t>
            </a:r>
            <a:r>
              <a:rPr sz="3400" b="0" dirty="0">
                <a:solidFill>
                  <a:srgbClr val="FFFFFF"/>
                </a:solidFill>
                <a:latin typeface="Avenir Next"/>
              </a:rPr>
              <a:t> e o </a:t>
            </a:r>
            <a:r>
              <a:rPr sz="3400" b="0" dirty="0" err="1">
                <a:solidFill>
                  <a:srgbClr val="FFFFFF"/>
                </a:solidFill>
                <a:latin typeface="Avenir Next"/>
              </a:rPr>
              <a:t>raio</a:t>
            </a:r>
            <a:r>
              <a:rPr sz="3400" b="0" dirty="0">
                <a:solidFill>
                  <a:srgbClr val="FFFFFF"/>
                </a:solidFill>
                <a:latin typeface="Avenir Next"/>
              </a:rPr>
              <a:t>. Todo o resto </a:t>
            </a:r>
            <a:r>
              <a:rPr sz="3400" b="0" dirty="0" err="1">
                <a:solidFill>
                  <a:srgbClr val="FFFFFF"/>
                </a:solidFill>
                <a:latin typeface="Avenir Next"/>
              </a:rPr>
              <a:t>deriva</a:t>
            </a:r>
            <a:r>
              <a:rPr sz="3400" b="0" dirty="0">
                <a:solidFill>
                  <a:srgbClr val="FFFFFF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FFFFFF"/>
                </a:solidFill>
                <a:latin typeface="Avenir Next"/>
              </a:rPr>
              <a:t>daqui</a:t>
            </a:r>
            <a:r>
              <a:rPr sz="3400" b="0" dirty="0">
                <a:solidFill>
                  <a:srgbClr val="FFFFFF"/>
                </a:solidFill>
                <a:latin typeface="Avenir Next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9036875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página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9036875" cy="165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16:9 customizado, não o 16:9 padrão do PowerPoint. Deck em outro formato entra distorcido: o botão Page Size da faixa converte.</a:t>
            </a:r>
          </a:p>
          <a:p>
            <a:pPr algn="l">
              <a:lnSpc>
                <a:spcPct val="130000"/>
              </a:lnSpc>
            </a:pPr>
            <a:endParaRPr sz="2000" b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altura é a ponte entre mídias: 1080px equivale a 890,63pt, logo 1pt = 1,2126px.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105608" y="1524000"/>
            <a:ext cx="7238142" cy="4072001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105608" y="6358001"/>
            <a:ext cx="7238142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LARGURA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05608" y="6764401"/>
            <a:ext cx="7238142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1583,13 pt  ·  1920 px  ·  55,8 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05608" y="7602601"/>
            <a:ext cx="7238142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ALTURA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05608" y="8009001"/>
            <a:ext cx="7238142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890,63 pt  ·  1080 px  ·  31,4 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05608" y="8847201"/>
            <a:ext cx="7238142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PROPORÇÃO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05608" y="9253601"/>
            <a:ext cx="7238142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16:9 customizado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9036875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Margem e área útil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9036875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margem tem 60pt, três módulos exatos, nos quatro lados. Ela existe para o slide sobreviver a recorte, projeção e reaproveitamento em outra mídia.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105608" y="1524000"/>
            <a:ext cx="7238142" cy="4072001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379931" y="1798322"/>
            <a:ext cx="6689497" cy="3523355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105608" y="6358001"/>
            <a:ext cx="7238142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05608" y="6764401"/>
            <a:ext cx="7238142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60 pt  ·  73 px  ·  2,12 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05608" y="7602601"/>
            <a:ext cx="7238142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ÁREA ÚTIL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05608" y="8009001"/>
            <a:ext cx="7238142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1463 x 771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05608" y="8847201"/>
            <a:ext cx="7238142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COLUNAS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5608" y="9253601"/>
            <a:ext cx="7238142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4 de 335,78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9036875" cy="144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módulo de espaçamento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971800"/>
            <a:ext cx="9036875" cy="990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Toda distância entre colunas, cards e blocos é múltiplo de 20pt, e o raio e a margem também: 20 e 60. Distância que não é múltiplo de 20 é acidente, não decisão.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105608" y="1524000"/>
            <a:ext cx="7238142" cy="4072001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379931" y="1798322"/>
            <a:ext cx="6689497" cy="3523355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2379931" y="5321678"/>
            <a:ext cx="91440" cy="91440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562812" y="5321678"/>
            <a:ext cx="91440" cy="91440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2745694" y="5321678"/>
            <a:ext cx="91440" cy="91440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2928576" y="5321678"/>
            <a:ext cx="91440" cy="91440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3111458" y="5321678"/>
            <a:ext cx="91440" cy="91440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294340" y="5321678"/>
            <a:ext cx="91440" cy="91440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3477222" y="5321678"/>
            <a:ext cx="91440" cy="91440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3660103" y="5321678"/>
            <a:ext cx="91440" cy="91440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105608" y="6358001"/>
            <a:ext cx="7238142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MÓDULO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5608" y="6764401"/>
            <a:ext cx="7238142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20 pt  ·  24 px  ·  0,71 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5608" y="7602601"/>
            <a:ext cx="7238142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MÚLTIPLOS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05608" y="8009001"/>
            <a:ext cx="7238142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20 · 40 · 60 · 80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05608" y="8847201"/>
            <a:ext cx="7238142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RELAÇÃO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05608" y="9253601"/>
            <a:ext cx="7238142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raio = 1 módulo, gutter =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Âncora de encaixe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13809313" cy="1684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âncora não é a margem. A margem delimita a página; a âncora é o passo de alinhamento entre objetos. São papéis diferentes e convivem.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4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PADRÃO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4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1,27 cm  ·  36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41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EM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44 px @1080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4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PASSOS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4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0,5 · 1 · 1,27 · 1,5 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41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PASSOS (cont.)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81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 · 2,5 · 3 · 4 · 5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Raio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13809313" cy="1684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raio é um valor visual constante, não uma proporção: um card grande e um botão pequeno tem o mesmo arredondamento. É o que faz formas de tamanhos diferentes parecerem da mesma família.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4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RAIO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4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 pt  ·  24 px  ·  0,71 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41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EM OOXML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raio / (menor lado / 2) x 50000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4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4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50000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41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81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814875" y="4619180"/>
            <a:ext cx="8020875" cy="2072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>60 de margem.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>20 de módulo.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>20 de raio.</a:t>
            </a:r>
          </a:p>
          <a:p>
            <a:pPr algn="l">
              <a:lnSpc>
                <a:spcPct val="95000"/>
              </a:lnSpc>
            </a:pPr>
            <a:endParaRPr sz="3400" b="1">
              <a:solidFill>
                <a:srgbClr val="FFFFFF"/>
              </a:solidFill>
              <a:latin typeface="Avenir Next"/>
            </a:endParaRP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FFFFF"/>
                </a:solidFill>
                <a:latin typeface="Avenir Next"/>
              </a:rPr>
              <a:t>Tudo múltiplo de 20.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COMO OS TRÊS SE COMBINAM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9036875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Margem, módulo e raio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022600"/>
            <a:ext cx="9036875" cy="4490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margem diz onde começa. O módulo diz de quanto em quanto se anda. O raio diz como a forma termina.</a:t>
            </a:r>
          </a:p>
          <a:p>
            <a:pPr algn="l">
              <a:lnSpc>
                <a:spcPct val="130000"/>
              </a:lnSpc>
            </a:pPr>
            <a:endParaRPr sz="3400" b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Com os três fixos, dois slides feitos por pessoas diferentes saem parecidos sem combinação prévia: que é o único teste que importa num design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Cor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1122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Cinco slots. Dois carregam tipo. Um resolve contraste sozinho.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COR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índices importam: a configuração de marca referência por número, não por nome.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45900"/>
            <a:ext cx="3309950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PAL0</a:t>
            </a: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#FD5E6D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9950" y="5045900"/>
            <a:ext cx="3309950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PAL1</a:t>
            </a: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#436AE1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97900" y="5045900"/>
            <a:ext cx="3309950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PAL2</a:t>
            </a: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Bege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#EEECE6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215850" y="5045900"/>
            <a:ext cx="3309950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PAL3</a:t>
            </a: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#FFFFFF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33800" y="5045900"/>
            <a:ext cx="3309950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PAL4</a:t>
            </a: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Preto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#000000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Rosa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9036875" cy="6637401"/>
          </a:xfrm>
          <a:prstGeom prst="roundRect">
            <a:avLst>
              <a:gd name="adj" fmla="val 3826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06875" y="2946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52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#FD5E6D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70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76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253, 94, 109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94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400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72400"/>
            <a:ext cx="9036875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tipo 1. Statements, títulos, chapéus, números-destaque.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Azul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9036875" cy="6637401"/>
          </a:xfrm>
          <a:prstGeom prst="roundRect">
            <a:avLst>
              <a:gd name="adj" fmla="val 3826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06875" y="2946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52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#436AE1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70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76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67, 106, 225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94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400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72400"/>
            <a:ext cx="9036875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tipo 2. Corpo de texto, tópicos, legendas, manchetes.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Bege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9036875" cy="6637401"/>
          </a:xfrm>
          <a:prstGeom prst="roundRect">
            <a:avLst>
              <a:gd name="adj" fmla="val 3826"/>
            </a:avLst>
          </a:prstGeom>
          <a:solidFill>
            <a:srgbClr val="EEECE6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06875" y="2946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52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#EEECE6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70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76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238, 236, 230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94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400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72400"/>
            <a:ext cx="9036875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Fundo de conteúdo padrão. Nunca é cor de tipo.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Branco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9036875" cy="6637401"/>
          </a:xfrm>
          <a:prstGeom prst="roundRect">
            <a:avLst>
              <a:gd name="adj" fmla="val 38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06875" y="2946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52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#FFFFFF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70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76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255, 255, 255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94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400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72400"/>
            <a:ext cx="9036875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Fundo claro e texto sobre fundo saturado (regra de contraste).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Preto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9036875" cy="6637401"/>
          </a:xfrm>
          <a:prstGeom prst="roundRect">
            <a:avLst>
              <a:gd name="adj" fmla="val 3826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06875" y="2946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06875" y="3352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#000000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06875" y="4470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876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0, 0, 0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99440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40080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772400"/>
            <a:ext cx="9036875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Reserva. Não usar em tipo da marca.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PAPÉIS DE COR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tipo só tem duas cores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5855250" cy="2971800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 dirty="0">
                <a:solidFill>
                  <a:srgbClr val="436AE1"/>
                </a:solidFill>
                <a:latin typeface="Avenir Next"/>
              </a:rPr>
              <a:t>Rosa
pal0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 dirty="0">
                <a:solidFill>
                  <a:srgbClr val="436AE1"/>
                </a:solidFill>
                <a:latin typeface="Avenir Next"/>
              </a:rPr>
              <a:t>Statements,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títulos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,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chapéus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e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números-destaque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.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É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a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cor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que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marca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hierarquia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alta.</a:t>
            </a:r>
            <a:endParaRPr sz="2000" b="0" dirty="0">
              <a:solidFill>
                <a:srgbClr val="436AE1"/>
              </a:solidFill>
              <a:latin typeface="Avenir Nex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125250" y="2946400"/>
            <a:ext cx="5855250" cy="2971800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
pal1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de texto, tópicos, legendas e manchetes. É a cor que se le em volume.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8500" y="2946400"/>
            <a:ext cx="5855250" cy="2971800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
pal3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Não é escolha: aparece quando a regra de contraste age sobre fundo saturado.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814875" y="4588700"/>
            <a:ext cx="8020875" cy="2133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Título 60 é rosa.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Sobre fundo rosa,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ele nasce branco.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REGRA DE CONTRASTE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9036875" cy="144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nunca some no fundo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708400"/>
            <a:ext cx="9036875" cy="5052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Se a cor do texto for exatamente a cor do fundo, o texto vira branco.</a:t>
            </a:r>
          </a:p>
          <a:p>
            <a:pPr algn="l">
              <a:lnSpc>
                <a:spcPct val="130000"/>
              </a:lnSpc>
            </a:pPr>
            <a:endParaRPr sz="3400" b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fundo relevante é, nesta ordem: o preenchimento da própria forma; senão o do grupo que a contém; senão o do slide e isso inclui uma forma sólida cobrindo a página, que é como a maioria dos decks reais é montada.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Fundos permitidos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4264437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Bege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fundo de conteúdo padrão. Tipo em rosa e azul.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2946400"/>
            <a:ext cx="4264437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Cards e areas de respiro. Tipo em rosa e azul.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2946400"/>
            <a:ext cx="4264437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Aberturas e destaques. Tipo em branco.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2946400"/>
            <a:ext cx="4264437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Aberturas e destaques. Tipo em branco.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Cor: o que vale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paleta é fechada. Não existe 'um azul um pouco mais claro'.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124200"/>
            <a:ext cx="9036875" cy="5054600"/>
          </a:xfrm>
          <a:prstGeom prst="roundRect">
            <a:avLst>
              <a:gd name="adj" fmla="val 50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95000"/>
              </a:lnSpc>
            </a:pPr>
            <a:r>
              <a:rPr sz="3400" b="1" dirty="0">
                <a:solidFill>
                  <a:srgbClr val="436AE1"/>
                </a:solidFill>
                <a:latin typeface="Avenir Next"/>
              </a:rPr>
              <a:t>Sim</a:t>
            </a:r>
          </a:p>
          <a:p>
            <a:pPr>
              <a:lnSpc>
                <a:spcPct val="130000"/>
              </a:lnSpc>
              <a:spcBef>
                <a:spcPts val="6000"/>
              </a:spcBef>
            </a:pPr>
            <a:r>
              <a:rPr sz="2000" b="0" dirty="0">
                <a:solidFill>
                  <a:srgbClr val="436AE1"/>
                </a:solidFill>
                <a:latin typeface="Avenir Next"/>
              </a:rPr>
              <a:t>Usar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os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cinco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slots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como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estao</a:t>
            </a:r>
            <a:endParaRPr sz="2000" b="0" dirty="0">
              <a:solidFill>
                <a:srgbClr val="436AE1"/>
              </a:solidFill>
              <a:latin typeface="Avenir Next"/>
            </a:endParaRP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 dirty="0" err="1">
                <a:solidFill>
                  <a:srgbClr val="436AE1"/>
                </a:solidFill>
                <a:latin typeface="Avenir Next"/>
              </a:rPr>
              <a:t>Deixar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a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regra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de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contraste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decidir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o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branco</a:t>
            </a:r>
            <a:endParaRPr sz="2000" b="0" dirty="0">
              <a:solidFill>
                <a:srgbClr val="436AE1"/>
              </a:solidFill>
              <a:latin typeface="Avenir Next"/>
            </a:endParaRP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 dirty="0">
                <a:solidFill>
                  <a:srgbClr val="436AE1"/>
                </a:solidFill>
                <a:latin typeface="Avenir Next"/>
              </a:rPr>
              <a:t>Bege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como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fundo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padrão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de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conteúdo</a:t>
            </a:r>
            <a:endParaRPr sz="2000" b="0" dirty="0">
              <a:solidFill>
                <a:srgbClr val="436AE1"/>
              </a:solidFill>
              <a:latin typeface="Avenir Next"/>
            </a:endParaRP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 dirty="0">
                <a:solidFill>
                  <a:srgbClr val="436AE1"/>
                </a:solidFill>
                <a:latin typeface="Avenir Next"/>
              </a:rPr>
              <a:t>Rosa e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azul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como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os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dois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papéis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de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tipo</a:t>
            </a:r>
            <a:endParaRPr sz="2000" b="0" dirty="0">
              <a:solidFill>
                <a:srgbClr val="436AE1"/>
              </a:solidFill>
              <a:latin typeface="Avenir Nex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0306875" y="3124200"/>
            <a:ext cx="9036875" cy="5054600"/>
          </a:xfrm>
          <a:prstGeom prst="roundRect">
            <a:avLst>
              <a:gd name="adj" fmla="val 50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  <a:p>
            <a:pPr>
              <a:lnSpc>
                <a:spcPct val="130000"/>
              </a:lnSpc>
              <a:spcBef>
                <a:spcPts val="6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Criar tom intermediário 'para variar'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preto em conteúdo de marca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fundo fora dos quatro permitidos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Transparência para 'suavizar' uma cor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3809313" cy="3847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 dirty="0">
                <a:solidFill>
                  <a:srgbClr val="FFFFFF"/>
                </a:solidFill>
                <a:latin typeface="Avenir Next"/>
              </a:rPr>
              <a:t>3</a:t>
            </a:r>
            <a:r>
              <a:rPr sz="25000" b="1" dirty="0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Tipografia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1684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Uma família, treze estilos. Cada um já traz peso, cor e entrelinha: escolher o estilo decide as quatro coisas.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TIPOGRAFIA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escala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Treze corpos, nada entre eles. Se não está aqui, não é do sistema.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457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759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dirty="0">
                <a:solidFill>
                  <a:srgbClr val="436AE1"/>
                </a:solidFill>
                <a:latin typeface="Avenir Next"/>
              </a:rPr>
              <a:t>Big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55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1.00x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9950" y="34457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9950" y="37759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9950" y="43855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0.80x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7900" y="34457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7900" y="37759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Manchete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7900" y="43855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0.90x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15850" y="34457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15850" y="37759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15850" y="43855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0.90x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33800" y="34457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33800" y="37759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Destaque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33800" y="43855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1.15x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5539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58841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Subtítulo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64937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0.95x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9950" y="55539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9950" y="58841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9950" y="64937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7900" y="55539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7900" y="58841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Tópico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7900" y="64937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1.00x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15850" y="55539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15850" y="58841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15850" y="64937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1.00x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33800" y="55539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33800" y="58841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Apoio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33800" y="64937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76621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79923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Chapéu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" y="86019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rosa · 1.00x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9950" y="76621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9950" y="79923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9950" y="86019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7900" y="76621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7900" y="79923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Legenda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7900" y="86019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1.30x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15850" y="7662100"/>
            <a:ext cx="33099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215850" y="7992300"/>
            <a:ext cx="33099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15850" y="8601900"/>
            <a:ext cx="330995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Bold · azul · 1.00x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Big Number 250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303px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253601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número que carrega a página inteira. Um por slide, sem concorrência.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369500"/>
            <a:ext cx="18581751" cy="317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Statement 120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0.80x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146px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253601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frase-manifesto. Ponto final em azul; sobre fundo azul, o texto vira branco e o ponto rosa.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585400"/>
            <a:ext cx="18581751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A marca não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é o que você diz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Manchete 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97px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253601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abertura de capítulo.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991800"/>
            <a:ext cx="18581751" cy="193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O começo de</a:t>
            </a:r>
          </a:p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um capítulo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73px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253601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página.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576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de página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Destaque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1.15x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53px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253601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de destaque e manifesto. O maior corpo que ainda é texto, não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314380"/>
            <a:ext cx="18581751" cy="12852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corpo de destaque carrega a ideia principal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sem virar título.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Subtítulo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41px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253601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Subtítulo e descritivo abaixo do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741100"/>
            <a:ext cx="18581751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Subtítulo que explica o título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3994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8058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3994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78058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3994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78058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3994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78058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3994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78058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41px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923401"/>
            <a:ext cx="13809313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 grande: intro de pagina e paragrafo de argumento. Entre o Destaque 44, que e' statement curto, e o Texto 24.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230560"/>
            <a:ext cx="18581751" cy="1122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Texto corrido grande. É o parágrafo de argumento: entra onde o</a:t>
            </a: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Destaque 44 pesaria demais e o Texto 24 ficaria miúdo.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Tópico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253601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 de tópico ou de card.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779200"/>
            <a:ext cx="18581751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 de tópico ou de card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29px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253601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corrido. O padrão de toda caixa nova.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652200"/>
            <a:ext cx="18581751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436AE1"/>
                </a:solidFill>
                <a:latin typeface="Avenir Next"/>
              </a:rPr>
              <a:t>Texto corrido. É o estilo que toda caixa nova recebe ao nascer,</a:t>
            </a:r>
          </a:p>
          <a:p>
            <a:pPr algn="l">
              <a:lnSpc>
                <a:spcPct val="100000"/>
              </a:lnSpc>
            </a:pPr>
            <a:r>
              <a:rPr sz="2400" b="0">
                <a:solidFill>
                  <a:srgbClr val="436AE1"/>
                </a:solidFill>
                <a:latin typeface="Avenir Next"/>
              </a:rPr>
              <a:t>porque é o que mais aparece num deck de verdade.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Apoio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24px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253601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de apoio em pilares e colunas.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626800"/>
            <a:ext cx="18581751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de apoio em pilares e colunas. Respira mais que o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 porque costuma vir em bloco estreito.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Chapéu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22px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253601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Chapéu acima do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42700"/>
            <a:ext cx="18581751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CHAPÉU ACIMA DO TÍTULO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18px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253601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 pequeno, em slides densos.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709350"/>
            <a:ext cx="1858175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Texto corrido pequeno, para slides densos onde 24pt não caberia.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A entrelinha de 1,3x mantém a leitura confortável mesmo apertado.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Legenda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253601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Legendas, notas e fontes.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758880"/>
            <a:ext cx="18581751" cy="39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Legenda de imagem, nota de rodapé ou fonte de dado.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Fonte: CBA B+G, 2026.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CAPS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3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83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47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47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105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1105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7400" y="7729601"/>
            <a:ext cx="3208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27400" y="8136001"/>
            <a:ext cx="320835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9253601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Rótulo em caixa alta. Mesmo corpo da Legenda 12, entrelinha diferente.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808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Rótulo em caixa alta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80605"/>
            <a:ext cx="1380931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ENTRELINHA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517205"/>
            <a:ext cx="13809313" cy="144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Quanto maior o corpo,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mais apertada a linha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727005"/>
            <a:ext cx="13809313" cy="26815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dirty="0" err="1">
                <a:solidFill>
                  <a:srgbClr val="436AE1"/>
                </a:solidFill>
                <a:latin typeface="Avenir Next"/>
              </a:rPr>
              <a:t>Não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é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arbitrario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. Em 250 e 120pt o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espaço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entre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linhas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já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é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enorme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em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valor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absoluto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: o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multiplicador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comprime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para o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bloco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ler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como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uma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massa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só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.</a:t>
            </a:r>
            <a:r>
              <a:rPr lang="pt-BR"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Em 12 e 15pt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acontece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o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inverso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: a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linha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precisa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de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ar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para o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olho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achar a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proxima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857045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Sempre exata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8466645"/>
            <a:ext cx="4264437" cy="742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Multiplo do corpo, nunca 'simples' ou 'duplo', que variam com a fonte e quebram entre máquinas.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7857045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Pertence ao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8466645"/>
            <a:ext cx="4264437" cy="742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Legenda 12 e CAPS 12 dividem o corpo e divergem na entrelinha. Uma tabela por tamanho não descreveria os dois.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7857045"/>
            <a:ext cx="4264437" cy="711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Há uma tabela por tamanho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8822245"/>
            <a:ext cx="4264437" cy="742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Ela alimenta os botões de Entrelinha e age em texto sem estilo. Onde discordam, o estilo manda.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Entrelinha por estilo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13809313" cy="56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valor efetivo em pontos é o corpo vezes o multiplicador.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31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71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250.0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58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98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0.80x   =   96.0 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685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725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   =   72.0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812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852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   =   54.0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4437" y="431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4437" y="471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1.15x   =   50.6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4437" y="558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4437" y="598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0.95x   =   32.3 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4437" y="685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4437" y="725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44.2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4437" y="812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437" y="852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28.0 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06875" y="431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6875" y="471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24.0 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06875" y="558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6875" y="598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26.0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6875" y="685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875" y="725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18.0 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6875" y="812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06875" y="852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19.5 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79313" y="431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79313" y="471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15.6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79313" y="5580570"/>
            <a:ext cx="4264437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79313" y="598697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12.0 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814875" y="3674300"/>
            <a:ext cx="8020875" cy="396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Branco.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Ponto rosa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COMPORTAMENTO PROPRIO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9036875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ponto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022600"/>
            <a:ext cx="9036875" cy="561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Statement 120 pinta o ponto final de azul. Só o ponto, e só se a frase terminar em ponto.</a:t>
            </a:r>
          </a:p>
          <a:p>
            <a:pPr algn="l">
              <a:lnSpc>
                <a:spcPct val="130000"/>
              </a:lnSpc>
            </a:pPr>
            <a:endParaRPr sz="3400" b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Sobre fundo azul, o texto vira branco e o ponto vira rosa: as duas regras agindo juntas sem se anular.</a:t>
            </a:r>
          </a:p>
          <a:p>
            <a:pPr algn="l">
              <a:lnSpc>
                <a:spcPct val="130000"/>
              </a:lnSpc>
            </a:pPr>
            <a:endParaRPr sz="3400" b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É o único estilo com comportamento próprio. Os outros doze são declarativos.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814875" y="5426900"/>
            <a:ext cx="80208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Rótulo em caixa alta</a:t>
            </a:r>
          </a:p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 três pontos</a:t>
            </a:r>
          </a:p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de espaçamento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COMPORTAMENTO PROPRIO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9036875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Caixa alta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022600"/>
            <a:ext cx="9036875" cy="3929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Aplica caixa alta e 3pt de espaçamento entre letras. Caixa alta sem espaçamento fecha demais em Avenir Next Bold.</a:t>
            </a:r>
          </a:p>
          <a:p>
            <a:pPr algn="l">
              <a:lnSpc>
                <a:spcPct val="130000"/>
              </a:lnSpc>
            </a:pPr>
            <a:endParaRPr sz="3400" b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É reversível: aplicar outro estilo por cima desfaz a caixa alta e zera o espaçamento. Nenhum estilo deixa resíduo.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Componentes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1122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Poucas pecas, todas derivadas do raio e do módulo.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COMPONENTES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AS DUAS PECAS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Caixa e bloco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5855250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Caixa de texto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Nasce em Texto 24, âncorada na medida escolhida. Sem preenchimento e sem contorno.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25250" y="2946400"/>
            <a:ext cx="5855250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Rounded box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de cor com o raio do sistema. Tambem nasce em Texto 24.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8500" y="2946400"/>
            <a:ext cx="5855250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Pill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totalmente arredondado. Para rotulos e banners curtos, nunca para texto longo.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 é rounded box com padding de um módulo. A grade sai da divisão da área útil com gaps múltiplos de 20pt.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45900"/>
            <a:ext cx="4264437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 CARDS</a:t>
            </a: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706 pt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5045900"/>
            <a:ext cx="4264437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 CARDS</a:t>
            </a: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464 pt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5045900"/>
            <a:ext cx="4264437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 CARDS</a:t>
            </a: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343 pt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5045900"/>
            <a:ext cx="4264437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PADDING</a:t>
            </a: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40 pt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dois módulos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Imagens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13809313" cy="1684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Imagem entra com o mesmo raio das formas. Recorte é pelo botão Crop da faixa, que usa o comando nativo do PowerPoint: nada de esticar para caber.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4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RAIO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4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 pt, igual às formas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41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RECORTE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Formas &gt; Crop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4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PROPORÇÃO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4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nunca distorcer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41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LEGENDA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81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Legenda 12, abaixo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Componentes: o que vale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Quando bater a vontade de separar com um traco, a resposta é hierarquia.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124200"/>
            <a:ext cx="9036875" cy="5054600"/>
          </a:xfrm>
          <a:prstGeom prst="roundRect">
            <a:avLst>
              <a:gd name="adj" fmla="val 50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  <a:p>
            <a:pPr>
              <a:lnSpc>
                <a:spcPct val="130000"/>
              </a:lnSpc>
              <a:spcBef>
                <a:spcPts val="6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Espaço em branco em múltiplo de 20pt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Mudanca de corpo para separar assunto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de cor para agrupar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mesmo raio em tudo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3124200"/>
            <a:ext cx="9036875" cy="5054600"/>
          </a:xfrm>
          <a:prstGeom prst="roundRect">
            <a:avLst>
              <a:gd name="adj" fmla="val 50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  <a:p>
            <a:pPr>
              <a:lnSpc>
                <a:spcPct val="130000"/>
              </a:lnSpc>
              <a:spcBef>
                <a:spcPts val="6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Linha fina decorativa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Barra vertical de destaque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Sombra, gradiente ou brilho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Raio diferente 'porque a forma é menor'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5.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1684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Os layouts que o sistema aceita. Fora deles, é composição nova e composição nova pede revisão.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catálogo, 1 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Abertura, especificação e amostra.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1602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Hero 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698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Capa. Fundo saturado.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51602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Chapter divider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57698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 de bloco.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51602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Spec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57698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Título, intro e pares.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79313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79313" y="51602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Type specimen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79313" y="57698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Amostra e ficha. Bloco 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66080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78780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Swatch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84876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Uma cor. Bloco 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437" y="66080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4437" y="78780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Multi 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4437" y="84876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2 a 4 cards.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06875" y="66080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6875" y="78780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Card grid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6875" y="84876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Grade com caixa.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catálogo, 2 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Composição, regra e fecho.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1602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Grid plain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698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Grade sem caixa.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51602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Zoned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57698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Zona e faixa.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51602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Stat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57698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Faixa de números.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79313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79313" y="51602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Quote 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79313" y="57698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e painel.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66080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78780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Do e nunca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84876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Duas colunas. Bloco 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437" y="66080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4437" y="78780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Diagram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4437" y="84876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Esquema em escala. Bloco 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06875" y="66080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6875" y="78780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Closing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6875" y="84876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Fecho. Último slide.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3809313" cy="198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ARQUÉTIPO 01  ·  HERO COVER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76120"/>
            <a:ext cx="13809313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Uma frase que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marca a página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735320"/>
            <a:ext cx="9036875" cy="1927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Statement 120 sobre fundo saturado: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o texto vira branco e o ponto, rosa.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93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Chapter divider</a:t>
            </a:r>
          </a:p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sobre bege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899400"/>
            <a:ext cx="9036875" cy="1684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mesmo arquétipo do bloco 01, com fundo claro: Big Number e Manchete mantém a cor de tipo.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1903920"/>
            <a:ext cx="1380931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640520"/>
            <a:ext cx="13809313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Pillar dense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164520"/>
            <a:ext cx="13809313" cy="2245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Coluna de argumento à esquerda, desdobramento à direita. É o layout de maior densidade que o sistema aceita sem virar poluição.</a:t>
            </a:r>
          </a:p>
          <a:p>
            <a:pPr algn="l">
              <a:lnSpc>
                <a:spcPct val="130000"/>
              </a:lnSpc>
            </a:pPr>
            <a:endParaRPr sz="3400" b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Use quando o conteúdo tem uma tese e três a cinco consequências.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17188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Uma tese por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78148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Se há duas, são dois slides.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717188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Três a cinco itens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7781480"/>
            <a:ext cx="4264437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Menos que três não pede o layout; mais que cinco não cabe.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717188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 em Tópico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78148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em Texto 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814875" y="4691570"/>
            <a:ext cx="8020875" cy="1927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O painel carrega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o que o texto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FFFFFF"/>
                </a:solidFill>
                <a:latin typeface="Avenir Next"/>
              </a:rPr>
              <a:t>afirma.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9036875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Quote 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022600"/>
            <a:ext cx="9036875" cy="2245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Texto à esquerda, painel de cor à direita. O painel não é decoracao: ele carrega a citação, o número ou a amostra que sustenta o argumento do lado esquerdo.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Multi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5855250" cy="22860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Dois a quatro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Mais que quatro vira grade densa, que é outro arquétipo.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25250" y="2946400"/>
            <a:ext cx="5855250" cy="22860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Mesma altura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Cards de alturas diferentes quebram a leitura horizontal.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8500" y="2946400"/>
            <a:ext cx="5855250" cy="22860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Gap de 20pt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Sempre o módulo, nunca uma folga escolhida no olho.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Spec page sobre branco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946400"/>
            <a:ext cx="13809313" cy="1122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O mesmo arquétipo de especificacao, em fundo branco. Todos os arquétipos aceitam os quatro fundos permitidos sem ajuste.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19144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59784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46144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86784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 e azul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19144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CONTRASTE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59784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Não dispara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46144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786784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Areas de respiro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Card grid em duas colunas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mesma grade, com menos colunas e mais corpo por item.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45900"/>
            <a:ext cx="9036875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VARIAÇÃO</a:t>
            </a: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Duas colunas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Dois módulos de largura cada, para item com texto.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5045900"/>
            <a:ext cx="9036875" cy="2616200"/>
          </a:xfrm>
          <a:prstGeom prst="roundRect">
            <a:avLst>
              <a:gd name="adj" fmla="val 97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VARIAÇÃO</a:t>
            </a: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sz="2800" b="1">
                <a:solidFill>
                  <a:srgbClr val="436AE1"/>
                </a:solidFill>
                <a:latin typeface="Avenir Next"/>
              </a:rPr>
              <a:t>Quatro colunas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Uma coluna cada, para rótulo e número.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Grid plain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mesma grade sem caixa. Quando o item é curto, a caixa não acrescenta informação, só peso.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0840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023801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Sem caixa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633401"/>
            <a:ext cx="4264437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alinhamento sustenta o agrupamento.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50840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6023801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Mesma 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6633401"/>
            <a:ext cx="4264437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As colunas são as mesmas do card grid.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50840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6023801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Item curto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6633401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Rótulo, título e uma linha de apoio.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79313" y="50840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79313" y="6023801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dirty="0">
                <a:solidFill>
                  <a:srgbClr val="436AE1"/>
                </a:solidFill>
                <a:latin typeface="Avenir Next"/>
              </a:rPr>
              <a:t>Mais </a:t>
            </a:r>
            <a:r>
              <a:rPr sz="2800" b="1" dirty="0" err="1">
                <a:solidFill>
                  <a:srgbClr val="436AE1"/>
                </a:solidFill>
                <a:latin typeface="Avenir Next"/>
              </a:rPr>
              <a:t>leve</a:t>
            </a:r>
            <a:endParaRPr sz="2800" b="1" dirty="0">
              <a:solidFill>
                <a:srgbClr val="436AE1"/>
              </a:solidFill>
              <a:latin typeface="Avenir Nex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079313" y="6633401"/>
            <a:ext cx="4264437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Preferir quando houver seis itens ou mais.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2338260"/>
            <a:ext cx="13809313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998660"/>
            <a:ext cx="13809313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Stat 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522660"/>
            <a:ext cx="13809313" cy="1122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Variação da faixa inferior para números. A zona de cima sustenta o argumento e a faixa entrega a evidência, sem competir por atenção.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407340"/>
            <a:ext cx="4264437" cy="101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67734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estilos na escala fechada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6407340"/>
            <a:ext cx="4264437" cy="101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767734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cores na paleta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407340"/>
            <a:ext cx="4264437" cy="101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67734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pontos de módulo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79313" y="6407340"/>
            <a:ext cx="4264437" cy="101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79313" y="767734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colunas na grade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VARIAÇÃO DE FUNDO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Multi card sobre azul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9036875" cy="1955800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 dirty="0">
                <a:solidFill>
                  <a:srgbClr val="436AE1"/>
                </a:solidFill>
                <a:latin typeface="Avenir Next"/>
              </a:rPr>
              <a:t>Fundo </a:t>
            </a:r>
            <a:r>
              <a:rPr sz="2800" b="1" dirty="0" err="1">
                <a:solidFill>
                  <a:srgbClr val="436AE1"/>
                </a:solidFill>
                <a:latin typeface="Avenir Next"/>
              </a:rPr>
              <a:t>saturado</a:t>
            </a:r>
            <a:endParaRPr sz="2800" b="1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 dirty="0">
                <a:solidFill>
                  <a:srgbClr val="436AE1"/>
                </a:solidFill>
                <a:latin typeface="Avenir Next"/>
              </a:rPr>
              <a:t>O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título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vira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branco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pela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regra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de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contraste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,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sem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ninguém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escolher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2946400"/>
            <a:ext cx="9036875" cy="1955800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Card claro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O card mantém o fundo branco e o tipo volta às cores da marca.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6.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Regras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1122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 que o sistema nunca emite, e para onde vai o que ficou de fora.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REGRAS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Anti-vícios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lista do que o sistema recusa. Não é preferência estética: é o que mantém dois decks parecidos.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124200"/>
            <a:ext cx="9036875" cy="5054600"/>
          </a:xfrm>
          <a:prstGeom prst="roundRect">
            <a:avLst>
              <a:gd name="adj" fmla="val 50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436AE1"/>
                </a:solidFill>
                <a:latin typeface="Avenir Next"/>
              </a:rPr>
              <a:t>Sim</a:t>
            </a:r>
          </a:p>
          <a:p>
            <a:pPr>
              <a:lnSpc>
                <a:spcPct val="130000"/>
              </a:lnSpc>
              <a:spcBef>
                <a:spcPts val="6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da escala dos treze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dos cinco slots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Entrelinha do estilo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Avenir Next, Regular ou Bold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6875" y="3124200"/>
            <a:ext cx="9036875" cy="5054600"/>
          </a:xfrm>
          <a:prstGeom prst="roundRect">
            <a:avLst>
              <a:gd name="adj" fmla="val 50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Nunca</a:t>
            </a:r>
          </a:p>
          <a:p>
            <a:pPr>
              <a:lnSpc>
                <a:spcPct val="130000"/>
              </a:lnSpc>
              <a:spcBef>
                <a:spcPts val="6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Linha decorativa ou divisória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Gradiente, sombra, brilho, contorno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ou corpo fora da tabela</a:t>
            </a:r>
          </a:p>
          <a:p>
            <a:pPr>
              <a:lnSpc>
                <a:spcPct val="130000"/>
              </a:lnSpc>
              <a:spcBef>
                <a:spcPts val="4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Icone inventado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Checklist de auditoria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que olhar antes de mandar um deck para fora.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1602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Fonte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698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Toda run em Avenir Next.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437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4437" y="51602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4437" y="57698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Todo corpo na escala dos treze.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38902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51602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57698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Toda cor nos cinco slots.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6080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78780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4876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Bate com a do estilo.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4437" y="66080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4437" y="78780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4437" y="84876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Nada invade os 76pt.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06875" y="6608000"/>
            <a:ext cx="4264437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06875" y="7878000"/>
            <a:ext cx="4264437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Contraste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6875" y="8487600"/>
            <a:ext cx="4264437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Nenhum texto na cor do fundo.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Migração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13809313" cy="1122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Corpos de versões anteriores que sairam da escala fechada. O botão Padronizar tipografia faz o arredondamento sozinho.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22624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55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63264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60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49624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36 E 32 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90264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34 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76624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22 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817264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24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522624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16 E 14 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563264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15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649624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ROTULO 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06875" y="690264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Título 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06875" y="776624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ACIMA DE 185 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06875" y="817264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250 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Outras mídias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56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Os tokens viajam. O que muda é a unidade.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OUTRAS MÍDIAS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 MESMA REGRA EM TRÊS UNIDADES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224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Web, impresso, social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946400"/>
            <a:ext cx="5855250" cy="2946400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Web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Use px da tabela (base 1080). A entrelinha vira line-height sem unidade: o multiplicador é o mesmo número. Raio de 25px, módulo de 24px.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25250" y="2946400"/>
            <a:ext cx="5855250" cy="2946400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Impresso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Use cm. A página é 55,8 x 31,4cm; em A4 paisagem o fator é 0,53. A escala não muda, só o tamanho fisico.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88500" y="2946400"/>
            <a:ext cx="5855250" cy="2946400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Social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>
                <a:solidFill>
                  <a:srgbClr val="436AE1"/>
                </a:solidFill>
                <a:latin typeface="Avenir Next"/>
              </a:rPr>
              <a:t>Recorte a área útil, nunca a página inteira. A margem de 76pt existe para o conteúdo sobreviver ao corte.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306875" y="762000"/>
            <a:ext cx="9036875" cy="9787001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814875" y="4619180"/>
            <a:ext cx="8020875" cy="2072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dirty="0">
                <a:solidFill>
                  <a:srgbClr val="FD5E6D"/>
                </a:solidFill>
                <a:latin typeface="Avenir Next"/>
              </a:rPr>
              <a:t>Duas cores de </a:t>
            </a:r>
            <a:r>
              <a:rPr sz="3400" b="1" dirty="0" err="1">
                <a:solidFill>
                  <a:srgbClr val="FD5E6D"/>
                </a:solidFill>
                <a:latin typeface="Avenir Next"/>
              </a:rPr>
              <a:t>tipo</a:t>
            </a:r>
            <a:r>
              <a:rPr sz="3400" b="1" dirty="0">
                <a:solidFill>
                  <a:srgbClr val="FD5E6D"/>
                </a:solidFill>
                <a:latin typeface="Avenir Next"/>
              </a:rPr>
              <a:t>.</a:t>
            </a:r>
          </a:p>
          <a:p>
            <a:pPr algn="l">
              <a:lnSpc>
                <a:spcPct val="95000"/>
              </a:lnSpc>
            </a:pPr>
            <a:r>
              <a:rPr sz="3400" b="1" dirty="0">
                <a:solidFill>
                  <a:srgbClr val="FD5E6D"/>
                </a:solidFill>
                <a:latin typeface="Avenir Next"/>
              </a:rPr>
              <a:t>Escala </a:t>
            </a:r>
            <a:r>
              <a:rPr sz="3400" b="1" dirty="0" err="1">
                <a:solidFill>
                  <a:srgbClr val="FD5E6D"/>
                </a:solidFill>
                <a:latin typeface="Avenir Next"/>
              </a:rPr>
              <a:t>fechada</a:t>
            </a:r>
            <a:r>
              <a:rPr sz="3400" b="1" dirty="0">
                <a:solidFill>
                  <a:srgbClr val="FD5E6D"/>
                </a:solidFill>
                <a:latin typeface="Avenir Next"/>
              </a:rPr>
              <a:t>.</a:t>
            </a:r>
          </a:p>
          <a:p>
            <a:pPr algn="l">
              <a:lnSpc>
                <a:spcPct val="95000"/>
              </a:lnSpc>
            </a:pPr>
            <a:r>
              <a:rPr sz="3400" b="1" dirty="0" err="1">
                <a:solidFill>
                  <a:srgbClr val="FD5E6D"/>
                </a:solidFill>
                <a:latin typeface="Avenir Next"/>
              </a:rPr>
              <a:t>Entrelinha</a:t>
            </a:r>
            <a:r>
              <a:rPr sz="3400" b="1" dirty="0">
                <a:solidFill>
                  <a:srgbClr val="FD5E6D"/>
                </a:solidFill>
                <a:latin typeface="Avenir Next"/>
              </a:rPr>
              <a:t> do </a:t>
            </a:r>
            <a:r>
              <a:rPr sz="3400" b="1" dirty="0" err="1">
                <a:solidFill>
                  <a:srgbClr val="FD5E6D"/>
                </a:solidFill>
                <a:latin typeface="Avenir Next"/>
              </a:rPr>
              <a:t>estilo</a:t>
            </a:r>
            <a:r>
              <a:rPr sz="3400" b="1" dirty="0">
                <a:solidFill>
                  <a:srgbClr val="FD5E6D"/>
                </a:solidFill>
                <a:latin typeface="Avenir Next"/>
              </a:rPr>
              <a:t>.</a:t>
            </a:r>
          </a:p>
          <a:p>
            <a:pPr algn="l">
              <a:lnSpc>
                <a:spcPct val="95000"/>
              </a:lnSpc>
            </a:pPr>
            <a:r>
              <a:rPr sz="3400" b="1" dirty="0" err="1">
                <a:solidFill>
                  <a:srgbClr val="FD5E6D"/>
                </a:solidFill>
                <a:latin typeface="Avenir Next"/>
              </a:rPr>
              <a:t>Espacamento</a:t>
            </a:r>
            <a:r>
              <a:rPr sz="3400" b="1" dirty="0">
                <a:solidFill>
                  <a:srgbClr val="FD5E6D"/>
                </a:solidFill>
                <a:latin typeface="Avenir Next"/>
              </a:rPr>
              <a:t> </a:t>
            </a:r>
            <a:r>
              <a:rPr sz="3400" b="1" dirty="0" err="1">
                <a:solidFill>
                  <a:srgbClr val="FD5E6D"/>
                </a:solidFill>
                <a:latin typeface="Avenir Next"/>
              </a:rPr>
              <a:t>em</a:t>
            </a:r>
            <a:r>
              <a:rPr sz="3400" b="1" dirty="0">
                <a:solidFill>
                  <a:srgbClr val="FD5E6D"/>
                </a:solidFill>
                <a:latin typeface="Avenir Next"/>
              </a:rPr>
              <a:t> </a:t>
            </a:r>
            <a:r>
              <a:rPr sz="3400" b="1" dirty="0" err="1">
                <a:solidFill>
                  <a:srgbClr val="FD5E6D"/>
                </a:solidFill>
                <a:latin typeface="Avenir Next"/>
              </a:rPr>
              <a:t>módulo</a:t>
            </a:r>
            <a:r>
              <a:rPr sz="3400" b="1" dirty="0">
                <a:solidFill>
                  <a:srgbClr val="FD5E6D"/>
                </a:solidFill>
                <a:latin typeface="Avenir Next"/>
              </a:rPr>
              <a:t>.</a:t>
            </a:r>
          </a:p>
          <a:p>
            <a:pPr algn="l">
              <a:lnSpc>
                <a:spcPct val="95000"/>
              </a:lnSpc>
            </a:pPr>
            <a:r>
              <a:rPr sz="3400" b="1" dirty="0" err="1">
                <a:solidFill>
                  <a:srgbClr val="FD5E6D"/>
                </a:solidFill>
                <a:latin typeface="Avenir Next"/>
              </a:rPr>
              <a:t>Contraste</a:t>
            </a:r>
            <a:r>
              <a:rPr sz="3400" b="1" dirty="0">
                <a:solidFill>
                  <a:srgbClr val="FD5E6D"/>
                </a:solidFill>
                <a:latin typeface="Avenir Next"/>
              </a:rPr>
              <a:t> </a:t>
            </a:r>
            <a:r>
              <a:rPr sz="3400" b="1" dirty="0" err="1">
                <a:solidFill>
                  <a:srgbClr val="FD5E6D"/>
                </a:solidFill>
                <a:latin typeface="Avenir Next"/>
              </a:rPr>
              <a:t>automatico</a:t>
            </a:r>
            <a:r>
              <a:rPr sz="3400" b="1" dirty="0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62000"/>
            <a:ext cx="90368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O QUE NAO MUDA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9036875" cy="144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hierarquia mora nas razões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708400"/>
            <a:ext cx="9036875" cy="3929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Se o layout não for 1920x1080, escale por proporção: nunca reescolha corpos.</a:t>
            </a:r>
          </a:p>
          <a:p>
            <a:pPr algn="l">
              <a:lnSpc>
                <a:spcPct val="130000"/>
              </a:lnSpc>
            </a:pPr>
            <a:endParaRPr sz="3400" b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</a:pPr>
            <a:r>
              <a:rPr sz="3400" b="0">
                <a:solidFill>
                  <a:srgbClr val="436AE1"/>
                </a:solidFill>
                <a:latin typeface="Avenir Next"/>
              </a:rPr>
              <a:t>A diferenca entre Título 60 e Texto 24 não está em 60 e 24: está na razão entre eles. Mantida a razão, o sistema sobrevive a qualquer tamanho de tela ou papel.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3809313" cy="317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53000"/>
            <a:ext cx="13809313" cy="101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985000"/>
            <a:ext cx="9036875" cy="56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>
                <a:solidFill>
                  <a:srgbClr val="FFFFFF"/>
                </a:solidFill>
                <a:latin typeface="Avenir Next"/>
              </a:rPr>
              <a:t>Onde este sistema vira um clique.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faixa CBA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32000"/>
            <a:ext cx="13809313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grupos da aba, e o que cada um resolve.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3128200"/>
            <a:ext cx="4264437" cy="2971800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 dirty="0">
                <a:solidFill>
                  <a:srgbClr val="436AE1"/>
                </a:solidFill>
                <a:latin typeface="Avenir Next"/>
              </a:rPr>
              <a:t>INSERIR</a:t>
            </a:r>
            <a:endParaRPr lang="en-US" sz="1200" b="1" cap="all" spc="300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lang="en-US" sz="2800" b="1" dirty="0">
                <a:solidFill>
                  <a:srgbClr val="436AE1"/>
                </a:solidFill>
                <a:latin typeface="Avenir Next"/>
              </a:rPr>
              <a:t>Caixa e </a:t>
            </a:r>
            <a:r>
              <a:rPr lang="en-US" sz="2800" b="1" dirty="0" err="1">
                <a:solidFill>
                  <a:srgbClr val="436AE1"/>
                </a:solidFill>
                <a:latin typeface="Avenir Next"/>
              </a:rPr>
              <a:t>bloco</a:t>
            </a:r>
            <a:endParaRPr lang="en-US" sz="2800" b="1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lang="en-US" sz="2000" b="0" dirty="0" err="1">
                <a:solidFill>
                  <a:srgbClr val="436AE1"/>
                </a:solidFill>
                <a:latin typeface="Avenir Next"/>
              </a:rPr>
              <a:t>Já</a:t>
            </a:r>
            <a:r>
              <a:rPr lang="en-US"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lang="en-US" sz="2000" b="0" dirty="0" err="1">
                <a:solidFill>
                  <a:srgbClr val="436AE1"/>
                </a:solidFill>
                <a:latin typeface="Avenir Next"/>
              </a:rPr>
              <a:t>nascem</a:t>
            </a:r>
            <a:r>
              <a:rPr lang="en-US" sz="2000" b="0" dirty="0">
                <a:solidFill>
                  <a:srgbClr val="436AE1"/>
                </a:solidFill>
                <a:latin typeface="Avenir Next"/>
              </a:rPr>
              <a:t> no </a:t>
            </a:r>
            <a:r>
              <a:rPr lang="en-US" sz="2000" b="0" dirty="0" err="1">
                <a:solidFill>
                  <a:srgbClr val="436AE1"/>
                </a:solidFill>
                <a:latin typeface="Avenir Next"/>
              </a:rPr>
              <a:t>padrão</a:t>
            </a:r>
            <a:r>
              <a:rPr lang="en-US" sz="2000" b="0" dirty="0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4437" y="3128200"/>
            <a:ext cx="4264437" cy="2971800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 dirty="0">
                <a:solidFill>
                  <a:srgbClr val="436AE1"/>
                </a:solidFill>
                <a:latin typeface="Avenir Next"/>
              </a:rPr>
              <a:t>TIPOGRAFIA</a:t>
            </a:r>
            <a:endParaRPr lang="en-US" sz="1200" b="1" cap="all" spc="300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lang="en-US" sz="2800" b="1" dirty="0">
                <a:solidFill>
                  <a:srgbClr val="436AE1"/>
                </a:solidFill>
                <a:latin typeface="Avenir Next"/>
              </a:rPr>
              <a:t>13 </a:t>
            </a:r>
            <a:r>
              <a:rPr lang="en-US" sz="2800" b="1" dirty="0" err="1">
                <a:solidFill>
                  <a:srgbClr val="436AE1"/>
                </a:solidFill>
                <a:latin typeface="Avenir Next"/>
              </a:rPr>
              <a:t>estilos</a:t>
            </a:r>
            <a:endParaRPr lang="en-US" sz="2800" b="1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 dirty="0">
                <a:solidFill>
                  <a:srgbClr val="436AE1"/>
                </a:solidFill>
                <a:latin typeface="Avenir Next"/>
              </a:rPr>
              <a:t>Um clique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aplica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quatro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decisões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06875" y="3128200"/>
            <a:ext cx="4264437" cy="2971800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 dirty="0">
                <a:solidFill>
                  <a:srgbClr val="436AE1"/>
                </a:solidFill>
                <a:latin typeface="Avenir Next"/>
              </a:rPr>
              <a:t>ENTRELINHA</a:t>
            </a:r>
            <a:endParaRPr lang="en-US" sz="1200" b="1" cap="all" spc="300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lang="en-US" sz="2800" b="1" dirty="0">
                <a:solidFill>
                  <a:srgbClr val="436AE1"/>
                </a:solidFill>
                <a:latin typeface="Avenir Next"/>
              </a:rPr>
              <a:t>Por </a:t>
            </a:r>
            <a:r>
              <a:rPr lang="en-US" sz="2800" b="1" dirty="0" err="1">
                <a:solidFill>
                  <a:srgbClr val="436AE1"/>
                </a:solidFill>
                <a:latin typeface="Avenir Next"/>
              </a:rPr>
              <a:t>tamanho</a:t>
            </a:r>
            <a:endParaRPr lang="en-US" sz="2800" b="1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 dirty="0">
                <a:solidFill>
                  <a:srgbClr val="436AE1"/>
                </a:solidFill>
                <a:latin typeface="Avenir Next"/>
              </a:rPr>
              <a:t>Para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texto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sem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estilo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79313" y="3128200"/>
            <a:ext cx="4264437" cy="2971800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 dirty="0">
                <a:solidFill>
                  <a:srgbClr val="436AE1"/>
                </a:solidFill>
                <a:latin typeface="Avenir Next"/>
              </a:rPr>
              <a:t>TEXTO</a:t>
            </a:r>
            <a:endParaRPr lang="en-US" sz="1200" b="1" cap="all" spc="300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lang="en-US" sz="2800" b="1" dirty="0">
                <a:solidFill>
                  <a:srgbClr val="436AE1"/>
                </a:solidFill>
                <a:latin typeface="Avenir Next"/>
              </a:rPr>
              <a:t>Peso e </a:t>
            </a:r>
            <a:r>
              <a:rPr lang="en-US" sz="2800" b="1" dirty="0" err="1">
                <a:solidFill>
                  <a:srgbClr val="436AE1"/>
                </a:solidFill>
                <a:latin typeface="Avenir Next"/>
              </a:rPr>
              <a:t>alinhamento</a:t>
            </a:r>
            <a:endParaRPr lang="en-US" sz="2800" b="1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 dirty="0">
                <a:solidFill>
                  <a:srgbClr val="436AE1"/>
                </a:solidFill>
                <a:latin typeface="Avenir Next"/>
              </a:rPr>
              <a:t>Negrito,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esquerda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,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centro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6608000"/>
            <a:ext cx="4264437" cy="2971800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 dirty="0">
                <a:solidFill>
                  <a:srgbClr val="436AE1"/>
                </a:solidFill>
                <a:latin typeface="Avenir Next"/>
              </a:rPr>
              <a:t>FONTE / FUNDO</a:t>
            </a:r>
            <a:endParaRPr lang="en-US" sz="1200" b="1" cap="all" spc="300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lang="en-US" sz="2800" b="1" dirty="0">
                <a:solidFill>
                  <a:srgbClr val="436AE1"/>
                </a:solidFill>
                <a:latin typeface="Avenir Next"/>
              </a:rPr>
              <a:t>Paleta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lang="en-US" sz="2000" b="0" dirty="0">
                <a:solidFill>
                  <a:srgbClr val="436AE1"/>
                </a:solidFill>
                <a:latin typeface="Avenir Next"/>
              </a:rPr>
              <a:t>Só </a:t>
            </a:r>
            <a:r>
              <a:rPr lang="en-US" sz="2000" b="0" dirty="0" err="1">
                <a:solidFill>
                  <a:srgbClr val="436AE1"/>
                </a:solidFill>
                <a:latin typeface="Avenir Next"/>
              </a:rPr>
              <a:t>os</a:t>
            </a:r>
            <a:r>
              <a:rPr lang="en-US"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lang="en-US" sz="2000" b="0" dirty="0" err="1">
                <a:solidFill>
                  <a:srgbClr val="436AE1"/>
                </a:solidFill>
                <a:latin typeface="Avenir Next"/>
              </a:rPr>
              <a:t>cinco</a:t>
            </a:r>
            <a:r>
              <a:rPr lang="en-US" sz="2000" b="0" dirty="0">
                <a:solidFill>
                  <a:srgbClr val="436AE1"/>
                </a:solidFill>
                <a:latin typeface="Avenir Next"/>
              </a:rPr>
              <a:t> slots.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4437" y="6608000"/>
            <a:ext cx="4264437" cy="2971800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 dirty="0">
                <a:solidFill>
                  <a:srgbClr val="436AE1"/>
                </a:solidFill>
                <a:latin typeface="Avenir Next"/>
              </a:rPr>
              <a:t>FORMAS</a:t>
            </a:r>
            <a:endParaRPr lang="en-US" sz="1200" b="1" cap="all" spc="300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lang="en-US" sz="2800" b="1" dirty="0">
                <a:solidFill>
                  <a:srgbClr val="436AE1"/>
                </a:solidFill>
                <a:latin typeface="Avenir Next"/>
              </a:rPr>
              <a:t>Raio e crop</a:t>
            </a: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 dirty="0">
                <a:solidFill>
                  <a:srgbClr val="436AE1"/>
                </a:solidFill>
                <a:latin typeface="Avenir Next"/>
              </a:rPr>
              <a:t>Rounded,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tirar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,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recortar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06875" y="6608000"/>
            <a:ext cx="4264437" cy="2971800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 dirty="0">
                <a:solidFill>
                  <a:srgbClr val="436AE1"/>
                </a:solidFill>
                <a:latin typeface="Avenir Next"/>
              </a:rPr>
              <a:t>ALINHAR</a:t>
            </a:r>
            <a:endParaRPr lang="en-US" sz="1200" b="1" cap="all" spc="300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lang="en-US" sz="2800" b="1" dirty="0" err="1">
                <a:solidFill>
                  <a:srgbClr val="436AE1"/>
                </a:solidFill>
                <a:latin typeface="Avenir Next"/>
              </a:rPr>
              <a:t>Âncoras</a:t>
            </a:r>
            <a:endParaRPr lang="en-US" sz="2800" b="1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 dirty="0" err="1">
                <a:solidFill>
                  <a:srgbClr val="436AE1"/>
                </a:solidFill>
                <a:latin typeface="Avenir Next"/>
              </a:rPr>
              <a:t>Encaixe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em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medida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fixa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079313" y="6608000"/>
            <a:ext cx="4264437" cy="2971800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0" tIns="508000" rIns="508000" bIns="508000" rtlCol="0" anchor="t"/>
          <a:lstStyle/>
          <a:p>
            <a:pPr algn="l">
              <a:lnSpc>
                <a:spcPct val="100000"/>
              </a:lnSpc>
            </a:pPr>
            <a:r>
              <a:rPr sz="1200" b="1" cap="all" spc="300" dirty="0">
                <a:solidFill>
                  <a:srgbClr val="436AE1"/>
                </a:solidFill>
                <a:latin typeface="Avenir Next"/>
              </a:rPr>
              <a:t>AUDITORIA</a:t>
            </a:r>
            <a:endParaRPr lang="en-US" sz="1200" b="1" cap="all" spc="300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00000"/>
              </a:lnSpc>
              <a:spcBef>
                <a:spcPts val="4000"/>
              </a:spcBef>
            </a:pPr>
            <a:r>
              <a:rPr lang="en-US" sz="2800" b="1" dirty="0" err="1">
                <a:solidFill>
                  <a:srgbClr val="436AE1"/>
                </a:solidFill>
                <a:latin typeface="Avenir Next"/>
              </a:rPr>
              <a:t>Padronizar</a:t>
            </a:r>
            <a:endParaRPr lang="en-US" sz="2800" b="1" dirty="0">
              <a:solidFill>
                <a:srgbClr val="436AE1"/>
              </a:solidFill>
              <a:latin typeface="Avenir Next"/>
            </a:endParaRPr>
          </a:p>
          <a:p>
            <a:pPr algn="l">
              <a:lnSpc>
                <a:spcPct val="130000"/>
              </a:lnSpc>
              <a:spcBef>
                <a:spcPts val="2000"/>
              </a:spcBef>
            </a:pPr>
            <a:r>
              <a:rPr sz="2000" b="0" dirty="0" err="1">
                <a:solidFill>
                  <a:srgbClr val="436AE1"/>
                </a:solidFill>
                <a:latin typeface="Avenir Next"/>
              </a:rPr>
              <a:t>Encaixa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o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que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2000" b="0" dirty="0" err="1">
                <a:solidFill>
                  <a:srgbClr val="436AE1"/>
                </a:solidFill>
                <a:latin typeface="Avenir Next"/>
              </a:rPr>
              <a:t>fugiu</a:t>
            </a:r>
            <a:r>
              <a:rPr sz="2000" b="0" dirty="0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762000"/>
            <a:ext cx="18581751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Mudar os padroes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286000"/>
            <a:ext cx="13809313" cy="1684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dirty="0">
                <a:solidFill>
                  <a:srgbClr val="436AE1"/>
                </a:solidFill>
                <a:latin typeface="Avenir Next"/>
              </a:rPr>
              <a:t>A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página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de Brand Standards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gera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uma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linha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de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configuração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que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a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faixa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aplica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sem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recompilar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nada.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É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como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o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sistema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evolui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sem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virar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</a:t>
            </a:r>
            <a:r>
              <a:rPr sz="3400" b="0" dirty="0" err="1">
                <a:solidFill>
                  <a:srgbClr val="436AE1"/>
                </a:solidFill>
                <a:latin typeface="Avenir Next"/>
              </a:rPr>
              <a:t>código</a:t>
            </a:r>
            <a:r>
              <a:rPr sz="3400" b="0" dirty="0">
                <a:solidFill>
                  <a:srgbClr val="436AE1"/>
                </a:solidFill>
                <a:latin typeface="Avenir Next"/>
              </a:rPr>
              <a:t> novo.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4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PÁGINA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54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Padroes &gt; Abrir página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41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81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Padroes &gt; Aplicar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14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FORMATO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54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chave=valor separado por 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7411910"/>
            <a:ext cx="9036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ESTILO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818310"/>
            <a:ext cx="9036875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s_&lt;id&gt; = corpo|bold|papel|entrelinha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0345801"/>
            <a:ext cx="889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73751" y="10345801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981900"/>
            <a:ext cx="13809313" cy="396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 dirty="0">
                <a:solidFill>
                  <a:srgbClr val="FFFFFF"/>
                </a:solidFill>
                <a:latin typeface="Avenir Next"/>
              </a:rPr>
              <a:t>Treze </a:t>
            </a:r>
            <a:r>
              <a:rPr sz="12000" b="1" dirty="0" err="1">
                <a:solidFill>
                  <a:srgbClr val="FFFFFF"/>
                </a:solidFill>
                <a:latin typeface="Avenir Next"/>
              </a:rPr>
              <a:t>estilos</a:t>
            </a:r>
            <a:r>
              <a:rPr sz="12000" b="1" dirty="0">
                <a:solidFill>
                  <a:srgbClr val="FFFFFF"/>
                </a:solidFill>
                <a:latin typeface="Avenir Next"/>
              </a:rPr>
              <a:t>,</a:t>
            </a:r>
          </a:p>
          <a:p>
            <a:pPr algn="l">
              <a:lnSpc>
                <a:spcPct val="80000"/>
              </a:lnSpc>
            </a:pPr>
            <a:r>
              <a:rPr sz="12000" b="1" dirty="0" err="1">
                <a:solidFill>
                  <a:srgbClr val="FFFFFF"/>
                </a:solidFill>
                <a:latin typeface="Avenir Next"/>
              </a:rPr>
              <a:t>cinco</a:t>
            </a:r>
            <a:r>
              <a:rPr sz="12000" b="1" dirty="0">
                <a:solidFill>
                  <a:srgbClr val="FFFFFF"/>
                </a:solidFill>
                <a:latin typeface="Avenir Next"/>
              </a:rPr>
              <a:t> cores,</a:t>
            </a:r>
          </a:p>
          <a:p>
            <a:pPr algn="l">
              <a:lnSpc>
                <a:spcPct val="80000"/>
              </a:lnSpc>
            </a:pPr>
            <a:r>
              <a:rPr sz="12000" b="1" dirty="0">
                <a:solidFill>
                  <a:srgbClr val="FFFFFF"/>
                </a:solidFill>
                <a:latin typeface="Avenir Next"/>
              </a:rPr>
              <a:t>um </a:t>
            </a:r>
            <a:r>
              <a:rPr sz="12000" b="1" dirty="0" err="1">
                <a:solidFill>
                  <a:srgbClr val="FFFFFF"/>
                </a:solidFill>
                <a:latin typeface="Avenir Next"/>
              </a:rPr>
              <a:t>módulo</a:t>
            </a:r>
            <a:r>
              <a:rPr sz="12000" b="1" dirty="0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3670</Words>
  <Application>Microsoft Macintosh PowerPoint</Application>
  <PresentationFormat>Custom</PresentationFormat>
  <Paragraphs>938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4" baseType="lpstr">
      <vt:lpstr>Arial</vt:lpstr>
      <vt:lpstr>Avenir Next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Herick Ferreira | CBA B+G</cp:lastModifiedBy>
  <cp:revision>5</cp:revision>
  <dcterms:created xsi:type="dcterms:W3CDTF">2013-01-27T09:14:16Z</dcterms:created>
  <dcterms:modified xsi:type="dcterms:W3CDTF">2026-08-06T23:01:25Z</dcterms:modified>
  <cp:category/>
</cp:coreProperties>
</file>