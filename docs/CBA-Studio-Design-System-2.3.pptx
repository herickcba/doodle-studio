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</p:sldIdLst>
  <p:sldSz cx="20105751" cy="11311001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CBA B+G  ·  DESIGN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53726"/>
            <a:ext cx="13809313" cy="44783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Um sistema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cabe em treze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estilos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052301"/>
            <a:ext cx="9036875" cy="1557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Documentação da tipografia, cor e grid do CBA Studio.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 QUE É ISTO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ferramenta é a definição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775457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Este documento não inventa um padrão: ele descreve o que a faixa CBA Studio já aplica com um clique. A fonte da verdade é o código do add-in; aqui e nos slides seguintes ele está escrito em português.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067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FONTE DA VERDADE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8959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SetDefaults, no .bas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34808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ESPELHO EM CÓDIGO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22398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tools/design-system/tokens.py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067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 EM 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8959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834808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GATE ANTI-DERIVA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822398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check-tokens.py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ABERTURA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caminho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Sete blocos, do que é invariável para o que é aplicado.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47003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70928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278693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Página, margem, módulo, raio.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3847003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470928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5278693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Cinco slots, dois papéis de tipo.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3847003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470928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5278693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treze estilos, um a 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79313" y="3847003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79313" y="470928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79313" y="5278693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Caixas, cards, imagens.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6945390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780767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8377080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Layouts que o sistema aceita.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437" y="6945390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4437" y="780767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4437" y="8377080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Anti-vícios e migração.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06875" y="6945390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7.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6875" y="780767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6875" y="8377080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Web, impresso, social.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79313" y="6945390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79313" y="780767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79313" y="8377080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faixa e o Brand Standards.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ABERTURA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831135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1.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155262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Fundamentos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4307"/>
            <a:ext cx="9036875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A página, a margem, o módulo de espaçamento e o raio. Todo o resto deriva daqui.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página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9036875" cy="2000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16:9 customizado, não o 16:9 padrão do PowerPoint. Deck em outro formato entra distorcido: o botão Page Size da faixa converte.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altura é a ponte entre mídias: 1080px equivale a 890,63pt, logo 1pt = 1,2126px.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86341" y="1524000"/>
            <a:ext cx="6957409" cy="3914067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86341" y="6200067"/>
            <a:ext cx="6957409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LARGURA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86341" y="6589241"/>
            <a:ext cx="6957409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1583,13 pt  ·  1920 px  ·  55,8 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86341" y="7390119"/>
            <a:ext cx="6957409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ALTURA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86341" y="7779293"/>
            <a:ext cx="6957409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890,63 pt  ·  1080 px  ·  31,4 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86341" y="8580170"/>
            <a:ext cx="6957409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PROPORÇÃO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86341" y="8969344"/>
            <a:ext cx="6957409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16:9 customizado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Margem e área útil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9036875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margem tem 60pt, três módulos exatos, nos quatro lados. Ela existe para o slide sobreviver a recorte, projeção e reaproveitamento em outra mídia.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86341" y="1524000"/>
            <a:ext cx="6957409" cy="3914067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650024" y="1787683"/>
            <a:ext cx="6430043" cy="3386701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86341" y="6200067"/>
            <a:ext cx="6957409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86341" y="6589241"/>
            <a:ext cx="6957409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60 pt  ·  73 px  ·  2,12 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86341" y="7390119"/>
            <a:ext cx="6957409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ÁREA ÚTIL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86341" y="7779293"/>
            <a:ext cx="6957409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1463 x 771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86341" y="8580170"/>
            <a:ext cx="6957409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COLUNAS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86341" y="8969344"/>
            <a:ext cx="6957409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4 de 335,78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9036875" cy="1661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módulo de espaçamento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963198"/>
            <a:ext cx="9036875" cy="1200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Toda distância entre colunas, cards e blocos é múltiplo de 20pt, e o raio e a margem também: 20 e 60. Distância que não é múltiplo de 20 é acidente, não decisão.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86341" y="1524000"/>
            <a:ext cx="6957409" cy="3914067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650024" y="1787683"/>
            <a:ext cx="6430043" cy="3386701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650024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25812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001601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177390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53179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528967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704756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880545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86341" y="6200067"/>
            <a:ext cx="6957409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MÓDULO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86341" y="6589241"/>
            <a:ext cx="6957409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20 pt  ·  24 px  ·  0,71 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86341" y="7390119"/>
            <a:ext cx="6957409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MÚLTIPLOS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86341" y="7779293"/>
            <a:ext cx="6957409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20 · 40 · 60 · 80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86341" y="8580170"/>
            <a:ext cx="6957409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RELAÇÃO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6341" y="8969344"/>
            <a:ext cx="6957409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raio = 1 módulo, gutter =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Âncora de encaixe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âncora não é a margem. A margem delimita a página; a âncora é o passo de alinhamento entre objetos. São papéis diferentes e convivem.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85202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PADRÃO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74376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1,27 cm  ·  36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1322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EM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90239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44 px @1080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85202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PASSOS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74376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0,5 · 1 · 1,27 · 1,5 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51322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PASSOS (cont.)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90239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 · 2,5 · 3 · 4 · 5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Raio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raio é um valor visual constante, não uma proporção: um card grande e um botão pequeno tem o mesmo arredondamento. É o que faz formas de tamanhos diferentes parecerem da mesma família.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85202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RAIO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74376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 pt  ·  24 px  ·  0,71 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1322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EM OOXML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90239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raio / (menor lado / 2) x 50000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85202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74376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50000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51322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90239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412974"/>
            <a:ext cx="8020875" cy="24850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>60 de margem.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>20 de módulo.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>20 de raio.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/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>Tudo múltiplo de 20.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COMO OS TRÊS SE COMBINAM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Margem, módulo e raio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843044"/>
            <a:ext cx="9036875" cy="5440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margem diz onde começa. O módulo diz de quanto em quanto se anda. O raio diz como a forma termina.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Com os três fixos, dois slides feitos por pessoas diferentes saem parecidos sem combinação prévia: que é o único teste que importa num design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171194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495322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Cor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814366"/>
            <a:ext cx="9036875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Cinco slots. Dois carregam tipo. Um resolve contraste sozinho.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COR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índices importam: a configuração de marca referência por número, não por nome.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344785"/>
            <a:ext cx="3309950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PAL0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#FD5E6D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9950" y="5344785"/>
            <a:ext cx="3309950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PAL1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#436AE1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97900" y="5344785"/>
            <a:ext cx="3309950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PAL2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Bege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#EEECE6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215850" y="5344785"/>
            <a:ext cx="3309950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PAL3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#FFFFFF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33800" y="5344785"/>
            <a:ext cx="3309950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PAL4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Preto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#000000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Rosa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85711"/>
          </a:xfrm>
          <a:prstGeom prst="roundRect">
            <a:avLst>
              <a:gd name="adj" fmla="val 3856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#FD5E6D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253, 94, 109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tipo 1. Statements, títulos, chapéus, números-destaque.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Azul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85711"/>
          </a:xfrm>
          <a:prstGeom prst="roundRect">
            <a:avLst>
              <a:gd name="adj" fmla="val 3856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#436AE1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67, 106, 225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tipo 2. Corpo de texto, tópicos, legendas, manchetes.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Bege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85711"/>
          </a:xfrm>
          <a:prstGeom prst="roundRect">
            <a:avLst>
              <a:gd name="adj" fmla="val 3856"/>
            </a:avLst>
          </a:prstGeom>
          <a:solidFill>
            <a:srgbClr val="EEECE6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#EEECE6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238, 236, 230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Fundo de conteúdo padrão. Nunca é cor de tipo.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Branco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85711"/>
          </a:xfrm>
          <a:prstGeom prst="roundRect">
            <a:avLst>
              <a:gd name="adj" fmla="val 38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#FFFFFF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255, 255, 255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Fundo claro e texto sobre fundo saturado (regra de contraste).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Preto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85711"/>
          </a:xfrm>
          <a:prstGeom prst="roundRect">
            <a:avLst>
              <a:gd name="adj" fmla="val 3856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#000000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0, 0, 0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Reserva. Não usar em tipo da marca.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PAPÉIS DE COR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tipo só tem duas cores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4881702"/>
            <a:ext cx="5855250" cy="2818485"/>
          </a:xfrm>
          <a:prstGeom prst="roundRect">
            <a:avLst>
              <a:gd name="adj" fmla="val 90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
pal0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Statements, títulos, chapéus e números-destaque. É a cor que marca hierarquia alta.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25250" y="4881702"/>
            <a:ext cx="5855250" cy="2818485"/>
          </a:xfrm>
          <a:prstGeom prst="roundRect">
            <a:avLst>
              <a:gd name="adj" fmla="val 90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
pal1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de texto, tópicos, legendas e manchetes. É a cor que se le em volume.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8500" y="4881702"/>
            <a:ext cx="5855250" cy="2818485"/>
          </a:xfrm>
          <a:prstGeom prst="roundRect">
            <a:avLst>
              <a:gd name="adj" fmla="val 90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
pal3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Não é escolha: aparece quando a regra de contraste age sobre fundo saturado.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409127"/>
            <a:ext cx="8020875" cy="2492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Título 60 é rosa.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Sobre fundo rosa,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ele nasce branco.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REGRA DE CONTRASTE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1661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nunca some no fundo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73959"/>
            <a:ext cx="9036875" cy="4760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Se a cor do texto for exatamente a cor do fundo, o texto vira branco.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fundo relevante é, nesta ordem: o da própria forma, o do grupo que a contém, o do slide. Uma forma sólida cobrindo a página também conta.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Fundos permitidos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317933"/>
            <a:ext cx="4264437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Bege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fundo de conteúdo padrão. Tipo em rosa e azul.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5317933"/>
            <a:ext cx="4264437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Cards e areas de respiro. Tipo em rosa e azul.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5317933"/>
            <a:ext cx="4264437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Aberturas e destaques. Tipo em branco.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5317933"/>
            <a:ext cx="4264437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Aberturas e destaques. Tipo em branco.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Cor: o que vale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paleta é fechada. Não existe 'um azul um pouco mais claro'.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706111"/>
            <a:ext cx="9036875" cy="5211931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Usar os cinco slots como estao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Deixar a regra de contraste decidir o branco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Bege como fundo padrão de conteúdo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Rosa e azul como os dois papéis de 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3706111"/>
            <a:ext cx="9036875" cy="5211931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Criar tom intermediário 'para variar'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preto em conteúdo de marca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fundo fora dos quatro permitidos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Transparência para 'suavizar' uma cor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831135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155262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Tipografia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4307"/>
            <a:ext cx="9036875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Uma família, treze estilos. Cada um já traz peso, cor e entrelinha: escolher o estilo decide as quatro coisas.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TIPOGRAFIA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escala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Treze corpos, nada entre eles. Se não está aqui, não é do sistema.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362306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51480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Big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20886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1.00x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9950" y="3362306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9950" y="3751480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9950" y="4320886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0.80x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7900" y="3362306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7900" y="3751480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Manchete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7900" y="4320886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0.90x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15850" y="3362306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15850" y="3751480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15850" y="4320886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0.90x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33800" y="3362306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33800" y="3751480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Destaque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33800" y="4320886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1.15x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632752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6021926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Subtítulo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6591332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0.95x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9950" y="5632752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9950" y="6021926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9950" y="6591332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7900" y="5632752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7900" y="6021926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Tópico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7900" y="6591332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1.00x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15850" y="5632752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15850" y="6021926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15850" y="6591332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1.00x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33800" y="5632752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33800" y="6021926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Apoio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33800" y="6591332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7903197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8292371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Chapéu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" y="8861778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1.00x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9950" y="7903197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9950" y="8292371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9950" y="8861778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7900" y="7903197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7900" y="8292371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Legenda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7900" y="8861778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1.30x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15850" y="7903197"/>
            <a:ext cx="33099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215850" y="8292371"/>
            <a:ext cx="33099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15850" y="8861778"/>
            <a:ext cx="3309950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1.00x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Big Number 250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303px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número que carrega a página inteira. Um por slide, sem concorrência.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049231"/>
            <a:ext cx="18581751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Statement 120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0.80x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146px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frase-manifesto. Ponto final em azul; sobre fundo azul, o texto vira branco e o ponto rosa.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472055"/>
            <a:ext cx="18581751" cy="3001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A marca não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é o que você diz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Manchete 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97px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abertura de capítulo.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864759"/>
            <a:ext cx="18581751" cy="22157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O começo de</a:t>
            </a:r>
          </a:p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um capítulo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73px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página.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557189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de página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Destaque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1.15x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53px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de destaque e manifesto. O maior corpo que ainda é texto, não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194048"/>
            <a:ext cx="18581751" cy="1557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corpo de destaque carrega a ideia principal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sem virar título.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Subtítulo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41px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Subtítulo e descritivo abaixo do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724141"/>
            <a:ext cx="18581751" cy="497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Subtítulo que explica o título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30913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66606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30913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766606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30913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766606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30913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766606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30913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766606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41px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783660"/>
            <a:ext cx="13809313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 grande: intro de pagina e paragrafo de argumento. Entre o Destaque 44, que e' statement curto, e o Texto 24.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092492"/>
            <a:ext cx="18581751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Texto corrido grande. É o parágrafo de argumento: entra onde o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Destaque 44 pesaria demais e o Texto 24 ficaria miúdo.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Tópico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tópico ou de card.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757224"/>
            <a:ext cx="18581751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 de tópico ou de card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29px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corrido. O padrão de toda caixa nova.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603351"/>
            <a:ext cx="18581751" cy="738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436AE1"/>
                </a:solidFill>
                <a:latin typeface="Avenir Next"/>
              </a:rPr>
              <a:t>Texto corrido. É o estilo que toda caixa nova recebe ao nascer,</a:t>
            </a:r>
          </a:p>
          <a:p>
            <a:pPr algn="l">
              <a:lnSpc>
                <a:spcPct val="100000"/>
              </a:lnSpc>
            </a:pPr>
            <a:r>
              <a:rPr sz="2400" b="0">
                <a:solidFill>
                  <a:srgbClr val="436AE1"/>
                </a:solidFill>
                <a:latin typeface="Avenir Next"/>
              </a:rPr>
              <a:t>porque é o que mais aparece num deck de verdade.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Apoio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24px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de apoio em pilares e colunas.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572576"/>
            <a:ext cx="18581751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de apoio em pilares e colunas. Respira mais que o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 porque costuma vir em bloco estreito.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Chapéu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22px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Chapéu acima do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34161"/>
            <a:ext cx="18581751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CHAPÉU ACIMA DO TÍTULO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18px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 pequeno, em slides densos.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672594"/>
            <a:ext cx="18581751" cy="6001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Texto corrido pequeno, para slides densos onde 24pt não caberia.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A entrelinha de 1,3x mantém a leitura confortável mesmo apertado.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Legenda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Legendas, notas e fontes.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732604"/>
            <a:ext cx="18581751" cy="4800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Legenda de imagem, nota de rodapé ou fonte de dado.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Fonte: CBA B+G, 2026.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CAPS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Rótulo em caixa alta. Mesmo corpo da Legenda 12, entrelinha diferente.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80322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Rótulo em caixa alta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30932"/>
            <a:ext cx="13809313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ENTRELINHA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41693"/>
            <a:ext cx="13809313" cy="1661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Quanto maior o corpo,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mais apertada a linha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342892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Não é arbitrário. Em 250 e 120pt o espaço entre linhas já é enorme em valor absoluto, e o multiplicador comprime. Em 12 e 15pt é o inverso: a linha precisa de 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145251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Sempre exata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714657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Múltiplo do corpo, nunca 'simples' ou 'duplo'.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7145251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Pertence ao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7714657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Legenda 12 e CAPS 12 dividem o corpo e divergem na entrelinha.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7145251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Tabela por tamanho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714657"/>
            <a:ext cx="4264437" cy="1200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Alimenta os botões de Entrelinha. Onde discordar do estilo, o estilo manda.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Entrelinha por estilo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13809313" cy="68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valor efetivo em pontos é o corpo vezes o multiplicador.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177063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56623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250.0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05082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89425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0.80x   =   96.0 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6833102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722227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   =   72.0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8161121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855029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   =   54.0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4437" y="4177063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4437" y="456623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1.15x   =   50.6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4437" y="5505082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4437" y="589425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0.95x   =   32.3 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4437" y="6833102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4437" y="722227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44.2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4437" y="8161121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437" y="855029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28.0 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06875" y="4177063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6875" y="456623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24.0 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06875" y="5505082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6875" y="589425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26.0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6875" y="6833102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875" y="7222276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18.0 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6875" y="8161121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06875" y="855029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19.5 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79313" y="4177063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79313" y="456623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15.6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79313" y="5505082"/>
            <a:ext cx="4264437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79313" y="589425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12.0 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3416317"/>
            <a:ext cx="8020875" cy="44783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Branco.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Ponto rosa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COMPORTAMENTO PROPRIO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ponto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843044"/>
            <a:ext cx="9036875" cy="5440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Statement 120 pinta o ponto final de azul. Só o ponto, e só se a frase terminar em ponto.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Sobre fundo azul o texto vira branco e o ponto vira rosa: as duas regras agem juntas sem se anular. É o único estilo com comportamento próprio.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5378528"/>
            <a:ext cx="8020875" cy="5539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Rótulo em caixa alta</a:t>
            </a:r>
          </a:p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 três pontos</a:t>
            </a:r>
          </a:p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de espaçamento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COMPORTAMENTO PROPRIO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Caixa alta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843044"/>
            <a:ext cx="9036875" cy="4760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Aplica caixa alta e 3pt de espaçamento entre letras. Caixa alta sem espaçamento fecha demais em Avenir Next Bold.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É reversível: aplicar outro estilo por cima desfaz a caixa alta e zera o espaçamento. Nenhum estilo deixa resíduo.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171194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495322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Componentes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814366"/>
            <a:ext cx="9036875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Poucas pecas, todas derivadas do raio e do módulo.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COMPONENTES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AS DUAS PECAS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Caixa e bloco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107896"/>
            <a:ext cx="5855250" cy="2366098"/>
          </a:xfrm>
          <a:prstGeom prst="roundRect">
            <a:avLst>
              <a:gd name="adj" fmla="val 107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Caixa de texto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Nasce em Texto 24, âncorada na medida escolhida. Sem preenchimento e sem contorno.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25250" y="5107896"/>
            <a:ext cx="5855250" cy="2366098"/>
          </a:xfrm>
          <a:prstGeom prst="roundRect">
            <a:avLst>
              <a:gd name="adj" fmla="val 107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Rounded box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de cor com o raio do sistema. Tambem nasce em Texto 24.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8500" y="5107896"/>
            <a:ext cx="5855250" cy="2366098"/>
          </a:xfrm>
          <a:prstGeom prst="roundRect">
            <a:avLst>
              <a:gd name="adj" fmla="val 107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Pill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totalmente arredondado. Para rotulos e banners curtos, nunca para texto longo.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 é rounded box com padding de um módulo. A grade sai da divisão da área útil com gaps múltiplos de 20pt.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344785"/>
            <a:ext cx="4264437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 CARDS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706 pt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5344785"/>
            <a:ext cx="4264437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 CARDS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464 pt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5344785"/>
            <a:ext cx="4264437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 CARDS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343 pt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5344785"/>
            <a:ext cx="4264437" cy="1934583"/>
          </a:xfrm>
          <a:prstGeom prst="roundRect">
            <a:avLst>
              <a:gd name="adj" fmla="val 13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PADDING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40 pt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dois módulos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Imagens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Imagem entra com o mesmo raio das formas. Recorte é pelo botão Crop da faixa, que usa o comando nativo do PowerPoint: nada de esticar para caber.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85202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RAIO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74376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 pt, igual às formas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1322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RECORTE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90239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Formas &gt; Crop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85202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PROPORÇÃO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74376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nunca distorcer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51322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LEGENDA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90239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Legenda 12, abaixo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Componentes: o que vale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Quando bater a vontade de separar com um traco, a resposta é hierarquia.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706111"/>
            <a:ext cx="9036875" cy="5211931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Espaço em branco em múltiplo de 20pt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Mudanca de corpo para separar assunto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de cor para agrupar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mesmo raio em tudo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3706111"/>
            <a:ext cx="9036875" cy="5211931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Linha fina decorativa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Barra vertical de destaque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Sombra, gradiente ou brilho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Raio diferente 'porque a forma é menor'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831135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5.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155262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4307"/>
            <a:ext cx="9036875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Os layouts que o sistema aceita. Fora deles, é composição nova e composição nova pede revisão.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catálogo, 1 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Abertura, especificação e amostra.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626729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Hero cover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Capa. Fundo saturado.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3626729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Chapter divider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 de bloco.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3626729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Spec page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Título, intro e pares.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3626729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Type specimen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Amostra e ficha.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6566077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5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Swatch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Uma cor por página.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4437" y="6566077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6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Multi card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De dois a quatro cards.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06875" y="6566077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7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Card grid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Grade com caixa.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catálogo, 2 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Composição, regra e fecho.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626729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8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Grid plain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Grade sem caixa.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3626729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9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Zoned content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Zona e faixa.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3626729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10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Stat band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Faixa de números.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3626729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11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Quote side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e painel.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6566077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12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Do e nunca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Duas colunas.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4437" y="6566077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13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Diagram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Esquema em escala.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06875" y="6566077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14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Closing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Fecho do documento.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ARQUÉTIPO 1  ·  VARIAÇÃO A  ·  AZUL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53726"/>
            <a:ext cx="13809313" cy="3001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Uma frase que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marca a página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575119"/>
            <a:ext cx="9036875" cy="1557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Statement 120 sobre azul: o texto vira branco e o ponto, rosa.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240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ARQUÉTIPO 1  ·  VARIAÇÃO B  ·  ROSA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53726"/>
            <a:ext cx="13809313" cy="3001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A mesma capa,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o outro fundo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575119"/>
            <a:ext cx="9036875" cy="1557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Sobre rosa o ponto final vira azul. Nada mais muda.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617251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41378"/>
            <a:ext cx="13809313" cy="22157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Chapter divider</a:t>
            </a:r>
          </a:p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sobre azul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368310"/>
            <a:ext cx="9036875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Número, título e apoio formam um grupo só, centralizado na altura útil.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617251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41378"/>
            <a:ext cx="13809313" cy="22157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Chapter divider</a:t>
            </a:r>
          </a:p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sobre bege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368310"/>
            <a:ext cx="9036875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Em fundo claro o Big Number e a Manchete voltam às cores de tipo da marca.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3  ·  VARIAÇÃO A  ·  BEGE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Spec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775457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Título, introdução e pares rótulo/valor. É o arquétipo de ficha técnica: quando o conteúdo é uma tabela curta, ele evita virar tabela de verdade.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067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ATÉ 8 PARES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8959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Dois blocos de 2 colunas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34808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ACIMA DE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22398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Quatro blocos de 1 coluna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067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RÓTULO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8959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CAPS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834808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VALOR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822398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Tópico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3  ·  VARIAÇÃO B  ·  BRANCO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Spec page sobre branco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775457"/>
            <a:ext cx="13809313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mesmo arquétipo em fundo branco. Todos os arquétipos aceitam os quatro fundos permitidos sem nenhum ajuste.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6672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55590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494748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88392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 e azul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16672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CONTRASTE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55590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Não dispara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494748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7883922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Áreas de respiro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4  ·  VARIAÇÃO A  ·  BEGE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73px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página.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557189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de página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4  ·  VARIAÇÃO B  ·  BRANCO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Destaque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1.15x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09204"/>
            <a:ext cx="3208350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066130"/>
            <a:ext cx="3208350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53px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183730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de destaque e manifesto. O maior corpo que ainda é texto, não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194048"/>
            <a:ext cx="18581751" cy="1557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corpo de destaque carrega a ideia principal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sem virar título.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Rosa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85711"/>
          </a:xfrm>
          <a:prstGeom prst="roundRect">
            <a:avLst>
              <a:gd name="adj" fmla="val 3856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#FD5E6D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253, 94, 109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tipo 1. Statements, títulos, chapéus, números-destaque.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Branco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98089"/>
            <a:ext cx="9036875" cy="6585711"/>
          </a:xfrm>
          <a:prstGeom prst="roundRect">
            <a:avLst>
              <a:gd name="adj" fmla="val 3856"/>
            </a:avLst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06875" y="299808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872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#FFFFFF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64669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5384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255, 255, 255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31250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0424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65183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Fundo claro e texto sobre fundo saturado (regra de contraste).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6  ·  VARIAÇÃO A  ·  BEGE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Multi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317933"/>
            <a:ext cx="5855250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Dois a quatro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Mais que quatro vira grade densa, que é outro arquétipo.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25250" y="5317933"/>
            <a:ext cx="5855250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Mesma altura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card de maior conteúdo dá a altura; os outros ficam com mais espaço negativo.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8500" y="5317933"/>
            <a:ext cx="5855250" cy="1946024"/>
          </a:xfrm>
          <a:prstGeom prst="roundRect">
            <a:avLst>
              <a:gd name="adj" fmla="val 130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Padding de 40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 grande respira mais: dois módulos de cada lado.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 6  ·  VARIAÇÃO B  ·  AZUL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Multi card sobre azul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63933"/>
            <a:ext cx="9036875" cy="2454024"/>
          </a:xfrm>
          <a:prstGeom prst="roundRect">
            <a:avLst>
              <a:gd name="adj" fmla="val 103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Fundo saturado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título do slide vira branco pela regra de contraste, sem ninguém escolher.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5063933"/>
            <a:ext cx="9036875" cy="2454024"/>
          </a:xfrm>
          <a:prstGeom prst="roundRect">
            <a:avLst>
              <a:gd name="adj" fmla="val 103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Card claro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Dentro do card o fundo é claro de novo, e o tipo volta às cores da marca.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Card 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Grade densa em caixa, de quatro colunas.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96403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Item curto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Rótulo, título e uma linha.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5096403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Padding 20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 de grade usa um módulo.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5096403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Vão de 40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mesmo da horizontal.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5096403"/>
            <a:ext cx="4264437" cy="243134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246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Mesma altura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maior manda nos outros.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Card grid em duas colunas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A mesma grade sobre rosa, com menos colunas e mais corpo.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90785"/>
            <a:ext cx="9036875" cy="2442583"/>
          </a:xfrm>
          <a:prstGeom prst="roundRect">
            <a:avLst>
              <a:gd name="adj" fmla="val 1039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DUAS COLUNAS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Dois módulos cada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Para item com texto de verdade, não só rótulo.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5090785"/>
            <a:ext cx="9036875" cy="2442583"/>
          </a:xfrm>
          <a:prstGeom prst="roundRect">
            <a:avLst>
              <a:gd name="adj" fmla="val 1039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PADDING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Volta para 40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Com dois cards na linha o card é grande outra vez.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Grid plain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mesma grade sem caixa. Quando o item é curto, a caixa não acrescenta informação, só peso.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19616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05844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Sem caixa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627851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alinhamento sustenta o agrupamento.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519616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605844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Mesma 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6627851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As colunas são as mesmas do card grid.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519616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605844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Vão maior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6627851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Sem borda, o espaço é que separa as linhas.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79313" y="519616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79313" y="605844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Mais leve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79313" y="6627851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Preferir quando houver seis itens ou mais.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Grid plain sobre azul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Sem caixa nenhuma, o fundo saturado passa por trás de tudo.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19616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05844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venir Next"/>
              </a:rPr>
              <a:t>Tipo branco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627851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A regra de contraste vale para os três blocos.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519616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605844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venir Next"/>
              </a:rPr>
              <a:t>Três colunas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6627851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Item mais largo aceita duas linhas de apoio.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5196162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6058445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venir Next"/>
              </a:rPr>
              <a:t>Sem borda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6627851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Nada de caixa clara para simular card.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706365"/>
            <a:ext cx="13809313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9  ·  VARIAÇÃO A  ·  BEGE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417126"/>
            <a:ext cx="13809313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Zoned 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787410"/>
            <a:ext cx="13809313" cy="2720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Coluna de argumento em cima, desdobramento na faixa de baixo. É o layout de maior densidade que o sistema aceita sem virar poluição.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Use quando o conteúdo tem uma tese e três a cinco consequências.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269888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Uma tese por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839294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Se há duas, são dois slides.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7269888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Três a cinco itens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7839294"/>
            <a:ext cx="4264437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Menos que três não pede o layout; mais que cinco não cabe.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7269888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 em Tópico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839294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em Apoio 20 ou Texto 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246460"/>
            <a:ext cx="13809313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9  ·  VARIAÇÃO B  ·  BRANCO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957221"/>
            <a:ext cx="13809313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Zoned content sobre branco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327505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mesmo arquétipo em fundo branco. A zona de cima e a faixa de baixo são posicionadas como um grupo só, e o grupo centraliza na altura útil.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1298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Grupo, não zonas soltas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9927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Ancorar a faixa na base joga tudo para o pé da página.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7129863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Faixa alinhada à grade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7699270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Cada item ocupa colunas inteiras.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72494"/>
            <a:ext cx="13809313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10  ·  VARIAÇÃO A  ·  BEGE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3015668"/>
            <a:ext cx="13809313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Stat 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385952"/>
            <a:ext cx="13809313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Variação da faixa inferior para números. A zona de cima sustenta o argumento e a faixa entrega a evidência, sem competir por atenção.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08191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73236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arquétipos no catálogo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6508191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7573236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cores na paleta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08191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573236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pontos de módulo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79313" y="6508191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79313" y="7573236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colunas na grade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72494"/>
            <a:ext cx="13809313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 10  ·  VARIAÇÃO B  ·  AZUL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3015668"/>
            <a:ext cx="13809313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Stat band sobre azul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385952"/>
            <a:ext cx="13809313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Sobre fundo saturado o número e o rótulo ficam brancos. O contraste não é uma escolha de quem monta 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08191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73236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estilos na faixa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6508191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7573236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estilo ainda pendente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08191"/>
            <a:ext cx="4264437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573236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dívidas registradas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487602"/>
            <a:ext cx="8020875" cy="2335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O painel carrega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o que o texto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afirma.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11  ·  VARIAÇÃO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Quote 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843044"/>
            <a:ext cx="9036875" cy="2720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Texto à esquerda, painel de cor à direita. O painel não é decoração: ele carrega a citação, o número ou a amostra que sustenta o argumento do lado esquerdo.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876902"/>
            <a:ext cx="8020875" cy="1557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A mesma peça,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outra cor.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11  ·  VARIAÇÃO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Quote side em rosa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843044"/>
            <a:ext cx="9036875" cy="2720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painel aceita as duas cores de tipo como fundo. Sobre rosa o texto do painel vira branco, e o lado esquerdo continua nas cores da marca.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Do e nunca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Duas colunas de mesma largura, cabeçalho em Subtítulo 34.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4182848"/>
            <a:ext cx="9036875" cy="4258457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Uma regra por linha.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Verbo no infinitivo.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par sim/nunca fala do mesmo assunto.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4182848"/>
            <a:ext cx="9036875" cy="4258457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Parágrafo dentro da coluna.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Regra que só vale às vezes.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Coluna com mais itens que a outra.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Do e nunca sobre branco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Em fundo branco o card do arquétipo vira bege, para a caixa continuar existindo.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4659585"/>
            <a:ext cx="9036875" cy="3304983"/>
          </a:xfrm>
          <a:prstGeom prst="roundRect">
            <a:avLst>
              <a:gd name="adj" fmla="val 7685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 sempre de cor diferente do fundo.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Cabeçalho colorido, itens em Apoio 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4659585"/>
            <a:ext cx="9036875" cy="3304983"/>
          </a:xfrm>
          <a:prstGeom prst="roundRect">
            <a:avLst>
              <a:gd name="adj" fmla="val 7685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 branco sobre fundo branco.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Contorno para salvar um card invisível.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9036875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Esquema em escala: o retângulo do slide e a margem são proporcionais de verdade, medidos dos mesmos tokens.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86341" y="1524000"/>
            <a:ext cx="6957409" cy="3914067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650024" y="1787683"/>
            <a:ext cx="6430043" cy="3386701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650024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25812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001601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177390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53179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528967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704756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880545" y="5174384"/>
            <a:ext cx="87894" cy="87894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86341" y="6200067"/>
            <a:ext cx="6957409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PÁGINA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86341" y="6589241"/>
            <a:ext cx="6957409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1583,13 x 890,63 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86341" y="7390119"/>
            <a:ext cx="6957409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86341" y="7779293"/>
            <a:ext cx="6957409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60 pt nos quatro lados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86341" y="8580170"/>
            <a:ext cx="6957409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MÓDULO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6341" y="8969344"/>
            <a:ext cx="6957409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20 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9036875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Diagram sobre branco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9036875" cy="800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mesmo esquema em fundo branco. O retângulo interno é sempre branco e ganha contorno para não sumir.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06875" y="1524000"/>
            <a:ext cx="9036875" cy="5083923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49369" y="1866494"/>
            <a:ext cx="8351887" cy="4398935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06875" y="7369923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CONTORNO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7759098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Azul, 1 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8559975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8949149"/>
            <a:ext cx="9036875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Rosa, 1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44783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O fecho é um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Statement, e nada mais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3001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O mesmo fecho,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sobre rosa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171194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6.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495322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Regras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814366"/>
            <a:ext cx="9036875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 que o sistema nunca emite, e para onde vai o que ficou de fora.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REGRAS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Anti-vícios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lista do que o sistema recusa. Não é preferência estética: é o que mantém dois decks parecidos.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706111"/>
            <a:ext cx="9036875" cy="5211931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da escala dos treze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dos cinco slots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Entrelinha do estilo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Avenir Next, Regular ou Bold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3706111"/>
            <a:ext cx="9036875" cy="5211931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0" rIns="508000" tIns="508000" bIns="508000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  <a:p>
            <a:pPr>
              <a:lnSpc>
                <a:spcPct val="130000"/>
              </a:lnSpc>
              <a:spcBef>
                <a:spcPts val="295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Linha decorativa ou divisória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Gradiente, sombra, brilho, contorno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ou corpo fora da tabela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Icone inventado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Checklist de auditoria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que olhar antes de mandar um deck para fora.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47003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70928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Fonte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278693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Toda run em Avenir Next.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3847003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470928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5278693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Todo corpo na escala dos treze.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3847003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4709287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5278693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Toda cor nos cinco slots.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945390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780767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377080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Bate com a do estilo.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4437" y="6945390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4437" y="780767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4437" y="8377080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Nada invade os 76pt.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06875" y="6945390"/>
            <a:ext cx="4264437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06875" y="7807674"/>
            <a:ext cx="4264437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Contraste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6875" y="8377080"/>
            <a:ext cx="4264437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Nenhum texto na cor do fundo.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Migração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13809313" cy="136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Corpos de versões anteriores que sairam da escala fechada. O botão Padronizar tipografia faz o arredondamento sozinho.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181133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55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570307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60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509152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36 E 32 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898326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34 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83717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22 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822634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24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5181133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16 E 14 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5570307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15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6509152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ROTULO 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06875" y="6898326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Título 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06875" y="783717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ACIMA DE 185 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06875" y="822634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250 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11254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835382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Outras mídias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154426"/>
            <a:ext cx="9036875" cy="68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Os tokens viajam. O que muda é a unidade.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OUTRAS MÍDIAS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 MESMA REGRA EM TRÊS UNIDADES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05174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Web, impresso, social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4897859"/>
            <a:ext cx="5855250" cy="2786171"/>
          </a:xfrm>
          <a:prstGeom prst="roundRect">
            <a:avLst>
              <a:gd name="adj" fmla="val 911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Web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Use px da tabela (base 1080). A entrelinha vira line-height sem unidade: o multiplicador é o mesmo número. Raio de 25px, módulo de 24px.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25250" y="4897859"/>
            <a:ext cx="5855250" cy="2786171"/>
          </a:xfrm>
          <a:prstGeom prst="roundRect">
            <a:avLst>
              <a:gd name="adj" fmla="val 911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Impresso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Use cm. A página é 55,8 x 31,4cm; em A4 paisagem o fator é 0,53. A escala não muda, só o tamanho fisico.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8500" y="4897859"/>
            <a:ext cx="5855250" cy="2786171"/>
          </a:xfrm>
          <a:prstGeom prst="roundRect">
            <a:avLst>
              <a:gd name="adj" fmla="val 911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Social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Recorte a área útil, nunca a página inteira. A margem de 76pt existe para o conteúdo sobreviver ao corte.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14875" y="4412974"/>
            <a:ext cx="8020875" cy="24850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Duas cores de tipo.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Escala fechada.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Entrelinha do estilo.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Espacamento em módulo.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Contraste automatico.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76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O QUE NAO MUDA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72761"/>
            <a:ext cx="9036875" cy="1661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hierarquia mora nas razões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73959"/>
            <a:ext cx="9036875" cy="4760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Se o layout não for 1920x1080, escale por proporção: nunca reescolha corpos.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diferenca entre Título 60 e Texto 24 não está em 60 e 24: está na razão entre eles. Mantida a razão, o sistema sobrevive a qualquer tamanho de tela ou papel.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11254"/>
            <a:ext cx="13809313" cy="38468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835382"/>
            <a:ext cx="13809313" cy="1107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154426"/>
            <a:ext cx="9036875" cy="68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Onde este sistema vira um clique.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faixa CBA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78283"/>
            <a:ext cx="13809313" cy="400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grupos da aba, e o que cada um resolve.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703420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INSERIR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Caixa e bloco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Já nascem no padrão.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3703420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13 estilos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Um clique aplica quatro decisões.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3703420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Por tamanho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Para texto sem estilo.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3703420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TEXTO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Peso e alinhamento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Negrito, esquerda, centro.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6566077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FONTE / FUNDO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Paleta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Só os cinco slots.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4437" y="6566077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FORMAS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Raio e crop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Rounded, tirar, recortar.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06875" y="6566077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ALINHAR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Âncoras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Encaixe em medida fixa.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079313" y="6566077"/>
            <a:ext cx="4264437" cy="2354657"/>
          </a:xfrm>
          <a:prstGeom prst="roundRect">
            <a:avLst>
              <a:gd name="adj" fmla="val 107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AUDITORIA</a:t>
            </a:r>
          </a:p>
          <a:p>
            <a:pPr algn="l">
              <a:lnSpc>
                <a:spcPct val="100000"/>
              </a:lnSpc>
              <a:spcBef>
                <a:spcPts val="161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Padronizar</a:t>
            </a:r>
          </a:p>
          <a:p>
            <a:pPr algn="l">
              <a:lnSpc>
                <a:spcPct val="130000"/>
              </a:lnSpc>
              <a:spcBef>
                <a:spcPts val="1091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Encaixa o que fugiu.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858175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Mudar os padroes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32283"/>
            <a:ext cx="13809313" cy="204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página de Brand Standards gera uma linha de configuração que a faixa aplica sem recompilar nada. É como o sistema evolui sem virar código novo.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85202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PÁGINA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74376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Padroes &gt; Abrir página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1322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90239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Padroes &gt; Aplicar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85202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FORMATO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74376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chave=valor separado por 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513221"/>
            <a:ext cx="9036875" cy="184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ESTILO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902395"/>
            <a:ext cx="9036875" cy="430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s_&lt;id&gt; = corpo|bold|papel|entrelinha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3809313" cy="44783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Treze estilos,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cinco cores,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um módulo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