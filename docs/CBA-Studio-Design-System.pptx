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20105751" cy="11311001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1473200"/>
            <a:ext cx="1563080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CBA B+G  ·  DESIGN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2463800"/>
            <a:ext cx="15630801" cy="396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Um sistema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cabe em treze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estilos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7442200"/>
            <a:ext cx="11268717" cy="1285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Documentação da tipografia, cor e grid do CBA Studio.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 QUE É ISTO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ferramenta é a definição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641600"/>
            <a:ext cx="13086252" cy="3213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Este documento não inventa um padrão: ele descreve o que a faixa CBA Studio já aplica com um clique. A fonte da verdade é o código do add-in; aqui e nos slides seguintes ele está escrito em português.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661670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FONTE DA VERDADE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5200" y="684530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SetDefaults, no .bas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737870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ESPELHO EM CÓDIGO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760730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tools/design-system/tokens.py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61670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 EM 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84530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37870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GATE ANTI-DERIVA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760730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check-tokens.py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9920351"/>
            <a:ext cx="11995731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Se o código e a documentação divergirem, o build quebra até alguém acertar os dois. É o que impede este deck de virar mentira.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ABERTURA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caminho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981200"/>
            <a:ext cx="1272274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Sete blocos, do que é invariável para o que é aplicado.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30734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200" y="33274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200" y="35814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40640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Página, margem, módulo, raio.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2537" y="30734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26537" y="33274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6537" y="35814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6537" y="40640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Cinco slots, dois papéis de tipo.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79875" y="30734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33875" y="33274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875" y="35814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3875" y="40640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Os treze estilos, um a um.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87213" y="30734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41213" y="33274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41213" y="35814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41213" y="40640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Caixas, cards, imagens.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5200" y="67477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9200" y="70017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72557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77383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Layouts que o sistema aceita.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2537" y="67477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26537" y="70017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6537" y="72557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6537" y="77383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Anti-vícios e migração.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79875" y="67477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33875" y="70017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33875" y="72557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33875" y="77383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Web, impresso, social.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787213" y="67477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041213" y="70017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41213" y="72557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41213" y="77383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A faixa e o Brand Standards.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ABERTURA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1219200"/>
            <a:ext cx="14540280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4902200"/>
            <a:ext cx="1454028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Fundamentos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6426200"/>
            <a:ext cx="9087675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A página, a margem, o módulo de espaçamento e o raio. Todo o resto deriva daqui.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6179619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página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2235200"/>
            <a:ext cx="6179619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16:9 customizado, não o 16:9 padrão do PowerPoint. Deck em outro formato entra distorcido -- o botão Page Size da faixa converte.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A altura é a ponte entre mídias: 1080px equivale a 890,63pt, logo 1pt = 1,2126px.</a:t>
            </a:r>
          </a:p>
        </p:txBody>
      </p:sp>
      <p:sp>
        <p:nvSpPr>
          <p:cNvPr id="4" name="Rectangle 3"/>
          <p:cNvSpPr/>
          <p:nvPr/>
        </p:nvSpPr>
        <p:spPr>
          <a:xfrm>
            <a:off x="8962354" y="1727200"/>
            <a:ext cx="10178196" cy="5726003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2354" y="7961203"/>
            <a:ext cx="10178196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LARGURA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2354" y="8164403"/>
            <a:ext cx="10178196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1583,13 pt  ·  1920 px  ·  55,8 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2354" y="8666053"/>
            <a:ext cx="10178196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ALTURA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2354" y="8869253"/>
            <a:ext cx="10178196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890,63 pt  ·  1080 px  ·  31,4 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2354" y="9370903"/>
            <a:ext cx="10178196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PROPORÇÃO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2354" y="9574103"/>
            <a:ext cx="10178196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16:9 customizado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6179619" cy="144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Margem e área útil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2921000"/>
            <a:ext cx="6179619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A margem de segurança delimita onde o conteúdo não entra. Ela existe para o slide sobreviver a recorte, projeção e reaproveitamento em outra mídia.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8962354" y="1727200"/>
            <a:ext cx="10178196" cy="5726003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50970" y="2215816"/>
            <a:ext cx="9200964" cy="4915928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2354" y="7961203"/>
            <a:ext cx="10178196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2354" y="8164403"/>
            <a:ext cx="10178196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76 pt  ·  92 px  ·  2,68 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2354" y="8666053"/>
            <a:ext cx="10178196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ÁREA ÚTIL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2354" y="8869253"/>
            <a:ext cx="10178196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1431 x 765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2354" y="9370903"/>
            <a:ext cx="10178196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2354" y="9574103"/>
            <a:ext cx="10178196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50 pt (rodapé)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6179619" cy="144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módulo de espaçamento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2921000"/>
            <a:ext cx="6179619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Toda distância entre colunas, cards e blocos é múltiplo de 20pt. Distância que não é múltiplo de 20 é acidente, não decisão.</a:t>
            </a:r>
          </a:p>
        </p:txBody>
      </p:sp>
      <p:sp>
        <p:nvSpPr>
          <p:cNvPr id="4" name="Rectangle 3"/>
          <p:cNvSpPr/>
          <p:nvPr/>
        </p:nvSpPr>
        <p:spPr>
          <a:xfrm>
            <a:off x="8962354" y="1727200"/>
            <a:ext cx="10178196" cy="5726003"/>
          </a:xfrm>
          <a:prstGeom prst="rect">
            <a:avLst/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50970" y="2215816"/>
            <a:ext cx="9200964" cy="4915928"/>
          </a:xfrm>
          <a:prstGeom prst="rect">
            <a:avLst/>
          </a:prstGeom>
          <a:noFill/>
          <a:ln w="12700">
            <a:solidFill>
              <a:srgbClr val="FD5E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50970" y="7067453"/>
            <a:ext cx="128583" cy="128583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08137" y="7067453"/>
            <a:ext cx="128583" cy="128583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65303" y="7067453"/>
            <a:ext cx="128583" cy="128583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22469" y="7067453"/>
            <a:ext cx="128583" cy="128583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79636" y="7067453"/>
            <a:ext cx="128583" cy="128583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736802" y="7067453"/>
            <a:ext cx="128583" cy="128583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93969" y="7067453"/>
            <a:ext cx="128583" cy="128583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51135" y="7067453"/>
            <a:ext cx="128583" cy="128583"/>
          </a:xfrm>
          <a:prstGeom prst="rect">
            <a:avLst/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2354" y="7961203"/>
            <a:ext cx="10178196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MÓDULO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2354" y="8164403"/>
            <a:ext cx="10178196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20 pt  ·  24 px  ·  0,71 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2354" y="8666053"/>
            <a:ext cx="10178196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MÚLTIPLOS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2354" y="8869253"/>
            <a:ext cx="10178196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20 · 40 · 60 · 80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2354" y="9370903"/>
            <a:ext cx="10178196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RELAÇÃO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2354" y="9574103"/>
            <a:ext cx="10178196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o raio é ~1 módulo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Âncora de encaixe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2235200"/>
            <a:ext cx="13086252" cy="19278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A âncora não é a margem. A margem delimita a página; a âncora é o passo de alinhamento entre objetos. São papéis diferentes e convivem.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49250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PADRÃO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51536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1,27 cm  ·  36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5200" y="56870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EM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59156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44 px @1080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49250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PASSOS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1536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0,5 · 1 · 1,27 · 1,5 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56870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PASSOS (cont.)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59156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 · 2,5 · 3 · 4 · 5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9920351"/>
            <a:ext cx="11995731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Na faixa: grupo Alinhar, botões Âncora esq. e Âncora topo, com a medida escolhida no dropdown ao lado.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Raio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2235200"/>
            <a:ext cx="13086252" cy="3213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raio é um valor visual constante, não uma proporção: um card grande e um botão pequeno tem o mesmo arredondamento. É o que faz formas de tamanhos diferentes parecerem da mesma família.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621030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RAIO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643890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20,62 pt  ·  25 px  ·  0,73 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5200" y="697230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EM OOXML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720090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raio / (menor lado / 2) x 50000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621030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643890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50000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97230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720090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adj =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9920351"/>
            <a:ext cx="11995731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Na faixa: Formas &gt; Rounded aplica; Tirar rounded desfaz; o dropdown Raio escolhe outra medida sem sair do sistema.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9087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COMO OS TRÊS SE COMBINAM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447800"/>
            <a:ext cx="9087675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Margem, módulo e raio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717800"/>
            <a:ext cx="9087675" cy="642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A margem diz onde começa. O módulo diz de quanto em quanto se anda. O raio diz como a forma termina.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Com os três fixos, dois slides feitos por pessoas diferentes saem parecidos sem combinação prévia -- que é o único teste que importa num design system.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14875" y="965200"/>
            <a:ext cx="8325675" cy="9202801"/>
          </a:xfrm>
          <a:prstGeom prst="roundRect">
            <a:avLst>
              <a:gd name="adj" fmla="val 3145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2875" y="4530280"/>
            <a:ext cx="7309675" cy="2072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76 pt de margem.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20 pt de módulo.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20,62 pt de raio.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/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Nada entre eles.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FUNDAMENTOS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1219200"/>
            <a:ext cx="14540280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4902200"/>
            <a:ext cx="1454028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6426200"/>
            <a:ext cx="9087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Cinco slots. Dois carregam tipo. Um resolve contraste sozinho.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981200"/>
            <a:ext cx="1272274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índices importam: a configuração de marca referência por número, não por nome.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3073400"/>
            <a:ext cx="3431870" cy="7094601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200" y="3327400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200" y="3581400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4064000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#FD5E6D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51070" y="3073400"/>
            <a:ext cx="3431870" cy="7094601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05070" y="3327400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05070" y="3581400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5070" y="4064000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#436AE1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36940" y="3073400"/>
            <a:ext cx="3431870" cy="7094601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0940" y="3327400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0940" y="3581400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Bege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0940" y="4064000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#EEECE6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22810" y="3073400"/>
            <a:ext cx="3431870" cy="7094601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276810" y="3327400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76810" y="3581400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76810" y="4064000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#FFFFFF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708680" y="3073400"/>
            <a:ext cx="3431870" cy="7094601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962680" y="3327400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62680" y="3581400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Preto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62680" y="4064000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#000000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Rosa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2895600"/>
            <a:ext cx="7874000" cy="7272401"/>
          </a:xfrm>
          <a:prstGeom prst="roundRect">
            <a:avLst>
              <a:gd name="adj" fmla="val 3600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28956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31242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#FD5E6D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9878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42164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253, 94, 109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50800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3086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26200"/>
            <a:ext cx="9539351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Cor de tipo 1. Statements, títulos, chapéus, números-destaque.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Azul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2895600"/>
            <a:ext cx="7874000" cy="7272401"/>
          </a:xfrm>
          <a:prstGeom prst="roundRect">
            <a:avLst>
              <a:gd name="adj" fmla="val 3600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28956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31242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#436AE1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9878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42164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67, 106, 225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50800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3086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26200"/>
            <a:ext cx="9539351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Cor de tipo 2. Corpo de texto, tópicos, legendas, manchetes.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Bege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2895600"/>
            <a:ext cx="7874000" cy="7272401"/>
          </a:xfrm>
          <a:prstGeom prst="roundRect">
            <a:avLst>
              <a:gd name="adj" fmla="val 36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28956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31242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#EEECE6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9878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42164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238, 236, 230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50800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3086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26200"/>
            <a:ext cx="9539351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Fundo de conteúdo padrão. Nunca é cor de tipo.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Branco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2895600"/>
            <a:ext cx="7874000" cy="7272401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436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28956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31242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#FFFFFF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9878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42164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255, 255, 255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50800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3086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26200"/>
            <a:ext cx="9539351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Fundo claro e texto sobre fundo saturado (regra de contraste).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Preto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2895600"/>
            <a:ext cx="7874000" cy="7272401"/>
          </a:xfrm>
          <a:prstGeom prst="roundRect">
            <a:avLst>
              <a:gd name="adj" fmla="val 36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28956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HEX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31242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#000000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9878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42164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0, 0, 0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5080000"/>
            <a:ext cx="9539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5308600"/>
            <a:ext cx="9539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26200"/>
            <a:ext cx="9539351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Reserva. Não usar em tipo da marca.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PAPÉIS DE COR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tipo só tem duas cores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2895600"/>
            <a:ext cx="5889117" cy="7272401"/>
          </a:xfrm>
          <a:prstGeom prst="roundRect">
            <a:avLst>
              <a:gd name="adj" fmla="val 4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73200" y="3403600"/>
            <a:ext cx="4873117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4368800"/>
            <a:ext cx="4873117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Statements, títulos, chapéus e números-destaque. É a cor que marca hierarquia alta.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08317" y="2895600"/>
            <a:ext cx="5889117" cy="7272401"/>
          </a:xfrm>
          <a:prstGeom prst="roundRect">
            <a:avLst>
              <a:gd name="adj" fmla="val 4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16317" y="3403600"/>
            <a:ext cx="4873117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317" y="4368800"/>
            <a:ext cx="487311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de texto, tópicos, legendas e manchetes. É a cor que se le em volume.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1434" y="2895600"/>
            <a:ext cx="5889117" cy="7272401"/>
          </a:xfrm>
          <a:prstGeom prst="roundRect">
            <a:avLst>
              <a:gd name="adj" fmla="val 4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59434" y="3403600"/>
            <a:ext cx="4873117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59434" y="4368800"/>
            <a:ext cx="487311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Não é escolha: aparece quando a regra de contraste age sobre fundo saturado.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9087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REGRA DE CONTRASTE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447800"/>
            <a:ext cx="9087675" cy="144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nunca some no fundo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3403600"/>
            <a:ext cx="9087675" cy="642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Se a cor do texto for exatamente a cor do fundo, o texto vira branco.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fundo relevante é, nesta ordem: o preenchimento da própria forma; senão o do grupo que a contém; senão o do slide -- e isso inclui uma forma sólida cobrindo a página, que é como a maioria dos decks reais é montada.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14875" y="965200"/>
            <a:ext cx="8325675" cy="9202801"/>
          </a:xfrm>
          <a:prstGeom prst="roundRect">
            <a:avLst>
              <a:gd name="adj" fmla="val 3145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2875" y="4499800"/>
            <a:ext cx="7309675" cy="213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Título 60 é rosa.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Sobre fundo rosa,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Avenir Next"/>
              </a:rPr>
              <a:t>ele nasce branco.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Fundos permitidos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2895600"/>
            <a:ext cx="4353337" cy="7272401"/>
          </a:xfrm>
          <a:prstGeom prst="roundRect">
            <a:avLst>
              <a:gd name="adj" fmla="val 6015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73200" y="3403600"/>
            <a:ext cx="3337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Bege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4013200"/>
            <a:ext cx="33373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fundo de conteúdo padrão. Tipo em rosa e azul.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2537" y="2895600"/>
            <a:ext cx="4353337" cy="7272401"/>
          </a:xfrm>
          <a:prstGeom prst="roundRect">
            <a:avLst>
              <a:gd name="adj" fmla="val 6015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537" y="3403600"/>
            <a:ext cx="3337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537" y="4013200"/>
            <a:ext cx="33373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Cards e areas de respiro. Tipo em rosa e azul.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79875" y="2895600"/>
            <a:ext cx="4353337" cy="7272401"/>
          </a:xfrm>
          <a:prstGeom prst="roundRect">
            <a:avLst>
              <a:gd name="adj" fmla="val 6015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87875" y="3403600"/>
            <a:ext cx="3337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87875" y="4013200"/>
            <a:ext cx="33373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Aberturas e destaques. Tipo em branco.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787213" y="2895600"/>
            <a:ext cx="4353337" cy="7272401"/>
          </a:xfrm>
          <a:prstGeom prst="roundRect">
            <a:avLst>
              <a:gd name="adj" fmla="val 6015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95213" y="3403600"/>
            <a:ext cx="3337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95213" y="4013200"/>
            <a:ext cx="333733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Aberturas e destaques. Tipo em branco.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Cor: o que vale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981200"/>
            <a:ext cx="13086252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paleta é fechada. Não existe 'um azul um pouco mais claro'.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3073400"/>
            <a:ext cx="8960675" cy="7094601"/>
          </a:xfrm>
          <a:prstGeom prst="roundRect">
            <a:avLst>
              <a:gd name="adj" fmla="val 3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73200" y="3581400"/>
            <a:ext cx="7944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39878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Usar os cinco slots como estao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3200" y="45720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Deixar a regra de contraste decidir o branco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51562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Bege como fundo padrão de conteúdo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3200" y="57404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Rosa e azul como os dois papéis de tipo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79875" y="3073400"/>
            <a:ext cx="8960675" cy="7094601"/>
          </a:xfrm>
          <a:prstGeom prst="roundRect">
            <a:avLst>
              <a:gd name="adj" fmla="val 3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87875" y="3581400"/>
            <a:ext cx="7944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D5E6D"/>
                </a:solidFill>
                <a:latin typeface="Avenir Next"/>
              </a:rPr>
              <a:t>NUNCA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87875" y="39878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Criar tom intermediário 'para variar'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7875" y="45720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preto em conteúdo de marca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87875" y="51562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de fundo fora dos quatro permitidos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87875" y="57404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Transparência para 'suavizar' uma cor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1219200"/>
            <a:ext cx="14540280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4902200"/>
            <a:ext cx="1454028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Tipografia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6426200"/>
            <a:ext cx="9087675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Uma família, treze estilos. Cada um já traz peso, cor e entrelinha -- escolher o estilo decide as quatro coisas.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TIPOGRAFIA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escala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981200"/>
            <a:ext cx="1272274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Treze corpos, nada entre eles. Se não está aqui, não é do sistema.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3073400"/>
            <a:ext cx="3431870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200" y="3327400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200" y="3581400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Big Number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4064000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Bold · rosa · 1.00x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51070" y="3073400"/>
            <a:ext cx="3431870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05070" y="3327400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05070" y="3581400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5070" y="4064000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Bold · rosa · 0.80x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36940" y="3073400"/>
            <a:ext cx="3431870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0940" y="3327400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0940" y="3581400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Manchete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0940" y="4064000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Bold · azul · 0.90x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22810" y="3073400"/>
            <a:ext cx="3431870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276810" y="3327400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76810" y="3581400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76810" y="4064000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Bold · rosa · 0.90x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708680" y="3073400"/>
            <a:ext cx="3431870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962680" y="3327400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62680" y="3581400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Destaque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62680" y="4064000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Regular · azul · 1.15x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5200" y="5522933"/>
            <a:ext cx="3431870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9200" y="5776933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9200" y="6030933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Subtítulo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9200" y="6513533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Bold · rosa · 0.95x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51070" y="5522933"/>
            <a:ext cx="3431870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5070" y="5776933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05070" y="6030933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Tópico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05070" y="6513533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Bold · azul · 1.00x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36940" y="5522933"/>
            <a:ext cx="3431870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0940" y="5776933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0940" y="6030933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0940" y="6513533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Regular · azul · 1.00x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2810" y="5522933"/>
            <a:ext cx="3431870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276810" y="5776933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76810" y="6030933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Apoio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76810" y="6513533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708680" y="5522933"/>
            <a:ext cx="3431870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962680" y="5776933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962680" y="6030933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Chapéu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962680" y="6513533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Bold · rosa · 1.00x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5200" y="7972467"/>
            <a:ext cx="3431870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9200" y="8226467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9200" y="8480467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9200" y="8963067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Regular · azul · 1.30x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51070" y="7972467"/>
            <a:ext cx="3431870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05070" y="8226467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5070" y="8480467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Legenda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5070" y="8963067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Bold · azul · 1.30x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36940" y="7972467"/>
            <a:ext cx="3431870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0940" y="8226467"/>
            <a:ext cx="29238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90940" y="8480467"/>
            <a:ext cx="29238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CAPS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0940" y="8963067"/>
            <a:ext cx="292387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Bold · azul · 1.00x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Big Number 250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27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27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534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534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041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041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548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548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303px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9920351"/>
            <a:ext cx="145402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O número que carrega a página inteira. Um por slide, sem concorrência.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4020375"/>
            <a:ext cx="18175351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Statement 120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27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27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534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534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041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041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0.80x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548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548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146px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9920351"/>
            <a:ext cx="145402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A frase-manifesto. Ponto final em azul; sobre fundo azul, o texto vira branco e o ponto rosa.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4236275"/>
            <a:ext cx="18175351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A marca não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é o que você diz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Manchete 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27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27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534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534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041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041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548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548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97px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9920351"/>
            <a:ext cx="145402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Título de abertura de capítulo.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4642675"/>
            <a:ext cx="18175351" cy="19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O começo de</a:t>
            </a:r>
          </a:p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um capítulo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27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27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534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534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041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041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548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548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73px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9920351"/>
            <a:ext cx="145402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Título de página.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5226875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Título de página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Destaque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27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27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534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534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041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041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1.15x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548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548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53px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9920351"/>
            <a:ext cx="145402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Corpo de destaque e manifesto. O maior corpo que ainda é texto, não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4965255"/>
            <a:ext cx="18175351" cy="1285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corpo de destaque carrega a ideia principal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sem virar título.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Subtítulo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27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27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534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534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041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041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548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548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41px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9920351"/>
            <a:ext cx="145402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Subtítulo e descritivo abaixo do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5391975"/>
            <a:ext cx="18175351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Subtítulo que explica o título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Tópico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27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27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534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534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041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041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548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548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9920351"/>
            <a:ext cx="145402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Título de tópico ou de card.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5430075"/>
            <a:ext cx="1817535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 de tópico ou de card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27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27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534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534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041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041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548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548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29px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9920351"/>
            <a:ext cx="145402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Texto corrido. O padrão de toda caixa nova.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5303075"/>
            <a:ext cx="18175351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436AE1"/>
                </a:solidFill>
                <a:latin typeface="Avenir Next"/>
              </a:rPr>
              <a:t>Texto corrido. É o estilo que toda caixa nova recebe ao nascer,</a:t>
            </a:r>
          </a:p>
          <a:p>
            <a:pPr algn="l">
              <a:lnSpc>
                <a:spcPct val="100000"/>
              </a:lnSpc>
            </a:pPr>
            <a:r>
              <a:rPr sz="2400" b="0">
                <a:solidFill>
                  <a:srgbClr val="436AE1"/>
                </a:solidFill>
                <a:latin typeface="Avenir Next"/>
              </a:rPr>
              <a:t>porque é o que mais aparece num deck de verdade.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Apoio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27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27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534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534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041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041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548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548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24px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9920351"/>
            <a:ext cx="145402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Texto de apoio em pilares e colunas.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5277675"/>
            <a:ext cx="18175351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de apoio em pilares e colunas. Respira mais que o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texto corrido porque costuma vir em bloco estreito.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Chapéu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27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27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534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534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041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041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548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548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22px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9920351"/>
            <a:ext cx="145402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Chapéu acima do título.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5493575"/>
            <a:ext cx="1817535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CHAPÉU ACIMA DO TÍTULO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Texto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27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27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534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534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041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041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548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548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18px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9920351"/>
            <a:ext cx="145402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Texto corrido pequeno, em slides densos.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5360225"/>
            <a:ext cx="18175351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Texto corrido pequeno, para slides densos onde 24pt não caberia.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A entrelinha de 1,3x mantém a leitura confortável mesmo apertado.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Legenda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27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27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534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534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041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041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548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548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9920351"/>
            <a:ext cx="145402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Legendas, notas e fontes.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5409755"/>
            <a:ext cx="18175351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Legenda de imagem, nota de rodapé ou fonte de dado.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Fonte: CBA B+G, 2026.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ESCALA TIPOGRÁFICA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CAPS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27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PESO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027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3534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534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Azul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041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041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05480" y="9082151"/>
            <a:ext cx="350807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PX @1080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5480" y="9361551"/>
            <a:ext cx="350807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15px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9920351"/>
            <a:ext cx="1454028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Rótulo em caixa alta. Mesmo corpo da Legenda 12, entrelinha diferente.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5531675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Rótulo em caixa alta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8579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ENTRELINHA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447800"/>
            <a:ext cx="8579675" cy="144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Quanto maior o corpo,</a:t>
            </a:r>
          </a:p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mais apertada a linha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3403600"/>
            <a:ext cx="8579675" cy="198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Não é arbitrario. Em 250 e 120pt o espaço entre linhas já é enorme em valor absoluto: o multiplicador comprime para o bloco ler como uma massa só.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Em 12 e 15pt acontece o inverso -- a linha precisa de ar para o olho achar a proxima.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0875" y="1346200"/>
            <a:ext cx="8579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Sempre exata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0875" y="1803400"/>
            <a:ext cx="8579675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Multiplo do corpo, nunca 'simples' ou 'duplo', que variam com a fonte e quebram entre máquinas.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0875" y="2806700"/>
            <a:ext cx="8579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Pertence ao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0875" y="3263900"/>
            <a:ext cx="8579675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Legenda 12 e CAPS 12 dividem o corpo e divergem na entrelinha. Uma tabela por tamanho não descreveria os dois.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0875" y="4267200"/>
            <a:ext cx="8579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Há uma tabela por tamanho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0875" y="4724400"/>
            <a:ext cx="8579675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Ela alimenta os botões de Entrelinha e age em texto sem estilo. Onde discordam, o estilo manda.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Entrelinha por estilo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2235200"/>
            <a:ext cx="13086252" cy="1285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valor efetivo em pontos é o corpo vezes o multiplicador.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428244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250PT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451104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250.0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5200" y="504444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120PT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527304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0.80x   =   96.0 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580644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80PT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200" y="603504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   =   72.0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200" y="656844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60PT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679704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0.90x   =   54.0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733044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44PT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755904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1.15x   =   50.6 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809244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34PT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832104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0.95x   =   32.3 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885444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28PT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908304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28.0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06875" y="428244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24PT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06875" y="451104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24.0 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06875" y="504444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20PT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6875" y="527304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26.0 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06875" y="580644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18PT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6875" y="603504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18.0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6875" y="656844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15PT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875" y="679704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19.5 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6875" y="733044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06875" y="755904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1.30x   =   15.6 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06875" y="809244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6875" y="832104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1.00x   =   12.0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9087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COMPORTAMENTO PROPRIO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447800"/>
            <a:ext cx="9087675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ponto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717800"/>
            <a:ext cx="9087675" cy="771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Statement 120 pinta o ponto final de azul. Só o ponto, e só se a frase terminar em ponto.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Sobre fundo azul, o texto vira branco e o ponto vira rosa -- as duas regras agindo juntas sem se anular.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É o único estilo com comportamento próprio. Os outros doze são declarativos.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14875" y="965200"/>
            <a:ext cx="8325675" cy="9202801"/>
          </a:xfrm>
          <a:prstGeom prst="roundRect">
            <a:avLst>
              <a:gd name="adj" fmla="val 3145"/>
            </a:avLst>
          </a:prstGeom>
          <a:solidFill>
            <a:srgbClr val="436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2875" y="3585400"/>
            <a:ext cx="7309675" cy="396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Branco.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Ponto rosa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9087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COMPORTAMENTO PROPRIO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447800"/>
            <a:ext cx="9087675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Caixa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717800"/>
            <a:ext cx="9087675" cy="578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CAPS 12 aplica caixa alta e 3pt de espaçamento entre letras. Caixa alta sem espaçamento fecha demais em Avenir Next Bold.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É reversível: aplicar outro estilo por cima desfaz a caixa alta e zera o espaçamento. Nenhum estilo deixa resíduo.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14875" y="965200"/>
            <a:ext cx="8325675" cy="9202801"/>
          </a:xfrm>
          <a:prstGeom prst="roundRect">
            <a:avLst>
              <a:gd name="adj" fmla="val 314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2875" y="5338000"/>
            <a:ext cx="73096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Rótulo em caixa alta</a:t>
            </a:r>
          </a:p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 três pontos</a:t>
            </a:r>
          </a:p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de espaçamento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1219200"/>
            <a:ext cx="14540280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4902200"/>
            <a:ext cx="1454028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6426200"/>
            <a:ext cx="9087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Poucas pecas, todas derivadas do raio e do módulo.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AS DUAS PECAS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Caixa e bloco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2895600"/>
            <a:ext cx="5889117" cy="7272401"/>
          </a:xfrm>
          <a:prstGeom prst="roundRect">
            <a:avLst>
              <a:gd name="adj" fmla="val 4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73200" y="3403600"/>
            <a:ext cx="4873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Caixa de 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4013200"/>
            <a:ext cx="4873117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Nasce em Texto 24, âncorada na medida escolhida. Sem preenchimento e sem contorno.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08317" y="2895600"/>
            <a:ext cx="5889117" cy="7272401"/>
          </a:xfrm>
          <a:prstGeom prst="roundRect">
            <a:avLst>
              <a:gd name="adj" fmla="val 4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16317" y="3403600"/>
            <a:ext cx="4873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Rounded box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317" y="4013200"/>
            <a:ext cx="487311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de cor com o raio do sistema. Tambem nasce em Texto 24.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1434" y="2895600"/>
            <a:ext cx="5889117" cy="7272401"/>
          </a:xfrm>
          <a:prstGeom prst="roundRect">
            <a:avLst>
              <a:gd name="adj" fmla="val 4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59434" y="3403600"/>
            <a:ext cx="4873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59434" y="4013200"/>
            <a:ext cx="4873117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totalmente arredondado. Para rotulos e banners curtos, nunca para texto longo.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981200"/>
            <a:ext cx="12722745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 é rounded box com padding de um módulo. A grade sai da divisão da área útil com gaps múltiplos de 20pt.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3403600"/>
            <a:ext cx="4353337" cy="6764401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200" y="36576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 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200" y="39116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706 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43942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2537" y="3403600"/>
            <a:ext cx="4353337" cy="6764401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26537" y="36576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 CARDS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6537" y="39116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464 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6537" y="43942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79875" y="3403600"/>
            <a:ext cx="4353337" cy="6764401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33875" y="36576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4 CARDS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875" y="39116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343 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3875" y="43942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87213" y="3403600"/>
            <a:ext cx="4353337" cy="6764401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41213" y="36576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PADDING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41213" y="39116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40 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41213" y="43942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dois módulos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Imagens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2235200"/>
            <a:ext cx="13086252" cy="2570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Imagem entra com o mesmo raio das formas. Recorte é pelo botão Crop da faixa, que usa o comando nativo do PowerPoint -- nada de esticar para caber.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556768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RAIO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579628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20,62 pt, igual as formas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5200" y="632968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RECORTE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655828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Formas &gt; Crop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556768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PROPORÇÃO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79628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nunca distorcer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968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LEGENDA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655828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Legenda 12, abaixo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Componentes: o que vale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981200"/>
            <a:ext cx="13086252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Quando bater a vontade de separar com um traco, a resposta é hierarquia.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3073400"/>
            <a:ext cx="8960675" cy="7094601"/>
          </a:xfrm>
          <a:prstGeom prst="roundRect">
            <a:avLst>
              <a:gd name="adj" fmla="val 3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73200" y="3581400"/>
            <a:ext cx="7944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39878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Espaço em branco em múltiplo de 20pt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3200" y="45720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Mudanca de corpo para separar assunto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51562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Bloco de cor para agrupar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3200" y="57404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mesmo raio em tudo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79875" y="3073400"/>
            <a:ext cx="8960675" cy="7094601"/>
          </a:xfrm>
          <a:prstGeom prst="roundRect">
            <a:avLst>
              <a:gd name="adj" fmla="val 3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87875" y="3581400"/>
            <a:ext cx="7944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D5E6D"/>
                </a:solidFill>
                <a:latin typeface="Avenir Next"/>
              </a:rPr>
              <a:t>NUNCA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87875" y="39878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Linha fina decorativa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7875" y="45720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Barra vertical de destaque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87875" y="51562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Sombra, gradiente ou brilho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87875" y="57404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Raio diferente 'porque a forma é menor'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COMPONENTES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1219200"/>
            <a:ext cx="14540280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4902200"/>
            <a:ext cx="1454028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6426200"/>
            <a:ext cx="9087675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Os layouts que o sistema aceita. Fora deles, é composição nova -- e composição nova pede revisão.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ARQUÉTIPOS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O catálogo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981200"/>
            <a:ext cx="1272274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Herdados da modelagem do design system 3.0, com os tokens desta ferramenta.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3073400"/>
            <a:ext cx="4353337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200" y="33274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200" y="35814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Hero 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40640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Statement que abre.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2537" y="3073400"/>
            <a:ext cx="4353337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26537" y="33274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6537" y="35814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Chapter divider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6537" y="40640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Número + título.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79875" y="3073400"/>
            <a:ext cx="4353337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33875" y="33274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875" y="35814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Spec page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3875" y="40640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Título + pares.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87213" y="3073400"/>
            <a:ext cx="4353337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41213" y="33274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41213" y="35814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Type specimen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41213" y="40640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Amostra + ficha.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5200" y="5522933"/>
            <a:ext cx="4353337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9200" y="5776933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6030933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Swatch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6513533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Cor + specs.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2537" y="5522933"/>
            <a:ext cx="4353337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26537" y="5776933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6537" y="6030933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Multi card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6537" y="6513533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2 a 4 cards.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79875" y="5522933"/>
            <a:ext cx="4353337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33875" y="5776933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33875" y="6030933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Card grid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33875" y="6513533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Grade densa.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787213" y="5522933"/>
            <a:ext cx="4353337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041213" y="5776933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41213" y="6030933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Pillar dense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41213" y="6513533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Texto + lista.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5200" y="7972467"/>
            <a:ext cx="4353337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9200" y="8226467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19200" y="8480467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Quote side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9200" y="8963067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Texto + painel.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72537" y="7972467"/>
            <a:ext cx="4353337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26537" y="8226467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26537" y="8480467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Do / dont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26537" y="8963067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Duas colunas.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79875" y="7972467"/>
            <a:ext cx="4353337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33875" y="8226467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33875" y="8480467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Diagram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33875" y="8963067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Esquema em escala.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787213" y="7972467"/>
            <a:ext cx="4353337" cy="2195533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041213" y="8226467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041213" y="8480467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Closing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041213" y="8963067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Fecho.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1473200"/>
            <a:ext cx="1563080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venir Next"/>
              </a:rPr>
              <a:t>ARQUÉTIPO 01  ·  HERO COVER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2463800"/>
            <a:ext cx="15630801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Uma frase que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FFFFF"/>
                </a:solidFill>
                <a:latin typeface="Avenir Next"/>
              </a:rPr>
              <a:t>marca a página</a:t>
            </a:r>
            <a:r>
              <a:rPr sz="12000" b="1">
                <a:solidFill>
                  <a:srgbClr val="FD5E6D"/>
                </a:solidFill>
                <a:latin typeface="Avenir Next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6223000"/>
            <a:ext cx="11268717" cy="1285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Statement 120 sobre fundo saturado: o texto vira branco e o ponto, rosa.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1219200"/>
            <a:ext cx="14540280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4902200"/>
            <a:ext cx="14540280" cy="19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Chapter divider</a:t>
            </a:r>
          </a:p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sobre bege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7340600"/>
            <a:ext cx="9087675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mesmo arquétipo do bloco 01, com fundo claro: Big Number e Manchete mantém a cor de tipo.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8579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447800"/>
            <a:ext cx="8579675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Pillar dense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717800"/>
            <a:ext cx="8579675" cy="132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Coluna de argumento à esquerda, desdobramento à direita. É o layout de maior densidade que o sistema aceita sem virar poluição.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Use quando o conteúdo tem uma tese e três a cinco consequências.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0875" y="1346200"/>
            <a:ext cx="8579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Uma tese por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0875" y="1803400"/>
            <a:ext cx="8579675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Se há duas, são dois slides.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0875" y="2559050"/>
            <a:ext cx="8579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Três a cinco itens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0875" y="3016250"/>
            <a:ext cx="8579675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Menos que três não pede o layout; mais que cinco não cabe.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0875" y="3771900"/>
            <a:ext cx="8579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Título em Tópico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0875" y="4229100"/>
            <a:ext cx="8579675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Corpo em Texto 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9087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ARQUÉTIPO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447800"/>
            <a:ext cx="9087675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Quote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717800"/>
            <a:ext cx="9087675" cy="3213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Texto à esquerda, painel de cor à direita. O painel não é decoracao: ele carrega a citação, o número ou a amostra que sustenta o argumento do lado esquerdo.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14875" y="965200"/>
            <a:ext cx="8325675" cy="9202801"/>
          </a:xfrm>
          <a:prstGeom prst="roundRect">
            <a:avLst>
              <a:gd name="adj" fmla="val 3145"/>
            </a:avLst>
          </a:prstGeom>
          <a:solidFill>
            <a:srgbClr val="FD5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2875" y="4602670"/>
            <a:ext cx="7309675" cy="19278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painel carrega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que o texto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afirma.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Multi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2895600"/>
            <a:ext cx="5889117" cy="7272401"/>
          </a:xfrm>
          <a:prstGeom prst="roundRect">
            <a:avLst>
              <a:gd name="adj" fmla="val 4446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73200" y="3403600"/>
            <a:ext cx="4873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Dois a quatro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4013200"/>
            <a:ext cx="487311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Mais que quatro vira grade densa, que é outro arquétipo.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08317" y="2895600"/>
            <a:ext cx="5889117" cy="7272401"/>
          </a:xfrm>
          <a:prstGeom prst="roundRect">
            <a:avLst>
              <a:gd name="adj" fmla="val 4446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16317" y="3403600"/>
            <a:ext cx="4873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Mesma altura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317" y="4013200"/>
            <a:ext cx="487311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Cards de alturas diferentes quebram a leitura horizontal.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1434" y="2895600"/>
            <a:ext cx="5889117" cy="7272401"/>
          </a:xfrm>
          <a:prstGeom prst="roundRect">
            <a:avLst>
              <a:gd name="adj" fmla="val 4446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59434" y="3403600"/>
            <a:ext cx="4873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Gap de 20pt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59434" y="4013200"/>
            <a:ext cx="4873117" cy="66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Sempre o módulo, nunca uma folga escolhida no olho.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Spec page sobre branco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641600"/>
            <a:ext cx="13086252" cy="19278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O mesmo arquétipo de especificacao, em fundo branco. Todos os arquétipos aceitam os quatro fundos permitidos sem ajuste.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53314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5200" y="55600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Branco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60934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63220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Rosa e azul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3314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CONTRASTE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55600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Não dispara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60934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63220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Areas de respiro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Card grid em três colunas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981200"/>
            <a:ext cx="1272274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mesma grade do catálogo, com menos colunas e mais corpo.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3073400"/>
            <a:ext cx="5889117" cy="7094601"/>
          </a:xfrm>
          <a:prstGeom prst="roundRect">
            <a:avLst>
              <a:gd name="adj" fmla="val 4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200" y="3327400"/>
            <a:ext cx="538111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VARIAÇÃO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200" y="3581400"/>
            <a:ext cx="5381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Três colunas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4064000"/>
            <a:ext cx="538111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464pt de largura cada.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08317" y="3073400"/>
            <a:ext cx="5889117" cy="7094601"/>
          </a:xfrm>
          <a:prstGeom prst="roundRect">
            <a:avLst>
              <a:gd name="adj" fmla="val 4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2317" y="3327400"/>
            <a:ext cx="538111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VARIAÇÃO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2317" y="3581400"/>
            <a:ext cx="5381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Quatro colunas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2317" y="4064000"/>
            <a:ext cx="538111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343pt cada, para itens curtos.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1434" y="3073400"/>
            <a:ext cx="5889117" cy="7094601"/>
          </a:xfrm>
          <a:prstGeom prst="roundRect">
            <a:avLst>
              <a:gd name="adj" fmla="val 4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05434" y="3327400"/>
            <a:ext cx="538111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VARIAÇÃO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05434" y="3581400"/>
            <a:ext cx="5381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Cinco colunas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05434" y="4064000"/>
            <a:ext cx="538111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270pt cada, só rotulo e número.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ARQUÉTIPOS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1219200"/>
            <a:ext cx="14540280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4902200"/>
            <a:ext cx="1454028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6426200"/>
            <a:ext cx="9087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que o sistema nunca emite, e para onde vai o que ficou de fora.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Anti-vícios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981200"/>
            <a:ext cx="13086252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 lista do que o sistema recusa. Não é preferência estética: é o que mantém dois decks parecidos.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3073400"/>
            <a:ext cx="8960675" cy="7094601"/>
          </a:xfrm>
          <a:prstGeom prst="roundRect">
            <a:avLst>
              <a:gd name="adj" fmla="val 3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73200" y="3581400"/>
            <a:ext cx="7944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39878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da escala dos treze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3200" y="45720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dos cinco slots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51562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Entrelinha do estilo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3200" y="57404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Avenir Next, Regular ou Bold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79875" y="3073400"/>
            <a:ext cx="8960675" cy="7094601"/>
          </a:xfrm>
          <a:prstGeom prst="roundRect">
            <a:avLst>
              <a:gd name="adj" fmla="val 3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87875" y="3581400"/>
            <a:ext cx="7944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D5E6D"/>
                </a:solidFill>
                <a:latin typeface="Avenir Next"/>
              </a:rPr>
              <a:t>NUNCA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87875" y="39878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Linha decorativa ou divisória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7875" y="45720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Gradiente, sombra, brilho, contorno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87875" y="51562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Cor ou corpo fora da tabela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87875" y="5740400"/>
            <a:ext cx="7944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Icone inventado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Checklist de auditoria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981200"/>
            <a:ext cx="1272274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 que olhar antes de mandar um deck para fora.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3073400"/>
            <a:ext cx="588911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200" y="3327400"/>
            <a:ext cx="538111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200" y="3581400"/>
            <a:ext cx="5381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Fonte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4064000"/>
            <a:ext cx="538111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Toda run em Avenir Next.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08317" y="3073400"/>
            <a:ext cx="588911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2317" y="3327400"/>
            <a:ext cx="538111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2317" y="3581400"/>
            <a:ext cx="5381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2317" y="4064000"/>
            <a:ext cx="538111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Todo corpo na escala dos treze.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1434" y="3073400"/>
            <a:ext cx="588911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05434" y="3327400"/>
            <a:ext cx="538111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05434" y="3581400"/>
            <a:ext cx="5381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05434" y="4064000"/>
            <a:ext cx="538111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Toda cor nos cinco slots.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5200" y="6747700"/>
            <a:ext cx="588911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9200" y="7001700"/>
            <a:ext cx="538111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7255700"/>
            <a:ext cx="5381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7738300"/>
            <a:ext cx="538111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Bate com a do estilo.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08317" y="6747700"/>
            <a:ext cx="588911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2317" y="7001700"/>
            <a:ext cx="538111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2317" y="7255700"/>
            <a:ext cx="5381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Margem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2317" y="7738300"/>
            <a:ext cx="538111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Nada invade os 76pt.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251434" y="6747700"/>
            <a:ext cx="588911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505434" y="7001700"/>
            <a:ext cx="538111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05434" y="7255700"/>
            <a:ext cx="5381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Contraste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05434" y="7738300"/>
            <a:ext cx="538111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Nenhum texto na cor do fundo.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Migração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2235200"/>
            <a:ext cx="13086252" cy="19278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Corpos de versões anteriores que sairam da escala fechada. O botão Padronizar tipografia faz o arredondamento sozinho.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49250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55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51536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60 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5200" y="56870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36 E 32 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59156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34 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64490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22 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200" y="66776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24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49250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16 E 14 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51536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15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875" y="56870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ROTULO 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06875" y="59156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Título 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06875" y="6449059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ACIMA DE 185 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06875" y="6677659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vira 250 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9920351"/>
            <a:ext cx="11995731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Atenção: com 250pt na escala, texto muito grande agora arredonda para cima, não mais para 120.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REGRAS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1219200"/>
            <a:ext cx="14540280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D5E6D"/>
                </a:solidFill>
                <a:latin typeface="Avenir Next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4902200"/>
            <a:ext cx="1454028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FFFFFF"/>
                </a:solidFill>
                <a:latin typeface="Avenir Next"/>
              </a:rPr>
              <a:t>Outras mídias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6426200"/>
            <a:ext cx="9087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Os tokens viajam. O que muda é a unidade.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FFFFFF"/>
                </a:solidFill>
                <a:latin typeface="Avenir Next"/>
              </a:rPr>
              <a:t>OUTRAS MÍDIAS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Avenir Next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 MESMA REGRA EM TRÊS UNIDADES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3716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Web, impresso, social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2895600"/>
            <a:ext cx="5889117" cy="7272401"/>
          </a:xfrm>
          <a:prstGeom prst="roundRect">
            <a:avLst>
              <a:gd name="adj" fmla="val 4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73200" y="3403600"/>
            <a:ext cx="4873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4013200"/>
            <a:ext cx="4873117" cy="132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Use px da tabela (base 1080). A entrelinha vira line-height sem unidade: o multiplicador é o mesmo número. Raio de 25px, módulo de 24px.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08317" y="2895600"/>
            <a:ext cx="5889117" cy="7272401"/>
          </a:xfrm>
          <a:prstGeom prst="roundRect">
            <a:avLst>
              <a:gd name="adj" fmla="val 4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16317" y="3403600"/>
            <a:ext cx="4873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Impresso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317" y="4013200"/>
            <a:ext cx="4873117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Use cm. A página é 55,8 x 31,4cm; em A4 paisagem o fator é 0,53. A escala não muda, só o tamanho fisico.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1434" y="2895600"/>
            <a:ext cx="5889117" cy="7272401"/>
          </a:xfrm>
          <a:prstGeom prst="roundRect">
            <a:avLst>
              <a:gd name="adj" fmla="val 444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59434" y="3403600"/>
            <a:ext cx="487311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Social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59434" y="4013200"/>
            <a:ext cx="4873117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Recorte a área útil, nunca a página inteira. A margem de 76pt existe para o conteúdo sobreviver ao corte.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908767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D5E6D"/>
                </a:solidFill>
                <a:latin typeface="Avenir Next"/>
              </a:rPr>
              <a:t>O QUE NAO MUDA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447800"/>
            <a:ext cx="9087675" cy="144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hierarquia mora nas razões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3403600"/>
            <a:ext cx="9087675" cy="5783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Se o layout não for 1920x1080, escale por proporção -- nunca reescolha corpos.</a:t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A diferenca entre Título 60 e Texto 24 não está em 60 e 24: está na razão entre eles. Mantida a razão, o sistema sobrevive a qualquer tamanho de tela ou papel.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14875" y="965200"/>
            <a:ext cx="8325675" cy="9202801"/>
          </a:xfrm>
          <a:prstGeom prst="roundRect">
            <a:avLst>
              <a:gd name="adj" fmla="val 3145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2875" y="4530280"/>
            <a:ext cx="7309675" cy="2072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Duas cores de tipo.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Escala fechada.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Entrelinha do estilo.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Espacamento em módulo.</a:t>
            </a:r>
          </a:p>
          <a:p>
            <a:pPr algn="l">
              <a:lnSpc>
                <a:spcPct val="95000"/>
              </a:lnSpc>
            </a:pPr>
            <a:r>
              <a:rPr sz="3400" b="1">
                <a:solidFill>
                  <a:srgbClr val="FD5E6D"/>
                </a:solidFill>
                <a:latin typeface="Avenir Next"/>
              </a:rPr>
              <a:t>Contraste automatico.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OUTRAS MÍDIAS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5E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1219200"/>
            <a:ext cx="14540280" cy="317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0" b="1">
                <a:solidFill>
                  <a:srgbClr val="FFFFFF"/>
                </a:solidFill>
                <a:latin typeface="Avenir Next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4902200"/>
            <a:ext cx="1454028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1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6426200"/>
            <a:ext cx="908767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Onde este sistema vira um clique.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A faixa CBA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1981200"/>
            <a:ext cx="12722745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436AE1"/>
                </a:solidFill>
                <a:latin typeface="Avenir Next"/>
              </a:rPr>
              <a:t>Os grupos da aba, e o que cada um resolve.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5200" y="30734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200" y="33274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INSERIR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200" y="35814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Caixa e bloco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40640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Já nascem no padrão.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2537" y="30734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26537" y="33274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TIPOGRAFIA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6537" y="35814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13 estilos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6537" y="40640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Um clique aplica quatro decisões.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79875" y="30734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33875" y="33274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ENTRELINHA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875" y="35814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Por tamanho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3875" y="40640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Para texto sem estilo.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87213" y="30734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41213" y="33274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TEXTO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41213" y="35814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Peso e alinhamento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41213" y="40640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Negrito, esquerda, centro.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5200" y="67477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9200" y="70017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FONTE / FUNDO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72557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Paleta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77383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Só os cinco slots.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2537" y="67477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26537" y="70017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FORMAS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6537" y="72557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Raio e crop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6537" y="77383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Rounded, tirar, recortar.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79875" y="67477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33875" y="70017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ALINHAR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33875" y="72557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Âncoras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33875" y="77383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Encaixe em medida fixa.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787213" y="6747700"/>
            <a:ext cx="4353337" cy="3420300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041213" y="7001700"/>
            <a:ext cx="3845337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AUDITORIA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41213" y="7255700"/>
            <a:ext cx="3845337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Padronizar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41213" y="7738300"/>
            <a:ext cx="384533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Encaixa o que fugiu.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965200"/>
            <a:ext cx="18175351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>
                <a:solidFill>
                  <a:srgbClr val="FD5E6D"/>
                </a:solidFill>
                <a:latin typeface="Avenir Next"/>
              </a:rPr>
              <a:t>Mudar os padroes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2235200"/>
            <a:ext cx="13086252" cy="2570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436AE1"/>
                </a:solidFill>
                <a:latin typeface="Avenir Next"/>
              </a:rPr>
              <a:t>A página de Brand Standards gera uma linha de configuração que a faixa aplica sem recompilar nada. É como o sistema evolui sem virar código novo.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556768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PÁGINA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579628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Padroes &gt; Abrir página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5200" y="632968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655828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Padroes &gt; Aplicar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06875" y="556768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FORMATO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6875" y="579628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chave=valor separado por 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06875" y="6329680"/>
            <a:ext cx="88336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ESTILO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06875" y="6558280"/>
            <a:ext cx="8833675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36AE1"/>
                </a:solidFill>
                <a:latin typeface="Avenir Next"/>
              </a:rPr>
              <a:t>s_&lt;id&gt; = corpo|bold|papel|entrelinha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9920351"/>
            <a:ext cx="11995731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36AE1"/>
                </a:solidFill>
                <a:latin typeface="Avenir Next"/>
              </a:rPr>
              <a:t>Chave desconhecida é ignorada em silêncio: se uma configuração não surtir efeito, quase sempre é nome de chave errado.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10472801"/>
            <a:ext cx="889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cap="all" spc="300">
                <a:solidFill>
                  <a:srgbClr val="436AE1"/>
                </a:solidFill>
                <a:latin typeface="Avenir Next"/>
              </a:rPr>
              <a:t>APLICAÇÃO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70551" y="10472801"/>
            <a:ext cx="127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436AE1"/>
                </a:solidFill>
                <a:latin typeface="Avenir Next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6A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5200" y="3166300"/>
            <a:ext cx="14903787" cy="396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Treze estilos,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cinco cores,</a:t>
            </a:r>
          </a:p>
          <a:p>
            <a:pPr algn="l">
              <a:lnSpc>
                <a:spcPct val="80000"/>
              </a:lnSpc>
            </a:pPr>
            <a:r>
              <a:rPr sz="12000" b="1">
                <a:solidFill>
                  <a:srgbClr val="FD5E6D"/>
                </a:solidFill>
                <a:latin typeface="Avenir Next"/>
              </a:rPr>
              <a:t>um módulo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5200" y="9837801"/>
            <a:ext cx="1090521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FFFFF"/>
                </a:solidFill>
                <a:latin typeface="Avenir Next"/>
              </a:rPr>
              <a:t>design.md  ·  tools/design-system  ·  CBA Studio v1.5.1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