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21" r:id="rId4"/>
    <p:sldId id="258" r:id="rId5"/>
    <p:sldId id="32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322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325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20105688" cy="11310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AE1"/>
    <a:srgbClr val="FD5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>
        <p:scale>
          <a:sx n="62" d="100"/>
          <a:sy n="62" d="100"/>
        </p:scale>
        <p:origin x="216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05401"/>
            <a:ext cx="1563080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cap="all" spc="300" dirty="0">
                <a:solidFill>
                  <a:srgbClr val="FD5E6D"/>
                </a:solidFill>
                <a:latin typeface="Avenir Next" panose="020B0503020202020204" pitchFamily="34" charset="0"/>
              </a:rPr>
              <a:t>CBA B+G  · 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2463800"/>
            <a:ext cx="15630801" cy="4524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 dirty="0">
                <a:solidFill>
                  <a:srgbClr val="FFFFFF"/>
                </a:solidFill>
                <a:latin typeface="Avenir Next"/>
              </a:rPr>
              <a:t>Um </a:t>
            </a:r>
            <a:r>
              <a:rPr sz="12000" b="1" dirty="0" err="1">
                <a:solidFill>
                  <a:srgbClr val="FFFFFF"/>
                </a:solidFill>
                <a:latin typeface="Avenir Next"/>
              </a:rPr>
              <a:t>sistema</a:t>
            </a:r>
            <a:endParaRPr sz="12000" b="1" dirty="0">
              <a:solidFill>
                <a:srgbClr val="FFFFFF"/>
              </a:solidFill>
              <a:latin typeface="Avenir Next"/>
            </a:endParaRPr>
          </a:p>
          <a:p>
            <a:pPr algn="l">
              <a:lnSpc>
                <a:spcPct val="80000"/>
              </a:lnSpc>
            </a:pPr>
            <a:r>
              <a:rPr sz="12000" b="1" dirty="0" err="1">
                <a:solidFill>
                  <a:srgbClr val="FFFFFF"/>
                </a:solidFill>
                <a:latin typeface="Avenir Next"/>
              </a:rPr>
              <a:t>cabe</a:t>
            </a:r>
            <a:r>
              <a:rPr sz="12000" b="1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12000" b="1" dirty="0" err="1">
                <a:solidFill>
                  <a:srgbClr val="FFFFFF"/>
                </a:solidFill>
                <a:latin typeface="Avenir Next"/>
              </a:rPr>
              <a:t>em</a:t>
            </a:r>
            <a:r>
              <a:rPr sz="12000" b="1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12000" b="1" dirty="0" err="1">
                <a:solidFill>
                  <a:srgbClr val="FFFFFF"/>
                </a:solidFill>
                <a:latin typeface="Avenir Next"/>
              </a:rPr>
              <a:t>treze</a:t>
            </a:r>
            <a:endParaRPr sz="12000" b="1" dirty="0">
              <a:solidFill>
                <a:srgbClr val="FFFFFF"/>
              </a:solidFill>
              <a:latin typeface="Avenir Next"/>
            </a:endParaRPr>
          </a:p>
          <a:p>
            <a:pPr algn="l">
              <a:lnSpc>
                <a:spcPct val="80000"/>
              </a:lnSpc>
            </a:pPr>
            <a:r>
              <a:rPr sz="12000" b="1" dirty="0" err="1">
                <a:solidFill>
                  <a:srgbClr val="FFFFFF"/>
                </a:solidFill>
                <a:latin typeface="Avenir Next"/>
              </a:rPr>
              <a:t>estilos</a:t>
            </a:r>
            <a:r>
              <a:rPr sz="12000" b="1" dirty="0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1" y="7442200"/>
            <a:ext cx="8069072" cy="1531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dirty="0" err="1">
                <a:solidFill>
                  <a:srgbClr val="FFFFFF"/>
                </a:solidFill>
                <a:latin typeface="Avenir Next"/>
              </a:rPr>
              <a:t>Documentação</a:t>
            </a:r>
            <a:r>
              <a:rPr sz="4400" b="0" dirty="0">
                <a:solidFill>
                  <a:srgbClr val="FFFFFF"/>
                </a:solidFill>
                <a:latin typeface="Avenir Next"/>
              </a:rPr>
              <a:t> da </a:t>
            </a:r>
            <a:r>
              <a:rPr sz="4400" b="0" dirty="0" err="1">
                <a:solidFill>
                  <a:srgbClr val="FFFFFF"/>
                </a:solidFill>
                <a:latin typeface="Avenir Next"/>
              </a:rPr>
              <a:t>tipografia</a:t>
            </a:r>
            <a:r>
              <a:rPr sz="4400" b="0" dirty="0">
                <a:solidFill>
                  <a:srgbClr val="FFFFFF"/>
                </a:solidFill>
                <a:latin typeface="Avenir Next"/>
              </a:rPr>
              <a:t>, </a:t>
            </a:r>
            <a:r>
              <a:rPr sz="4400" b="0" dirty="0" err="1">
                <a:solidFill>
                  <a:srgbClr val="FFFFFF"/>
                </a:solidFill>
                <a:latin typeface="Avenir Next"/>
              </a:rPr>
              <a:t>cor</a:t>
            </a:r>
            <a:r>
              <a:rPr sz="4400" b="0" dirty="0">
                <a:solidFill>
                  <a:srgbClr val="FFFFFF"/>
                </a:solidFill>
                <a:latin typeface="Avenir Next"/>
              </a:rPr>
              <a:t> e grid do CBA Studio.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 QUE É ISTO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>
                <a:solidFill>
                  <a:srgbClr val="FD5E6D"/>
                </a:solidFill>
                <a:latin typeface="Avenir Next"/>
              </a:rPr>
              <a:t>A ferramenta </a:t>
            </a:r>
            <a:r>
              <a:rPr sz="6000" b="1" dirty="0" err="1">
                <a:solidFill>
                  <a:srgbClr val="FD5E6D"/>
                </a:solidFill>
                <a:latin typeface="Avenir Next"/>
              </a:rPr>
              <a:t>é</a:t>
            </a:r>
            <a:r>
              <a:rPr sz="6000" b="1" dirty="0">
                <a:solidFill>
                  <a:srgbClr val="FD5E6D"/>
                </a:solidFill>
                <a:latin typeface="Avenir Next"/>
              </a:rPr>
              <a:t> a </a:t>
            </a:r>
            <a:r>
              <a:rPr sz="6000" b="1" dirty="0" err="1">
                <a:solidFill>
                  <a:srgbClr val="FD5E6D"/>
                </a:solidFill>
                <a:latin typeface="Avenir Next"/>
              </a:rPr>
              <a:t>definição</a:t>
            </a:r>
            <a:endParaRPr sz="6000" b="1" dirty="0">
              <a:solidFill>
                <a:srgbClr val="FD5E6D"/>
              </a:solidFill>
              <a:latin typeface="Avenir Nex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5200" y="2641600"/>
            <a:ext cx="13086252" cy="3213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Este documento não inventa um padrão: ele descreve o que a faixa CBA Studio já aplica com um clique. A fonte da verdade é o código do add-in; aqui e nos slides seguintes ele está escrito em português.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661670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 dirty="0">
                <a:solidFill>
                  <a:srgbClr val="436AE1"/>
                </a:solidFill>
                <a:latin typeface="Avenir Next"/>
              </a:rPr>
              <a:t>FONTE DA VERDADE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684530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 err="1">
                <a:solidFill>
                  <a:srgbClr val="436AE1"/>
                </a:solidFill>
                <a:latin typeface="Avenir Next"/>
              </a:rPr>
              <a:t>SetDefaults</a:t>
            </a:r>
            <a:r>
              <a:rPr sz="2800" b="1" dirty="0">
                <a:solidFill>
                  <a:srgbClr val="436AE1"/>
                </a:solidFill>
                <a:latin typeface="Avenir Next"/>
              </a:rPr>
              <a:t>, no .bas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737870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 dirty="0">
                <a:solidFill>
                  <a:srgbClr val="436AE1"/>
                </a:solidFill>
                <a:latin typeface="Avenir Next"/>
              </a:rPr>
              <a:t>ESPELHO EM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760730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tools/design-system/tokens.py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61670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 EM 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84530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37870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GATE ANTI-DERIVA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760730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>
                <a:solidFill>
                  <a:srgbClr val="436AE1"/>
                </a:solidFill>
                <a:latin typeface="Avenir Next"/>
              </a:rPr>
              <a:t>check-</a:t>
            </a:r>
            <a:r>
              <a:rPr sz="2800" b="1" dirty="0" err="1">
                <a:solidFill>
                  <a:srgbClr val="436AE1"/>
                </a:solidFill>
                <a:latin typeface="Avenir Next"/>
              </a:rPr>
              <a:t>tokens.py</a:t>
            </a:r>
            <a:endParaRPr sz="2800" b="1" dirty="0">
              <a:solidFill>
                <a:srgbClr val="436AE1"/>
              </a:solidFill>
              <a:latin typeface="Avenir Nex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5200" y="9920351"/>
            <a:ext cx="1199573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dirty="0">
                <a:solidFill>
                  <a:srgbClr val="436AE1"/>
                </a:solidFill>
                <a:latin typeface="Avenir Next"/>
              </a:rPr>
              <a:t>Se o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código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 e a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documentação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divergirem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, o build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quebra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até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alguém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acertar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lang="en-US" sz="1500" b="0" dirty="0" err="1">
                <a:solidFill>
                  <a:srgbClr val="436AE1"/>
                </a:solidFill>
                <a:latin typeface="Avenir Next"/>
              </a:rPr>
              <a:t>o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s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dois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.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É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 o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que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 impede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este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 deck de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virar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mentira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ABERTURA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AD9C8A-0B6E-5B15-0772-7BDD786B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085AEB-2CA6-63A1-6D61-5BC1307C3B2E}"/>
              </a:ext>
            </a:extLst>
          </p:cNvPr>
          <p:cNvSpPr txBox="1"/>
          <p:nvPr/>
        </p:nvSpPr>
        <p:spPr>
          <a:xfrm>
            <a:off x="1134002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all" spc="30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O QUE É ISTO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B0A10D-6675-FF4D-BA17-5A8224F9A533}"/>
              </a:ext>
            </a:extLst>
          </p:cNvPr>
          <p:cNvSpPr txBox="1"/>
          <p:nvPr/>
        </p:nvSpPr>
        <p:spPr>
          <a:xfrm>
            <a:off x="1134002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 ferramenta </a:t>
            </a:r>
            <a:r>
              <a:rPr kumimoji="0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é</a:t>
            </a: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a </a:t>
            </a:r>
            <a:r>
              <a:rPr kumimoji="0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definição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rgbClr val="FD5E6D"/>
              </a:solidFill>
              <a:effectLst/>
              <a:uLnTx/>
              <a:uFillTx/>
              <a:latin typeface="Avenir Nex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742DB-64C6-58C3-DC2F-2BC2962CA5E2}"/>
              </a:ext>
            </a:extLst>
          </p:cNvPr>
          <p:cNvSpPr txBox="1"/>
          <p:nvPr/>
        </p:nvSpPr>
        <p:spPr>
          <a:xfrm>
            <a:off x="1134002" y="2641600"/>
            <a:ext cx="13086252" cy="3213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Este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documento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não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inventa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um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padrão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: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ele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descreve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o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que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a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faixa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CBA Studio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já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aplica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com um clique. A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fonte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da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verdade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é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o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código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do add-in;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aqui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e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nos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slides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seguintes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ele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está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escrito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em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português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76FA4-92F3-5269-5CF6-4B7159A62BC1}"/>
              </a:ext>
            </a:extLst>
          </p:cNvPr>
          <p:cNvSpPr txBox="1"/>
          <p:nvPr/>
        </p:nvSpPr>
        <p:spPr>
          <a:xfrm>
            <a:off x="1134002" y="7449121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all" spc="3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FONTE DA VERDADE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80652-BB80-51F7-1FEB-FD542A4C6926}"/>
              </a:ext>
            </a:extLst>
          </p:cNvPr>
          <p:cNvSpPr txBox="1"/>
          <p:nvPr/>
        </p:nvSpPr>
        <p:spPr>
          <a:xfrm>
            <a:off x="1134002" y="7677721"/>
            <a:ext cx="88336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SetDefaults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, no .bas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A13A58-210E-5310-6FD8-46496109B316}"/>
              </a:ext>
            </a:extLst>
          </p:cNvPr>
          <p:cNvSpPr txBox="1"/>
          <p:nvPr/>
        </p:nvSpPr>
        <p:spPr>
          <a:xfrm>
            <a:off x="1134002" y="8624284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all" spc="3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ESPELHO EM CÓDIGO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7078B-3235-AE9D-4103-775226A802F4}"/>
              </a:ext>
            </a:extLst>
          </p:cNvPr>
          <p:cNvSpPr txBox="1"/>
          <p:nvPr/>
        </p:nvSpPr>
        <p:spPr>
          <a:xfrm>
            <a:off x="1134002" y="8852884"/>
            <a:ext cx="88336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tools/design-system/tokens.py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B8C66-F682-FA18-6291-4A72FB8E079B}"/>
              </a:ext>
            </a:extLst>
          </p:cNvPr>
          <p:cNvSpPr txBox="1"/>
          <p:nvPr/>
        </p:nvSpPr>
        <p:spPr>
          <a:xfrm>
            <a:off x="10306875" y="7449121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all" spc="30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REGRAS EM TEXTO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A25D0-115A-C591-F3B7-2301EAB338FE}"/>
              </a:ext>
            </a:extLst>
          </p:cNvPr>
          <p:cNvSpPr txBox="1"/>
          <p:nvPr/>
        </p:nvSpPr>
        <p:spPr>
          <a:xfrm>
            <a:off x="10306875" y="7677721"/>
            <a:ext cx="88336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design.md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6E1E1-9128-2643-6CC2-FA84DB8470F4}"/>
              </a:ext>
            </a:extLst>
          </p:cNvPr>
          <p:cNvSpPr txBox="1"/>
          <p:nvPr/>
        </p:nvSpPr>
        <p:spPr>
          <a:xfrm>
            <a:off x="10306875" y="8624284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all" spc="30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GATE ANTI-DERIVA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3DAC42-21F2-E4EB-8C2F-25477D51BBAA}"/>
              </a:ext>
            </a:extLst>
          </p:cNvPr>
          <p:cNvSpPr txBox="1"/>
          <p:nvPr/>
        </p:nvSpPr>
        <p:spPr>
          <a:xfrm>
            <a:off x="10306875" y="8852884"/>
            <a:ext cx="88336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check-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tokens.py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436AE1"/>
              </a:solidFill>
              <a:effectLst/>
              <a:uLnTx/>
              <a:uFillTx/>
              <a:latin typeface="Avenir Nex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EE403-7217-144E-3B02-11ED530D7A94}"/>
              </a:ext>
            </a:extLst>
          </p:cNvPr>
          <p:cNvSpPr txBox="1"/>
          <p:nvPr/>
        </p:nvSpPr>
        <p:spPr>
          <a:xfrm>
            <a:off x="1134002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all" spc="30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ABERTURA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62E853-4B71-E9EA-6E87-BEC0E5191E01}"/>
              </a:ext>
            </a:extLst>
          </p:cNvPr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0700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caminho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981200"/>
            <a:ext cx="1272274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dirty="0">
                <a:solidFill>
                  <a:srgbClr val="436AE1"/>
                </a:solidFill>
                <a:latin typeface="Avenir Next" panose="020B0503020202020204" pitchFamily="34" charset="0"/>
              </a:rPr>
              <a:t>Sete </a:t>
            </a:r>
            <a:r>
              <a:rPr sz="2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blocos</a:t>
            </a:r>
            <a:r>
              <a:rPr sz="2400" dirty="0">
                <a:solidFill>
                  <a:srgbClr val="436AE1"/>
                </a:solidFill>
                <a:latin typeface="Avenir Next" panose="020B0503020202020204" pitchFamily="34" charset="0"/>
              </a:rPr>
              <a:t>, do </a:t>
            </a:r>
            <a:r>
              <a:rPr sz="2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que</a:t>
            </a:r>
            <a:r>
              <a:rPr sz="2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é</a:t>
            </a:r>
            <a:r>
              <a:rPr sz="2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invariável</a:t>
            </a:r>
            <a:r>
              <a:rPr sz="2400" dirty="0">
                <a:solidFill>
                  <a:srgbClr val="436AE1"/>
                </a:solidFill>
                <a:latin typeface="Avenir Next" panose="020B0503020202020204" pitchFamily="34" charset="0"/>
              </a:rPr>
              <a:t> para o </a:t>
            </a:r>
            <a:r>
              <a:rPr sz="2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que</a:t>
            </a:r>
            <a:r>
              <a:rPr sz="2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é</a:t>
            </a:r>
            <a:r>
              <a:rPr sz="2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aplicado</a:t>
            </a:r>
            <a:r>
              <a:rPr sz="2400" dirty="0">
                <a:solidFill>
                  <a:srgbClr val="436AE1"/>
                </a:solidFill>
                <a:latin typeface="Avenir Next" panose="020B0503020202020204" pitchFamily="34" charset="0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3073400"/>
            <a:ext cx="4353337" cy="3420300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19200" y="40882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5708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dirty="0">
                <a:solidFill>
                  <a:srgbClr val="436AE1"/>
                </a:solidFill>
                <a:latin typeface="Avenir Next"/>
              </a:rPr>
              <a:t>Página,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margem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,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módulo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, </a:t>
            </a:r>
            <a:r>
              <a:rPr sz="1500" b="0" dirty="0" err="1">
                <a:solidFill>
                  <a:srgbClr val="436AE1"/>
                </a:solidFill>
                <a:latin typeface="Avenir Next"/>
              </a:rPr>
              <a:t>raio</a:t>
            </a:r>
            <a:r>
              <a:rPr sz="1500" b="0" dirty="0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2537" y="3073400"/>
            <a:ext cx="4353337" cy="3420300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26537" y="40882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6537" y="45708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Cinco slots, dois papéis de tipo.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79875" y="3073400"/>
            <a:ext cx="4353337" cy="3420300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33875" y="40882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3875" y="45708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Os treze estilos, um a um.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787213" y="3073400"/>
            <a:ext cx="4353337" cy="3420300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041213" y="40882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1213" y="45708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Caixas, cards, imagens.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5200" y="6747700"/>
            <a:ext cx="4353337" cy="3420300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19200" y="77625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82451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Layouts que o sistema aceita.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2537" y="6747700"/>
            <a:ext cx="4353337" cy="3420300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26537" y="77625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6537" y="82451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Anti-vícios e migração.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79875" y="6747700"/>
            <a:ext cx="4353337" cy="3420300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33875" y="77625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3875" y="82451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Web, impresso, social.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787213" y="6747700"/>
            <a:ext cx="4353337" cy="3420300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041213" y="77625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41213" y="82451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A faixa e o Brand Standards.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ABERTURA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F6CDBE-0FA3-CECB-8386-AC0419A8C5E5}"/>
              </a:ext>
            </a:extLst>
          </p:cNvPr>
          <p:cNvSpPr txBox="1"/>
          <p:nvPr/>
        </p:nvSpPr>
        <p:spPr>
          <a:xfrm>
            <a:off x="1219200" y="33274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1</a:t>
            </a:r>
            <a:r>
              <a:rPr lang="pt-BR"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.</a:t>
            </a:r>
            <a:endParaRPr sz="6000" b="1" dirty="0">
              <a:solidFill>
                <a:srgbClr val="FD5E6D"/>
              </a:solidFill>
              <a:latin typeface="Avenir Next" panose="020B0503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A9E10B1-CBFE-7F07-2E3A-59A4A2099310}"/>
              </a:ext>
            </a:extLst>
          </p:cNvPr>
          <p:cNvSpPr txBox="1"/>
          <p:nvPr/>
        </p:nvSpPr>
        <p:spPr>
          <a:xfrm>
            <a:off x="5826537" y="33274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2</a:t>
            </a:r>
            <a:r>
              <a:rPr lang="pt-BR"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.</a:t>
            </a:r>
            <a:endParaRPr sz="6000" b="1" dirty="0">
              <a:solidFill>
                <a:srgbClr val="FD5E6D"/>
              </a:solidFill>
              <a:latin typeface="Avenir Next" panose="020B0503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BC52F2-CBF9-ABEE-D126-C7506A99C866}"/>
              </a:ext>
            </a:extLst>
          </p:cNvPr>
          <p:cNvSpPr txBox="1"/>
          <p:nvPr/>
        </p:nvSpPr>
        <p:spPr>
          <a:xfrm>
            <a:off x="10433875" y="33274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3</a:t>
            </a:r>
            <a:r>
              <a:rPr lang="pt-BR"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.</a:t>
            </a:r>
            <a:endParaRPr sz="6000" b="1" dirty="0">
              <a:solidFill>
                <a:srgbClr val="FD5E6D"/>
              </a:solidFill>
              <a:latin typeface="Avenir Next" panose="020B0503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7FAF6E-6483-ECD6-3398-B8E00D9FA720}"/>
              </a:ext>
            </a:extLst>
          </p:cNvPr>
          <p:cNvSpPr txBox="1"/>
          <p:nvPr/>
        </p:nvSpPr>
        <p:spPr>
          <a:xfrm>
            <a:off x="15041213" y="33274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4</a:t>
            </a:r>
            <a:r>
              <a:rPr lang="pt-BR"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.</a:t>
            </a:r>
            <a:endParaRPr sz="6000" b="1" dirty="0">
              <a:solidFill>
                <a:srgbClr val="FD5E6D"/>
              </a:solidFill>
              <a:latin typeface="Avenir Next" panose="020B0503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D02878A-8C1E-6AB2-4485-BF1BB76A64A0}"/>
              </a:ext>
            </a:extLst>
          </p:cNvPr>
          <p:cNvSpPr txBox="1"/>
          <p:nvPr/>
        </p:nvSpPr>
        <p:spPr>
          <a:xfrm>
            <a:off x="1219200" y="70017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5</a:t>
            </a:r>
            <a:r>
              <a:rPr lang="pt-BR"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.</a:t>
            </a:r>
            <a:endParaRPr sz="6000" b="1" dirty="0">
              <a:solidFill>
                <a:srgbClr val="FD5E6D"/>
              </a:solidFill>
              <a:latin typeface="Avenir Next" panose="020B0503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F6D00D-F6CD-AE44-B9AF-85D43D31509E}"/>
              </a:ext>
            </a:extLst>
          </p:cNvPr>
          <p:cNvSpPr txBox="1"/>
          <p:nvPr/>
        </p:nvSpPr>
        <p:spPr>
          <a:xfrm>
            <a:off x="5826537" y="70017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6</a:t>
            </a:r>
            <a:r>
              <a:rPr lang="pt-BR"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.</a:t>
            </a:r>
            <a:endParaRPr sz="6000" b="1" dirty="0">
              <a:solidFill>
                <a:srgbClr val="FD5E6D"/>
              </a:solidFill>
              <a:latin typeface="Avenir Next" panose="020B0503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75BD8A-6287-1CC5-3DB3-546F2072C5E8}"/>
              </a:ext>
            </a:extLst>
          </p:cNvPr>
          <p:cNvSpPr txBox="1"/>
          <p:nvPr/>
        </p:nvSpPr>
        <p:spPr>
          <a:xfrm>
            <a:off x="10433875" y="70017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7</a:t>
            </a:r>
            <a:r>
              <a:rPr lang="pt-BR"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.</a:t>
            </a:r>
            <a:endParaRPr sz="6000" b="1" dirty="0">
              <a:solidFill>
                <a:srgbClr val="FD5E6D"/>
              </a:solidFill>
              <a:latin typeface="Avenir Next" panose="020B0503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9CC0B8E-C700-CF4E-24CD-197A67D3E962}"/>
              </a:ext>
            </a:extLst>
          </p:cNvPr>
          <p:cNvSpPr txBox="1"/>
          <p:nvPr/>
        </p:nvSpPr>
        <p:spPr>
          <a:xfrm>
            <a:off x="15041213" y="70017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8</a:t>
            </a:r>
            <a:r>
              <a:rPr lang="pt-BR"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.</a:t>
            </a:r>
            <a:endParaRPr sz="6000" b="1" dirty="0">
              <a:solidFill>
                <a:srgbClr val="FD5E6D"/>
              </a:solidFill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61C0A-9048-8817-1027-3C925713F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4ECCA-AF99-006A-3A46-7FD63BFF12F0}"/>
              </a:ext>
            </a:extLst>
          </p:cNvPr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O caminho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346F9-E1F5-F6C7-9290-EB5DECFF09CA}"/>
              </a:ext>
            </a:extLst>
          </p:cNvPr>
          <p:cNvSpPr txBox="1"/>
          <p:nvPr/>
        </p:nvSpPr>
        <p:spPr>
          <a:xfrm>
            <a:off x="965200" y="1981200"/>
            <a:ext cx="1272274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Sete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blocos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, do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que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é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invariável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para o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que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é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aplicado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A07E8-48DE-27A7-C425-41B5E001BCA1}"/>
              </a:ext>
            </a:extLst>
          </p:cNvPr>
          <p:cNvSpPr txBox="1"/>
          <p:nvPr/>
        </p:nvSpPr>
        <p:spPr>
          <a:xfrm>
            <a:off x="1219200" y="5145499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Fundamentos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8AC34-686B-CA32-9D39-CB421513C378}"/>
              </a:ext>
            </a:extLst>
          </p:cNvPr>
          <p:cNvSpPr txBox="1"/>
          <p:nvPr/>
        </p:nvSpPr>
        <p:spPr>
          <a:xfrm>
            <a:off x="1219200" y="5628099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Página,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margem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módulo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raio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ABF5F-57F0-0CCC-EE99-BF536FA1DE56}"/>
              </a:ext>
            </a:extLst>
          </p:cNvPr>
          <p:cNvSpPr txBox="1"/>
          <p:nvPr/>
        </p:nvSpPr>
        <p:spPr>
          <a:xfrm>
            <a:off x="5826537" y="5145499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1B2239-E71B-106A-83AF-64442C6FD4DB}"/>
              </a:ext>
            </a:extLst>
          </p:cNvPr>
          <p:cNvSpPr txBox="1"/>
          <p:nvPr/>
        </p:nvSpPr>
        <p:spPr>
          <a:xfrm>
            <a:off x="5826537" y="5628099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Cinco slots, dois papéis de tipo.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A130EE-F23F-4A9E-2D22-01407F5706B5}"/>
              </a:ext>
            </a:extLst>
          </p:cNvPr>
          <p:cNvSpPr txBox="1"/>
          <p:nvPr/>
        </p:nvSpPr>
        <p:spPr>
          <a:xfrm>
            <a:off x="10433875" y="5145499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Tipografia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2FD4FB-350E-91A9-5C1F-850F24D76B32}"/>
              </a:ext>
            </a:extLst>
          </p:cNvPr>
          <p:cNvSpPr txBox="1"/>
          <p:nvPr/>
        </p:nvSpPr>
        <p:spPr>
          <a:xfrm>
            <a:off x="10433875" y="5628099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Os treze estilos, um a um.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ADA02A-FAE3-8DBE-E3E0-3BA5CF1D86AC}"/>
              </a:ext>
            </a:extLst>
          </p:cNvPr>
          <p:cNvSpPr txBox="1"/>
          <p:nvPr/>
        </p:nvSpPr>
        <p:spPr>
          <a:xfrm>
            <a:off x="15041213" y="5145499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Componentes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C1B4AE-F25F-7CB7-C4C6-D4A263AE417F}"/>
              </a:ext>
            </a:extLst>
          </p:cNvPr>
          <p:cNvSpPr txBox="1"/>
          <p:nvPr/>
        </p:nvSpPr>
        <p:spPr>
          <a:xfrm>
            <a:off x="15041213" y="5628099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Caixas, cards, imagens.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28EAB4-D368-31EF-7D10-5CC707E6F658}"/>
              </a:ext>
            </a:extLst>
          </p:cNvPr>
          <p:cNvSpPr txBox="1"/>
          <p:nvPr/>
        </p:nvSpPr>
        <p:spPr>
          <a:xfrm>
            <a:off x="1219200" y="77625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Arquétipos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76D3F1-35C0-ED2D-CA90-8866AA08C03B}"/>
              </a:ext>
            </a:extLst>
          </p:cNvPr>
          <p:cNvSpPr txBox="1"/>
          <p:nvPr/>
        </p:nvSpPr>
        <p:spPr>
          <a:xfrm>
            <a:off x="1219200" y="82451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Layouts que o sistema aceita.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AAF42D-7834-6403-8F67-ED9DBCC14EE2}"/>
              </a:ext>
            </a:extLst>
          </p:cNvPr>
          <p:cNvSpPr txBox="1"/>
          <p:nvPr/>
        </p:nvSpPr>
        <p:spPr>
          <a:xfrm>
            <a:off x="5826537" y="77625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Regras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BD85F-0D94-CD3B-CD90-FA1B892ADFF4}"/>
              </a:ext>
            </a:extLst>
          </p:cNvPr>
          <p:cNvSpPr txBox="1"/>
          <p:nvPr/>
        </p:nvSpPr>
        <p:spPr>
          <a:xfrm>
            <a:off x="5826537" y="82451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Anti-vícios e migração.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8D4FCC-925E-1AEF-6D89-B16F46633E69}"/>
              </a:ext>
            </a:extLst>
          </p:cNvPr>
          <p:cNvSpPr txBox="1"/>
          <p:nvPr/>
        </p:nvSpPr>
        <p:spPr>
          <a:xfrm>
            <a:off x="10433875" y="77625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Outras mídias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1E64E2-332D-98BE-4614-0395E7903CD2}"/>
              </a:ext>
            </a:extLst>
          </p:cNvPr>
          <p:cNvSpPr txBox="1"/>
          <p:nvPr/>
        </p:nvSpPr>
        <p:spPr>
          <a:xfrm>
            <a:off x="10433875" y="82451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Web, impresso, social.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40AA87-F705-4A41-FAC9-2FDF6ECA43F5}"/>
              </a:ext>
            </a:extLst>
          </p:cNvPr>
          <p:cNvSpPr txBox="1"/>
          <p:nvPr/>
        </p:nvSpPr>
        <p:spPr>
          <a:xfrm>
            <a:off x="15041213" y="7762526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Aplicação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D83550-31EC-8F48-8721-ADB9332B5962}"/>
              </a:ext>
            </a:extLst>
          </p:cNvPr>
          <p:cNvSpPr txBox="1"/>
          <p:nvPr/>
        </p:nvSpPr>
        <p:spPr>
          <a:xfrm>
            <a:off x="15041213" y="8245126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 faixa e o Brand Standards.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DEE1DB-6199-E428-3212-4D2418B72C20}"/>
              </a:ext>
            </a:extLst>
          </p:cNvPr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all" spc="30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ABERTURA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265E49-0F86-9590-1AF0-3FB798A6959C}"/>
              </a:ext>
            </a:extLst>
          </p:cNvPr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1BB3F0-7C57-919F-7D84-86FBD54A542D}"/>
              </a:ext>
            </a:extLst>
          </p:cNvPr>
          <p:cNvSpPr txBox="1"/>
          <p:nvPr/>
        </p:nvSpPr>
        <p:spPr>
          <a:xfrm>
            <a:off x="1219200" y="4384673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1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rgbClr val="FD5E6D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452262-7B6D-0913-D058-6752C80E885F}"/>
              </a:ext>
            </a:extLst>
          </p:cNvPr>
          <p:cNvSpPr txBox="1"/>
          <p:nvPr/>
        </p:nvSpPr>
        <p:spPr>
          <a:xfrm>
            <a:off x="5826537" y="4384673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2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rgbClr val="FD5E6D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285633-810B-D6D8-8CF8-28CAB091FCA0}"/>
              </a:ext>
            </a:extLst>
          </p:cNvPr>
          <p:cNvSpPr txBox="1"/>
          <p:nvPr/>
        </p:nvSpPr>
        <p:spPr>
          <a:xfrm>
            <a:off x="10433875" y="4384673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3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rgbClr val="FD5E6D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E5AE41-5AE7-CFB2-8FD9-4754F5DE388D}"/>
              </a:ext>
            </a:extLst>
          </p:cNvPr>
          <p:cNvSpPr txBox="1"/>
          <p:nvPr/>
        </p:nvSpPr>
        <p:spPr>
          <a:xfrm>
            <a:off x="15041213" y="4384673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4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rgbClr val="FD5E6D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7FF1B08-B363-98F5-F8BC-F347FE629CF7}"/>
              </a:ext>
            </a:extLst>
          </p:cNvPr>
          <p:cNvSpPr txBox="1"/>
          <p:nvPr/>
        </p:nvSpPr>
        <p:spPr>
          <a:xfrm>
            <a:off x="1219200" y="70017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5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rgbClr val="FD5E6D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F19E242-E84A-F8FC-CC50-D082DE289E11}"/>
              </a:ext>
            </a:extLst>
          </p:cNvPr>
          <p:cNvSpPr txBox="1"/>
          <p:nvPr/>
        </p:nvSpPr>
        <p:spPr>
          <a:xfrm>
            <a:off x="5826537" y="70017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6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rgbClr val="FD5E6D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92E6EF-6CCF-4E68-D580-0116929F707E}"/>
              </a:ext>
            </a:extLst>
          </p:cNvPr>
          <p:cNvSpPr txBox="1"/>
          <p:nvPr/>
        </p:nvSpPr>
        <p:spPr>
          <a:xfrm>
            <a:off x="10433875" y="70017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7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rgbClr val="FD5E6D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6CBB9A3-163B-EC21-27D6-8FDFBF08E41A}"/>
              </a:ext>
            </a:extLst>
          </p:cNvPr>
          <p:cNvSpPr txBox="1"/>
          <p:nvPr/>
        </p:nvSpPr>
        <p:spPr>
          <a:xfrm>
            <a:off x="15041213" y="7001700"/>
            <a:ext cx="3845337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8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rgbClr val="FD5E6D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132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4002" y="1219200"/>
            <a:ext cx="14540280" cy="3847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 dirty="0">
                <a:solidFill>
                  <a:srgbClr val="FFFFFF"/>
                </a:solidFill>
                <a:latin typeface="Avenir Next"/>
              </a:rPr>
              <a:t>1</a:t>
            </a:r>
            <a:r>
              <a:rPr lang="pt-BR" sz="25000" b="1" dirty="0">
                <a:solidFill>
                  <a:srgbClr val="FD5E6D"/>
                </a:solidFill>
                <a:latin typeface="Avenir Next"/>
              </a:rPr>
              <a:t>.</a:t>
            </a:r>
            <a:endParaRPr sz="25000" b="1" dirty="0">
              <a:solidFill>
                <a:srgbClr val="FD5E6D"/>
              </a:solidFill>
              <a:latin typeface="Avenir N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4002" y="4902200"/>
            <a:ext cx="1454028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3" y="6426200"/>
            <a:ext cx="6862064" cy="777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>
                <a:solidFill>
                  <a:srgbClr val="FFFFFF"/>
                </a:solidFill>
                <a:latin typeface="Avenir Next"/>
              </a:rPr>
              <a:t>A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página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, a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margem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, o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módulo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 de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espaçamento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 e o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raio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. Todo o resto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deriva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daqui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2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01685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6179619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página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2235200"/>
            <a:ext cx="6935216" cy="2377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16:9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customizado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,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não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o 16:9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padrão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do PowerPoint. Deck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em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outro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formato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entra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distorcido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-- o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botão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Page Size da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faixa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converte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.</a:t>
            </a:r>
          </a:p>
          <a:p>
            <a:pPr algn="l">
              <a:lnSpc>
                <a:spcPct val="130000"/>
              </a:lnSpc>
            </a:pPr>
            <a:endParaRPr sz="2000" dirty="0">
              <a:solidFill>
                <a:srgbClr val="436AE1"/>
              </a:solidFill>
              <a:latin typeface="Avenir Next" panose="020B0503020202020204" pitchFamily="34" charset="0"/>
            </a:endParaRPr>
          </a:p>
          <a:p>
            <a:pPr algn="l">
              <a:lnSpc>
                <a:spcPct val="130000"/>
              </a:lnSpc>
            </a:pP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A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altura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é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a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ponte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entre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mídias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: 1080px equivale a 890,63pt, logo 1pt = 1,2126px.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2354" y="1727200"/>
            <a:ext cx="10178196" cy="5726003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2354" y="7961203"/>
            <a:ext cx="1017819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LARGURA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2354" y="8164403"/>
            <a:ext cx="1017819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1583,13 pt  ·  1920 px  ·  55,8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2354" y="8666053"/>
            <a:ext cx="1017819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ALTURA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2354" y="8869253"/>
            <a:ext cx="1017819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890,63 pt  ·  1080 px  ·  31,4 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2354" y="9370903"/>
            <a:ext cx="1017819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PROPORÇÃO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2354" y="9574103"/>
            <a:ext cx="1017819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16:9 customizado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6179619" cy="1685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 err="1">
                <a:solidFill>
                  <a:srgbClr val="FD5E6D"/>
                </a:solidFill>
                <a:latin typeface="Avenir Next"/>
              </a:rPr>
              <a:t>Margem</a:t>
            </a:r>
            <a:r>
              <a:rPr sz="6000" b="1" dirty="0">
                <a:solidFill>
                  <a:srgbClr val="FD5E6D"/>
                </a:solidFill>
                <a:latin typeface="Avenir Next"/>
              </a:rPr>
              <a:t> e </a:t>
            </a:r>
            <a:r>
              <a:rPr sz="6000" b="1" dirty="0" err="1">
                <a:solidFill>
                  <a:srgbClr val="FD5E6D"/>
                </a:solidFill>
                <a:latin typeface="Avenir Next"/>
              </a:rPr>
              <a:t>área</a:t>
            </a:r>
            <a:r>
              <a:rPr sz="6000" b="1" dirty="0">
                <a:solidFill>
                  <a:srgbClr val="FD5E6D"/>
                </a:solidFill>
                <a:latin typeface="Avenir Next"/>
              </a:rPr>
              <a:t> </a:t>
            </a:r>
            <a:r>
              <a:rPr sz="6000" b="1" dirty="0" err="1">
                <a:solidFill>
                  <a:srgbClr val="FD5E6D"/>
                </a:solidFill>
                <a:latin typeface="Avenir Next"/>
              </a:rPr>
              <a:t>útil</a:t>
            </a:r>
            <a:endParaRPr sz="6000" b="1" dirty="0">
              <a:solidFill>
                <a:srgbClr val="FD5E6D"/>
              </a:solidFill>
              <a:latin typeface="Avenir N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2921000"/>
            <a:ext cx="7508538" cy="1177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A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margem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de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segurança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delimita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onde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o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conteúdo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não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entra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. Ela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existe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para o slide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sobreviver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a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recorte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,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projeção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e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reaproveitamento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em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outra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mídia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2354" y="1727200"/>
            <a:ext cx="10178196" cy="5726003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50970" y="2215816"/>
            <a:ext cx="9200964" cy="4915928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2354" y="7961203"/>
            <a:ext cx="1017819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2354" y="8164403"/>
            <a:ext cx="1017819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76 pt  ·  92 px  ·  2,68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2354" y="8666053"/>
            <a:ext cx="1017819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ÁREA ÚTIL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2354" y="8869253"/>
            <a:ext cx="1017819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1431 x 765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2354" y="9370903"/>
            <a:ext cx="1017819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2354" y="9574103"/>
            <a:ext cx="1017819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50 pt (rodapé)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6179619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>
                <a:solidFill>
                  <a:srgbClr val="FD5E6D"/>
                </a:solidFill>
                <a:latin typeface="Avenir Next"/>
              </a:rPr>
              <a:t>O </a:t>
            </a:r>
            <a:r>
              <a:rPr sz="6000" b="1" dirty="0" err="1">
                <a:solidFill>
                  <a:srgbClr val="FD5E6D"/>
                </a:solidFill>
                <a:latin typeface="Avenir Next"/>
              </a:rPr>
              <a:t>módulo</a:t>
            </a:r>
            <a:r>
              <a:rPr sz="6000" b="1" dirty="0">
                <a:solidFill>
                  <a:srgbClr val="FD5E6D"/>
                </a:solidFill>
                <a:latin typeface="Avenir Next"/>
              </a:rPr>
              <a:t> de </a:t>
            </a:r>
            <a:r>
              <a:rPr sz="6000" b="1" dirty="0" err="1">
                <a:solidFill>
                  <a:srgbClr val="FD5E6D"/>
                </a:solidFill>
                <a:latin typeface="Avenir Next"/>
              </a:rPr>
              <a:t>espaçamento</a:t>
            </a:r>
            <a:endParaRPr sz="6000" b="1" dirty="0">
              <a:solidFill>
                <a:srgbClr val="FD5E6D"/>
              </a:solidFill>
              <a:latin typeface="Avenir N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2921000"/>
            <a:ext cx="6179619" cy="1177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Toda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distância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entre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colunas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, cards e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blocos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é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múltiplo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de 20pt.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Distância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que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não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é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múltiplo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de 20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é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acidente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,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não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20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decisão</a:t>
            </a:r>
            <a:r>
              <a:rPr sz="2000" dirty="0">
                <a:solidFill>
                  <a:srgbClr val="436AE1"/>
                </a:solidFill>
                <a:latin typeface="Avenir Next" panose="020B0503020202020204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2354" y="1727200"/>
            <a:ext cx="10178196" cy="5726003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50970" y="2215816"/>
            <a:ext cx="9200964" cy="4915928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450970" y="7067453"/>
            <a:ext cx="128583" cy="128583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08137" y="7067453"/>
            <a:ext cx="128583" cy="128583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965303" y="7067453"/>
            <a:ext cx="128583" cy="128583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222469" y="7067453"/>
            <a:ext cx="128583" cy="128583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479636" y="7067453"/>
            <a:ext cx="128583" cy="128583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36802" y="7067453"/>
            <a:ext cx="128583" cy="128583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93969" y="7067453"/>
            <a:ext cx="128583" cy="128583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251135" y="7067453"/>
            <a:ext cx="128583" cy="128583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2354" y="7961203"/>
            <a:ext cx="1017819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MÓDULO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2354" y="8164403"/>
            <a:ext cx="1017819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20 pt  ·  24 px  ·  0,71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2354" y="8666053"/>
            <a:ext cx="1017819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MÚLTIPLOS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2354" y="8869253"/>
            <a:ext cx="1017819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20 · 40 · 60 · 80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2354" y="9370903"/>
            <a:ext cx="1017819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RELAÇÃO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2354" y="9574103"/>
            <a:ext cx="1017819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o raio é ~1 módulo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Âncora de encaixe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2235200"/>
            <a:ext cx="13086252" cy="1927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dirty="0">
                <a:solidFill>
                  <a:srgbClr val="436AE1"/>
                </a:solidFill>
                <a:latin typeface="Avenir Next"/>
              </a:rPr>
              <a:t>A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âncora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não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é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 a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margem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. A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margem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delimita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 a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página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; a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âncora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é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 o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passo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 de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alinhamento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 entre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objetos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. São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papéis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diferentes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 e </a:t>
            </a:r>
            <a:r>
              <a:rPr sz="4400" b="0" dirty="0" err="1">
                <a:solidFill>
                  <a:srgbClr val="436AE1"/>
                </a:solidFill>
                <a:latin typeface="Avenir Next"/>
              </a:rPr>
              <a:t>convivem</a:t>
            </a:r>
            <a:r>
              <a:rPr sz="4400" b="0" dirty="0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4925059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PADRÃO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5153659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1,27 cm  ·  36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5687059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EM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5915659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44 px @1080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925059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153659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0,5 · 1 · 1,27 · 1,5 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5687059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PASSOS (cont.)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5915659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 · 2,5 · 3 · 4 · 5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9920351"/>
            <a:ext cx="1199573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Na faixa: grupo Alinhar, botões Âncora esq. e Âncora topo, com a medida escolhida no dropdown ao lado.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Raio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2235200"/>
            <a:ext cx="13086252" cy="3213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raio é um valor visual constante, não uma proporção: um card grande e um botão pequeno tem o mesmo arredondamento. É o que faz formas de tamanhos diferentes parecerem da mesma família.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621030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643890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20,62 pt  ·  25 px  ·  0,73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697230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EM OOXML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720090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raio / (menor lado / 2) x 50000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21030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43890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50000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97230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20090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9920351"/>
            <a:ext cx="1199573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Na faixa: Formas &gt; Rounded aplica; Tirar rounded desfaz; o dropdown Raio escolhe outra medida sem sair do sistema.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9087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dirty="0">
                <a:solidFill>
                  <a:srgbClr val="FD5E6D"/>
                </a:solidFill>
                <a:latin typeface="Avenir Next"/>
              </a:rPr>
              <a:t>COMO OS TRÊS SE COMBINAM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447800"/>
            <a:ext cx="9087675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 dirty="0" err="1">
                <a:solidFill>
                  <a:srgbClr val="FD5E6D"/>
                </a:solidFill>
                <a:latin typeface="Avenir Next" panose="020B0503020202020204" pitchFamily="34" charset="0"/>
              </a:rPr>
              <a:t>Margem</a:t>
            </a:r>
            <a:r>
              <a:rPr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, </a:t>
            </a:r>
            <a:r>
              <a:rPr sz="6000" b="1" dirty="0" err="1">
                <a:solidFill>
                  <a:srgbClr val="FD5E6D"/>
                </a:solidFill>
                <a:latin typeface="Avenir Next" panose="020B0503020202020204" pitchFamily="34" charset="0"/>
              </a:rPr>
              <a:t>módulo</a:t>
            </a:r>
            <a:r>
              <a:rPr sz="6000" b="1" dirty="0">
                <a:solidFill>
                  <a:srgbClr val="FD5E6D"/>
                </a:solidFill>
                <a:latin typeface="Avenir Next" panose="020B0503020202020204" pitchFamily="34" charset="0"/>
              </a:rPr>
              <a:t> e </a:t>
            </a:r>
            <a:r>
              <a:rPr sz="6000" b="1" dirty="0" err="1">
                <a:solidFill>
                  <a:srgbClr val="FD5E6D"/>
                </a:solidFill>
                <a:latin typeface="Avenir Next" panose="020B0503020202020204" pitchFamily="34" charset="0"/>
              </a:rPr>
              <a:t>raio</a:t>
            </a:r>
            <a:endParaRPr sz="6000" b="1" dirty="0">
              <a:solidFill>
                <a:srgbClr val="FD5E6D"/>
              </a:solidFill>
              <a:latin typeface="Avenir Next" panose="020B05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5201" y="2717800"/>
            <a:ext cx="8890000" cy="4794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A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margem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diz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onde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começa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. O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módulo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diz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de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quanto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em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quanto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se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anda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. O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raio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diz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como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a forma termina.</a:t>
            </a:r>
          </a:p>
          <a:p>
            <a:pPr algn="l">
              <a:lnSpc>
                <a:spcPct val="115000"/>
              </a:lnSpc>
            </a:pPr>
            <a:endParaRPr sz="3400" dirty="0">
              <a:solidFill>
                <a:srgbClr val="436AE1"/>
              </a:solidFill>
              <a:latin typeface="Avenir Next" panose="020B0503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Com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os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três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fixos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,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dois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slides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feitos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por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pessoas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diferentes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saem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parecidos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sem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combinação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prévia</a:t>
            </a:r>
            <a:r>
              <a:rPr lang="pt-BR" sz="3400" dirty="0">
                <a:solidFill>
                  <a:srgbClr val="436AE1"/>
                </a:solidFill>
                <a:latin typeface="Avenir Next" panose="020B0503020202020204" pitchFamily="34" charset="0"/>
              </a:rPr>
              <a:t>,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que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é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o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único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teste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que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importa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num design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14875" y="965200"/>
            <a:ext cx="8325675" cy="9202801"/>
          </a:xfrm>
          <a:prstGeom prst="roundRect">
            <a:avLst>
              <a:gd name="adj" fmla="val 3145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22875" y="1695640"/>
            <a:ext cx="7309675" cy="2491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dirty="0">
                <a:solidFill>
                  <a:srgbClr val="FFFFFF"/>
                </a:solidFill>
                <a:latin typeface="Avenir Next"/>
              </a:rPr>
              <a:t>76 pt de </a:t>
            </a:r>
            <a:r>
              <a:rPr sz="3400" b="1" dirty="0" err="1">
                <a:solidFill>
                  <a:srgbClr val="FFFFFF"/>
                </a:solidFill>
                <a:latin typeface="Avenir Next"/>
              </a:rPr>
              <a:t>margem</a:t>
            </a:r>
            <a:r>
              <a:rPr sz="3400" b="1" dirty="0">
                <a:solidFill>
                  <a:srgbClr val="FFFFFF"/>
                </a:solidFill>
                <a:latin typeface="Avenir Next"/>
              </a:rPr>
              <a:t>.</a:t>
            </a:r>
          </a:p>
          <a:p>
            <a:pPr algn="l">
              <a:lnSpc>
                <a:spcPct val="95000"/>
              </a:lnSpc>
            </a:pPr>
            <a:r>
              <a:rPr sz="3400" b="1" dirty="0">
                <a:solidFill>
                  <a:srgbClr val="FFFFFF"/>
                </a:solidFill>
                <a:latin typeface="Avenir Next"/>
              </a:rPr>
              <a:t>20 pt de </a:t>
            </a:r>
            <a:r>
              <a:rPr sz="3400" b="1" dirty="0" err="1">
                <a:solidFill>
                  <a:srgbClr val="FFFFFF"/>
                </a:solidFill>
                <a:latin typeface="Avenir Next"/>
              </a:rPr>
              <a:t>módulo</a:t>
            </a:r>
            <a:r>
              <a:rPr sz="3400" b="1" dirty="0">
                <a:solidFill>
                  <a:srgbClr val="FFFFFF"/>
                </a:solidFill>
                <a:latin typeface="Avenir Next"/>
              </a:rPr>
              <a:t>.</a:t>
            </a:r>
          </a:p>
          <a:p>
            <a:pPr algn="l">
              <a:lnSpc>
                <a:spcPct val="95000"/>
              </a:lnSpc>
            </a:pPr>
            <a:r>
              <a:rPr sz="3400" b="1" dirty="0">
                <a:solidFill>
                  <a:srgbClr val="FFFFFF"/>
                </a:solidFill>
                <a:latin typeface="Avenir Next"/>
              </a:rPr>
              <a:t>20,62 pt de </a:t>
            </a:r>
            <a:r>
              <a:rPr sz="3400" b="1" dirty="0" err="1">
                <a:solidFill>
                  <a:srgbClr val="FFFFFF"/>
                </a:solidFill>
                <a:latin typeface="Avenir Next"/>
              </a:rPr>
              <a:t>raio</a:t>
            </a:r>
            <a:r>
              <a:rPr sz="3400" b="1" dirty="0">
                <a:solidFill>
                  <a:srgbClr val="FFFFFF"/>
                </a:solidFill>
                <a:latin typeface="Avenir Next"/>
              </a:rPr>
              <a:t>.</a:t>
            </a:r>
          </a:p>
          <a:p>
            <a:pPr algn="l">
              <a:lnSpc>
                <a:spcPct val="95000"/>
              </a:lnSpc>
            </a:pPr>
            <a:endParaRPr sz="3400" b="1" dirty="0">
              <a:solidFill>
                <a:srgbClr val="FFFFFF"/>
              </a:solidFill>
              <a:latin typeface="Avenir Next"/>
            </a:endParaRPr>
          </a:p>
          <a:p>
            <a:pPr algn="l">
              <a:lnSpc>
                <a:spcPct val="95000"/>
              </a:lnSpc>
            </a:pPr>
            <a:r>
              <a:rPr sz="3400" b="1" dirty="0">
                <a:solidFill>
                  <a:srgbClr val="FFFFFF"/>
                </a:solidFill>
                <a:latin typeface="Avenir Next"/>
              </a:rPr>
              <a:t>Nada entre </a:t>
            </a:r>
            <a:r>
              <a:rPr sz="3400" b="1" dirty="0" err="1">
                <a:solidFill>
                  <a:srgbClr val="FFFFFF"/>
                </a:solidFill>
                <a:latin typeface="Avenir Next"/>
              </a:rPr>
              <a:t>eles</a:t>
            </a:r>
            <a:r>
              <a:rPr sz="3400" b="1" dirty="0">
                <a:solidFill>
                  <a:srgbClr val="FFFFFF"/>
                </a:solidFill>
                <a:latin typeface="Avenir Nex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1219200"/>
            <a:ext cx="14540280" cy="3847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 dirty="0">
                <a:solidFill>
                  <a:srgbClr val="FFFFFF"/>
                </a:solidFill>
                <a:latin typeface="Avenir Next"/>
              </a:rPr>
              <a:t>2</a:t>
            </a:r>
            <a:r>
              <a:rPr lang="pt-BR" sz="25000" b="1" dirty="0">
                <a:solidFill>
                  <a:srgbClr val="436AE1"/>
                </a:solidFill>
                <a:latin typeface="Avenir Next"/>
              </a:rPr>
              <a:t>.</a:t>
            </a:r>
            <a:endParaRPr sz="25000" b="1" dirty="0">
              <a:solidFill>
                <a:srgbClr val="436AE1"/>
              </a:solidFill>
              <a:latin typeface="Avenir N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4902200"/>
            <a:ext cx="14540280" cy="1138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 dirty="0">
                <a:solidFill>
                  <a:srgbClr val="FFFFFF"/>
                </a:solidFill>
                <a:latin typeface="Avenir Next"/>
              </a:rPr>
              <a:t>Cor</a:t>
            </a:r>
            <a:r>
              <a:rPr lang="pt-BR" sz="8000" b="1" dirty="0">
                <a:solidFill>
                  <a:srgbClr val="FFFFFF"/>
                </a:solidFill>
                <a:latin typeface="Avenir Next"/>
              </a:rPr>
              <a:t>es</a:t>
            </a:r>
            <a:endParaRPr sz="8000" b="1" dirty="0">
              <a:solidFill>
                <a:srgbClr val="FFFFFF"/>
              </a:solidFill>
              <a:latin typeface="Avenir Nex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5200" y="6426200"/>
            <a:ext cx="9087675" cy="3770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>
                <a:solidFill>
                  <a:srgbClr val="FFFFFF"/>
                </a:solidFill>
                <a:latin typeface="Avenir Next"/>
              </a:rPr>
              <a:t>Cinco slots.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Dois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carregam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tipo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. Um resolve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contraste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sozinho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981200"/>
            <a:ext cx="1272274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índices importam: a configuração de marca referência por número, não por nome.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3073401"/>
            <a:ext cx="3431870" cy="1992376"/>
          </a:xfrm>
          <a:prstGeom prst="roundRect">
            <a:avLst>
              <a:gd name="adj" fmla="val 131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200" y="3327400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581400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064000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#FD5E6D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1070" y="3073401"/>
            <a:ext cx="3431870" cy="1992376"/>
          </a:xfrm>
          <a:prstGeom prst="roundRect">
            <a:avLst>
              <a:gd name="adj" fmla="val 131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05070" y="3327400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5070" y="3581400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5070" y="4064000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#436AE1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6940" y="3073401"/>
            <a:ext cx="3431870" cy="1992376"/>
          </a:xfrm>
          <a:prstGeom prst="roundRect">
            <a:avLst>
              <a:gd name="adj" fmla="val 131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0940" y="3327400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0940" y="3581400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0940" y="4064000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#EEECE6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22810" y="3073401"/>
            <a:ext cx="3431870" cy="1992376"/>
          </a:xfrm>
          <a:prstGeom prst="roundRect">
            <a:avLst>
              <a:gd name="adj" fmla="val 131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76810" y="3327400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76810" y="3581400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76810" y="4064000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#FFFFFF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08680" y="3073401"/>
            <a:ext cx="3431870" cy="1992376"/>
          </a:xfrm>
          <a:prstGeom prst="roundRect">
            <a:avLst>
              <a:gd name="adj" fmla="val 131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962680" y="3327400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62680" y="3581400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Preto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62680" y="4064000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#000000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Rosa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2895600"/>
            <a:ext cx="7874000" cy="7272401"/>
          </a:xfrm>
          <a:prstGeom prst="roundRect">
            <a:avLst>
              <a:gd name="adj" fmla="val 3600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28956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1242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#FD5E6D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9878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42164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253, 94, 109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0800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3086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26200"/>
            <a:ext cx="953935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Cor de tipo 1. Statements, títulos, chapéus, números-destaque.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Azul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2895600"/>
            <a:ext cx="7874000" cy="7272401"/>
          </a:xfrm>
          <a:prstGeom prst="roundRect">
            <a:avLst>
              <a:gd name="adj" fmla="val 360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28956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1242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#436AE1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9878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42164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67, 106, 225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0800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3086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26200"/>
            <a:ext cx="953935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Cor de tipo 2. Corpo de texto, tópicos, legendas, manchetes.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Bege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2895600"/>
            <a:ext cx="7874000" cy="7272401"/>
          </a:xfrm>
          <a:prstGeom prst="roundRect">
            <a:avLst>
              <a:gd name="adj" fmla="val 36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28956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1242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#EEECE6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9878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42164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238, 236, 230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0800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3086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26200"/>
            <a:ext cx="953935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Fundo de conteúdo padrão. Nunca é cor de tipo.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Branco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2895600"/>
            <a:ext cx="7874000" cy="7272401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28956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1242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#FFFFFF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9878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42164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255, 255, 255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0800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3086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26200"/>
            <a:ext cx="953935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Fundo claro e texto sobre fundo saturado (regra de contraste).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Preto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2895600"/>
            <a:ext cx="7874000" cy="7272401"/>
          </a:xfrm>
          <a:prstGeom prst="roundRect">
            <a:avLst>
              <a:gd name="adj" fmla="val 36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28956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1242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#000000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9878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42164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0, 0, 0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080000"/>
            <a:ext cx="9539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308600"/>
            <a:ext cx="9539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26200"/>
            <a:ext cx="953935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Reserva. Não usar em tipo da marca.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PAPÉIS DE COR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tipo só tem duas cores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2895600"/>
            <a:ext cx="5889117" cy="72724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73200" y="3403600"/>
            <a:ext cx="4873117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3200" y="4368800"/>
            <a:ext cx="4873117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>
                <a:solidFill>
                  <a:srgbClr val="436AE1"/>
                </a:solidFill>
                <a:latin typeface="Avenir Next"/>
              </a:rPr>
              <a:t>Statements,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títulos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,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chapéus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e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números-destaque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.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É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a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cor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que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marca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hierarquia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alta.</a:t>
            </a:r>
            <a:endParaRPr sz="2000" b="0" dirty="0">
              <a:solidFill>
                <a:srgbClr val="436AE1"/>
              </a:solidFill>
              <a:latin typeface="Avenir Nex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08317" y="2895600"/>
            <a:ext cx="5889117" cy="72724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16317" y="3403600"/>
            <a:ext cx="4873117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317" y="4368800"/>
            <a:ext cx="487311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de texto, tópicos, legendas e manchetes. É a cor que se le em volume.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1434" y="2895600"/>
            <a:ext cx="5889117" cy="72724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59434" y="3403600"/>
            <a:ext cx="4873117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59434" y="4368800"/>
            <a:ext cx="487311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Não é escolha: aparece quando a regra de contraste age sobre fundo saturado.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B18B2-C232-DC67-ADDA-9EB02AE2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D6FE7B-6F53-9D50-D891-CB417AAAF112}"/>
              </a:ext>
            </a:extLst>
          </p:cNvPr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all" spc="30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PAPÉIS DE COR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26B01-296C-BED9-834C-91B6DF761D96}"/>
              </a:ext>
            </a:extLst>
          </p:cNvPr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O tipo só tem duas cores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9A56247-31DC-9260-B1A8-D566A138BA07}"/>
              </a:ext>
            </a:extLst>
          </p:cNvPr>
          <p:cNvSpPr/>
          <p:nvPr/>
        </p:nvSpPr>
        <p:spPr>
          <a:xfrm>
            <a:off x="965200" y="2895600"/>
            <a:ext cx="5889117" cy="3335401"/>
          </a:xfrm>
          <a:prstGeom prst="roundRect">
            <a:avLst>
              <a:gd name="adj" fmla="val 78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D617C-2FD2-65BD-C727-4B3C8161D5A7}"/>
              </a:ext>
            </a:extLst>
          </p:cNvPr>
          <p:cNvSpPr txBox="1"/>
          <p:nvPr/>
        </p:nvSpPr>
        <p:spPr>
          <a:xfrm>
            <a:off x="1473200" y="3403600"/>
            <a:ext cx="4873117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Rosa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pal0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5FCCAB-FBDE-1C98-434F-6CBEA64DD71C}"/>
              </a:ext>
            </a:extLst>
          </p:cNvPr>
          <p:cNvSpPr txBox="1"/>
          <p:nvPr/>
        </p:nvSpPr>
        <p:spPr>
          <a:xfrm>
            <a:off x="1473200" y="4368800"/>
            <a:ext cx="4873117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Statements,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títulos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,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chapéus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e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números-destaque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.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É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a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cor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que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marca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hierarquia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alta.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436AE1"/>
              </a:solidFill>
              <a:effectLst/>
              <a:uLnTx/>
              <a:uFillTx/>
              <a:latin typeface="Avenir Next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B004C6-F681-5EB9-1D69-5C67AA9F8125}"/>
              </a:ext>
            </a:extLst>
          </p:cNvPr>
          <p:cNvSpPr/>
          <p:nvPr/>
        </p:nvSpPr>
        <p:spPr>
          <a:xfrm>
            <a:off x="7108317" y="2895600"/>
            <a:ext cx="5889117" cy="3335401"/>
          </a:xfrm>
          <a:prstGeom prst="roundRect">
            <a:avLst>
              <a:gd name="adj" fmla="val 78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8284E-48B9-C6CD-F9F7-7F3C6611A445}"/>
              </a:ext>
            </a:extLst>
          </p:cNvPr>
          <p:cNvSpPr txBox="1"/>
          <p:nvPr/>
        </p:nvSpPr>
        <p:spPr>
          <a:xfrm>
            <a:off x="7616317" y="3403600"/>
            <a:ext cx="4873117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Azul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pal1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C1504B-AA13-19C5-DFBD-6E336A9EB892}"/>
              </a:ext>
            </a:extLst>
          </p:cNvPr>
          <p:cNvSpPr txBox="1"/>
          <p:nvPr/>
        </p:nvSpPr>
        <p:spPr>
          <a:xfrm>
            <a:off x="7616317" y="4368800"/>
            <a:ext cx="487311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Corpo de texto, tópicos, legendas e manchetes. É a cor que se le em volume.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5B27F6-6E16-875F-509A-115F13D5D83C}"/>
              </a:ext>
            </a:extLst>
          </p:cNvPr>
          <p:cNvSpPr/>
          <p:nvPr/>
        </p:nvSpPr>
        <p:spPr>
          <a:xfrm>
            <a:off x="13251434" y="2895600"/>
            <a:ext cx="5889117" cy="3335401"/>
          </a:xfrm>
          <a:prstGeom prst="roundRect">
            <a:avLst>
              <a:gd name="adj" fmla="val 78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318140-F72E-2B1D-DA42-09AA60B6AD1C}"/>
              </a:ext>
            </a:extLst>
          </p:cNvPr>
          <p:cNvSpPr txBox="1"/>
          <p:nvPr/>
        </p:nvSpPr>
        <p:spPr>
          <a:xfrm>
            <a:off x="13759434" y="3403600"/>
            <a:ext cx="4873117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Branco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pal3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9936D-CE8C-1CF8-1B0F-1CE3709079B5}"/>
              </a:ext>
            </a:extLst>
          </p:cNvPr>
          <p:cNvSpPr txBox="1"/>
          <p:nvPr/>
        </p:nvSpPr>
        <p:spPr>
          <a:xfrm>
            <a:off x="13759434" y="4368800"/>
            <a:ext cx="487311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Não é escolha: aparece quando a regra de contraste age sobre fundo saturado.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94E82-FBAF-0BFC-8FCD-325E877F4240}"/>
              </a:ext>
            </a:extLst>
          </p:cNvPr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all" spc="30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DBB0D6-BA3B-AAF9-8987-1E306402F146}"/>
              </a:ext>
            </a:extLst>
          </p:cNvPr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88989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9087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REGRA DE CONTRASTE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447800"/>
            <a:ext cx="9087675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nunca some no fundo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3403600"/>
            <a:ext cx="9087675" cy="642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dirty="0">
                <a:solidFill>
                  <a:srgbClr val="436AE1"/>
                </a:solidFill>
                <a:latin typeface="Avenir Next"/>
              </a:rPr>
              <a:t>Se a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cor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do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texto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for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exatamente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a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cor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do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fundo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, o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texto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vira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branco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.</a:t>
            </a:r>
          </a:p>
          <a:p>
            <a:pPr algn="l">
              <a:lnSpc>
                <a:spcPct val="115000"/>
              </a:lnSpc>
            </a:pPr>
            <a:endParaRPr sz="4400" dirty="0">
              <a:solidFill>
                <a:srgbClr val="436AE1"/>
              </a:solidFill>
              <a:latin typeface="Avenir Next"/>
            </a:endParaRPr>
          </a:p>
          <a:p>
            <a:pPr algn="l">
              <a:lnSpc>
                <a:spcPct val="115000"/>
              </a:lnSpc>
            </a:pPr>
            <a:r>
              <a:rPr sz="4400" dirty="0">
                <a:solidFill>
                  <a:srgbClr val="436AE1"/>
                </a:solidFill>
                <a:latin typeface="Avenir Next"/>
              </a:rPr>
              <a:t>O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fundo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relevante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é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,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nesta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ordem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: o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preenchimento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da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própria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forma;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senão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o do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grupo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que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a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contém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;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senão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o do slide -- e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isso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inclui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uma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forma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sólida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cobrindo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a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página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,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que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é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como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a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maioria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dos decks reais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é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/>
              </a:rPr>
              <a:t>montada</a:t>
            </a:r>
            <a:r>
              <a:rPr sz="4400" dirty="0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14875" y="965200"/>
            <a:ext cx="8325675" cy="9202801"/>
          </a:xfrm>
          <a:prstGeom prst="roundRect">
            <a:avLst>
              <a:gd name="adj" fmla="val 3145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22875" y="4499800"/>
            <a:ext cx="7309675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Título 60 é rosa.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Sobre fundo rosa,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ele nasce branco.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Fundos permitidos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2895600"/>
            <a:ext cx="4353337" cy="7272401"/>
          </a:xfrm>
          <a:prstGeom prst="roundRect">
            <a:avLst>
              <a:gd name="adj" fmla="val 6015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73200" y="3403600"/>
            <a:ext cx="3337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3200" y="4013200"/>
            <a:ext cx="33373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fundo de conteúdo padrão. Tipo em rosa e azul.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2537" y="2895600"/>
            <a:ext cx="4353337" cy="7272401"/>
          </a:xfrm>
          <a:prstGeom prst="roundRect">
            <a:avLst>
              <a:gd name="adj" fmla="val 6015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537" y="3403600"/>
            <a:ext cx="3337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537" y="4013200"/>
            <a:ext cx="33373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Cards e areas de respiro. Tipo em rosa e azul.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79875" y="2895600"/>
            <a:ext cx="4353337" cy="7272401"/>
          </a:xfrm>
          <a:prstGeom prst="roundRect">
            <a:avLst>
              <a:gd name="adj" fmla="val 6015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87875" y="3403600"/>
            <a:ext cx="3337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7875" y="4013200"/>
            <a:ext cx="33373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Aberturas e destaques. Tipo em branco.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787213" y="2895600"/>
            <a:ext cx="4353337" cy="7272401"/>
          </a:xfrm>
          <a:prstGeom prst="roundRect">
            <a:avLst>
              <a:gd name="adj" fmla="val 6015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295213" y="3403600"/>
            <a:ext cx="3337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95213" y="4013200"/>
            <a:ext cx="333733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Aberturas e destaques. Tipo em branco.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Cor: o que vale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981200"/>
            <a:ext cx="1308625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paleta é fechada. Não existe 'um azul um pouco mais claro'.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3073400"/>
            <a:ext cx="8960675" cy="7094601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73200" y="3581400"/>
            <a:ext cx="7944675" cy="503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dirty="0">
                <a:solidFill>
                  <a:srgbClr val="FD5E6D"/>
                </a:solidFill>
                <a:latin typeface="Avenir Next" panose="020B0503020202020204" pitchFamily="34" charset="0"/>
              </a:rPr>
              <a:t>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3200" y="4389799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Usar os cinco slots como estao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3200" y="4973999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 err="1">
                <a:solidFill>
                  <a:srgbClr val="436AE1"/>
                </a:solidFill>
                <a:latin typeface="Avenir Next"/>
              </a:rPr>
              <a:t>Deixar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a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regra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de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contraste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decidir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o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branco</a:t>
            </a:r>
            <a:endParaRPr sz="2000" b="0" dirty="0">
              <a:solidFill>
                <a:srgbClr val="436AE1"/>
              </a:solidFill>
              <a:latin typeface="Avenir Nex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3200" y="5558199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Bege como fundo padrão de conteúdo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3200" y="6142399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Rosa e azul como os dois papéis de tipo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79875" y="3073400"/>
            <a:ext cx="8960675" cy="7094601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87875" y="3581400"/>
            <a:ext cx="7944675" cy="503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dirty="0">
                <a:solidFill>
                  <a:srgbClr val="FD5E6D"/>
                </a:solidFill>
                <a:latin typeface="Avenir Next" panose="020B0503020202020204" pitchFamily="34" charset="0"/>
              </a:rPr>
              <a:t>NUNCA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7875" y="4389799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Criar tom intermediário 'para variar'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7875" y="4973999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preto em conteúdo de marca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87875" y="5558199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fundo fora dos quatro permitidos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7875" y="6142399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Transparência para 'suavizar' uma cor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1219200"/>
            <a:ext cx="14540280" cy="3847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 dirty="0">
                <a:solidFill>
                  <a:srgbClr val="FFFFFF"/>
                </a:solidFill>
                <a:latin typeface="Avenir Next"/>
              </a:rPr>
              <a:t>3</a:t>
            </a:r>
            <a:r>
              <a:rPr lang="pt-BR" sz="25000" b="1" dirty="0">
                <a:solidFill>
                  <a:srgbClr val="FD5E6D"/>
                </a:solidFill>
                <a:latin typeface="Avenir Next"/>
              </a:rPr>
              <a:t>.</a:t>
            </a:r>
            <a:endParaRPr sz="25000" b="1" dirty="0">
              <a:solidFill>
                <a:srgbClr val="FD5E6D"/>
              </a:solidFill>
              <a:latin typeface="Avenir N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4902200"/>
            <a:ext cx="1454028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Tipografia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6426200"/>
            <a:ext cx="9087675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Uma família, treze estilos. Cada um já traz peso, cor e entrelinha -- escolher o estilo decide as quatro coisas.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TIPOGRAFIA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981200"/>
            <a:ext cx="1272274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Treze corpos, nada entre eles. Se não está aqui, não é do sistema.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3073400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200" y="3327400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581400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Big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064000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rosa · 1.00x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1070" y="3073400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05070" y="3327400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5070" y="3581400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5070" y="4064000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rosa · 0.80x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6940" y="3073400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0940" y="3327400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0940" y="3581400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Manchete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0940" y="4064000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azul · 0.90x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22810" y="3073400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76810" y="3327400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76810" y="3581400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76810" y="4064000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rosa · 0.90x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08680" y="3073400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962680" y="3327400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62680" y="3581400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Destaque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62680" y="4064000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Regular · azul · 1.15x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5200" y="5522933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19200" y="5776933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6030933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Subtítulo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0" y="6513533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rosa · 0.95x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51070" y="5522933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05070" y="5776933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5070" y="6030933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Tópico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5070" y="6513533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azul · 1.00x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6940" y="5522933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0940" y="5776933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0940" y="6030933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0940" y="6513533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Regular · azul · 1.00x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2810" y="5522933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276810" y="5776933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76810" y="6030933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Apoio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76810" y="6513533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708680" y="5522933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5962680" y="5776933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62680" y="6030933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Chapéu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962680" y="6513533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rosa · 1.00x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5200" y="7972467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219200" y="8226467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9200" y="8480467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9200" y="8963067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51070" y="7972467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05070" y="8226467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05070" y="8480467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Legenda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5070" y="8963067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azul · 1.30x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36940" y="7972467"/>
            <a:ext cx="3431870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90940" y="8226467"/>
            <a:ext cx="29238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0940" y="8480467"/>
            <a:ext cx="29238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0940" y="8963067"/>
            <a:ext cx="29238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azul · 1.00x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Big Number 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303px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O número que carrega a página inteira. Um por slide, sem concorrência.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4020375"/>
            <a:ext cx="18175351" cy="317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 dirty="0">
                <a:solidFill>
                  <a:srgbClr val="FD5E6D"/>
                </a:solidFill>
                <a:latin typeface="Avenir Next"/>
              </a:rP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Statement 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0.80x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146px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A frase-manifesto. Ponto final em azul; sobre fundo azul, o texto vira branco e o ponto rosa.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4236275"/>
            <a:ext cx="18175351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 dirty="0">
                <a:solidFill>
                  <a:srgbClr val="FD5E6D"/>
                </a:solidFill>
                <a:latin typeface="Avenir Next"/>
              </a:rPr>
              <a:t>A </a:t>
            </a:r>
            <a:r>
              <a:rPr sz="12000" b="1" dirty="0" err="1">
                <a:solidFill>
                  <a:srgbClr val="FD5E6D"/>
                </a:solidFill>
                <a:latin typeface="Avenir Next"/>
              </a:rPr>
              <a:t>marca</a:t>
            </a:r>
            <a:r>
              <a:rPr sz="12000" b="1" dirty="0">
                <a:solidFill>
                  <a:srgbClr val="FD5E6D"/>
                </a:solidFill>
                <a:latin typeface="Avenir Next"/>
              </a:rPr>
              <a:t> </a:t>
            </a:r>
            <a:r>
              <a:rPr sz="12000" b="1" dirty="0" err="1">
                <a:solidFill>
                  <a:srgbClr val="FD5E6D"/>
                </a:solidFill>
                <a:latin typeface="Avenir Next"/>
              </a:rPr>
              <a:t>não</a:t>
            </a:r>
            <a:endParaRPr sz="12000" b="1" dirty="0">
              <a:solidFill>
                <a:srgbClr val="FD5E6D"/>
              </a:solidFill>
              <a:latin typeface="Avenir Next"/>
            </a:endParaRPr>
          </a:p>
          <a:p>
            <a:pPr algn="l">
              <a:lnSpc>
                <a:spcPct val="80000"/>
              </a:lnSpc>
            </a:pPr>
            <a:r>
              <a:rPr sz="12000" b="1" dirty="0" err="1">
                <a:solidFill>
                  <a:srgbClr val="FD5E6D"/>
                </a:solidFill>
                <a:latin typeface="Avenir Next"/>
              </a:rPr>
              <a:t>é</a:t>
            </a:r>
            <a:r>
              <a:rPr sz="12000" b="1" dirty="0">
                <a:solidFill>
                  <a:srgbClr val="FD5E6D"/>
                </a:solidFill>
                <a:latin typeface="Avenir Next"/>
              </a:rPr>
              <a:t> o </a:t>
            </a:r>
            <a:r>
              <a:rPr sz="12000" b="1" dirty="0" err="1">
                <a:solidFill>
                  <a:srgbClr val="FD5E6D"/>
                </a:solidFill>
                <a:latin typeface="Avenir Next"/>
              </a:rPr>
              <a:t>que</a:t>
            </a:r>
            <a:r>
              <a:rPr sz="12000" b="1" dirty="0">
                <a:solidFill>
                  <a:srgbClr val="FD5E6D"/>
                </a:solidFill>
                <a:latin typeface="Avenir Next"/>
              </a:rPr>
              <a:t> </a:t>
            </a:r>
            <a:r>
              <a:rPr sz="12000" b="1" dirty="0" err="1">
                <a:solidFill>
                  <a:srgbClr val="FD5E6D"/>
                </a:solidFill>
                <a:latin typeface="Avenir Next"/>
              </a:rPr>
              <a:t>você</a:t>
            </a:r>
            <a:r>
              <a:rPr sz="12000" b="1" dirty="0">
                <a:solidFill>
                  <a:srgbClr val="FD5E6D"/>
                </a:solidFill>
                <a:latin typeface="Avenir Next"/>
              </a:rPr>
              <a:t> </a:t>
            </a:r>
            <a:r>
              <a:rPr sz="12000" b="1" dirty="0" err="1">
                <a:solidFill>
                  <a:srgbClr val="FD5E6D"/>
                </a:solidFill>
                <a:latin typeface="Avenir Next"/>
              </a:rPr>
              <a:t>diz</a:t>
            </a:r>
            <a:r>
              <a:rPr sz="12000" b="1" dirty="0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Manchete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97px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Título de abertura de capítulo.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4642675"/>
            <a:ext cx="18175351" cy="193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O começo de</a:t>
            </a:r>
          </a:p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um capítulo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73px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Título de página.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226875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de página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Destaque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1.15x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53px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Corpo de destaque e manifesto. O maior corpo que ainda é texto, não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4965255"/>
            <a:ext cx="18175351" cy="1285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corpo de destaque carrega a ideia principal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sem virar título.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Subtítulo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41px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Subtítulo e descritivo abaixo do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391975"/>
            <a:ext cx="18175351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Subtítulo que explica o título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Tópico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Título de tópico ou de card.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430075"/>
            <a:ext cx="18175351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 de tópico ou de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29px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Texto corrido. O padrão de toda caixa nova.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303075"/>
            <a:ext cx="18175351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Texto corrido. É o estilo que toda caixa nova recebe ao nascer,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porque é o que mais aparece num deck de verdade.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Apoio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Texto de apoio em pilares e colunas.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277675"/>
            <a:ext cx="18175351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de apoio em pilares e colunas. Respira mais que o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porque costuma vir em bloco estreito.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Chapéu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22px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Chapéu acima do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493575"/>
            <a:ext cx="181753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CHAPÉU ACIMA DO TÍTULO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18px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Texto corrido pequeno, em slides densos.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360225"/>
            <a:ext cx="18175351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Texto corrido pequeno, para slides densos onde 24pt não caberia.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A entrelinha de 1,3x mantém a leitura confortável mesmo apertado.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Legenda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Legendas, notas e fontes.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409755"/>
            <a:ext cx="18175351" cy="39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Legenda de imagem, nota de rodapé ou fonte de dado.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Fonte: CBA B+G,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CAPS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27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27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534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534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041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7041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5480" y="9082151"/>
            <a:ext cx="35080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5480" y="9361551"/>
            <a:ext cx="350807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9920351"/>
            <a:ext cx="145402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Rótulo em caixa alta. Mesmo corpo da Legenda 12, entrelinha diferente.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5531675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Rótulo em caixa 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8579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ENTRELINHA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447800"/>
            <a:ext cx="8579675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Quanto maior o corpo,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mais apertada a linha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3403600"/>
            <a:ext cx="8579675" cy="198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Não é arbitrario. Em 250 e 120pt o espaço entre linhas já é enorme em valor absoluto: o multiplicador comprime para o bloco ler como uma massa só.</a:t>
            </a:r>
          </a:p>
          <a:p>
            <a:pPr algn="l">
              <a:lnSpc>
                <a:spcPct val="130000"/>
              </a:lnSpc>
            </a:pPr>
            <a:endParaRPr sz="2000" b="0">
              <a:solidFill>
                <a:srgbClr val="436AE1"/>
              </a:solidFill>
              <a:latin typeface="Avenir Next"/>
            </a:endParaRP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Em 12 e 15pt acontece o inverso -- a linha precisa de ar para o olho achar a proxima.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0875" y="1346200"/>
            <a:ext cx="8579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Sempre exata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0875" y="1803400"/>
            <a:ext cx="857967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Multiplo do corpo, nunca 'simples' ou 'duplo', que variam com a fonte e quebram entre máquinas.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0875" y="2806700"/>
            <a:ext cx="8579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Pertence ao estilo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0875" y="3263900"/>
            <a:ext cx="857967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Legenda 12 e CAPS 12 dividem o corpo e divergem na entrelinha. Uma tabela por tamanho não descreveria os dois.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0875" y="4267200"/>
            <a:ext cx="8579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Há uma tabela por tamanho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0875" y="4724400"/>
            <a:ext cx="857967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Ela alimenta os botões de Entrelinha e age em texto sem estilo. Onde discordam, o estilo manda.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3566EE-F0EF-1787-4ABE-E6A197692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1C926-289D-17A5-9B50-E50A6B90D897}"/>
              </a:ext>
            </a:extLst>
          </p:cNvPr>
          <p:cNvSpPr txBox="1"/>
          <p:nvPr/>
        </p:nvSpPr>
        <p:spPr>
          <a:xfrm>
            <a:off x="965200" y="965200"/>
            <a:ext cx="8579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ENTRELINHA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1FD16-2942-404B-C671-38BB74C7C354}"/>
              </a:ext>
            </a:extLst>
          </p:cNvPr>
          <p:cNvSpPr txBox="1"/>
          <p:nvPr/>
        </p:nvSpPr>
        <p:spPr>
          <a:xfrm>
            <a:off x="965200" y="1447800"/>
            <a:ext cx="8579675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Quanto </a:t>
            </a:r>
            <a:r>
              <a:rPr kumimoji="0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maior</a:t>
            </a: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o </a:t>
            </a:r>
            <a:r>
              <a:rPr kumimoji="0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corpo</a:t>
            </a: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mais</a:t>
            </a: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apertada</a:t>
            </a: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a </a:t>
            </a:r>
            <a:r>
              <a:rPr kumimoji="0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FD5E6D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linha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rgbClr val="FD5E6D"/>
              </a:solidFill>
              <a:effectLst/>
              <a:uLnTx/>
              <a:uFillTx/>
              <a:latin typeface="Avenir Nex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549C3-9963-86FC-081F-C808B9609818}"/>
              </a:ext>
            </a:extLst>
          </p:cNvPr>
          <p:cNvSpPr txBox="1"/>
          <p:nvPr/>
        </p:nvSpPr>
        <p:spPr>
          <a:xfrm>
            <a:off x="965200" y="3403600"/>
            <a:ext cx="8579675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Não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é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arbitrario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 Em 250 e 120pt o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espaço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entre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linhas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já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é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enorme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em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valor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absoluto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: o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multiplicador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comprime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para o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bloco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ler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como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uma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massa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só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i="0" u="none" strike="noStrike" kern="1200" normalizeH="0" baseline="0" noProof="0" dirty="0">
              <a:ln>
                <a:noFill/>
              </a:ln>
              <a:solidFill>
                <a:srgbClr val="436AE1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Em 12 e 15pt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acontece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o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inverso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-- a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linha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precisa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de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ar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para o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olho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 achar a </a:t>
            </a:r>
            <a:r>
              <a:rPr kumimoji="0" sz="2400" i="0" u="none" strike="noStrike" kern="120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proxima</a:t>
            </a:r>
            <a:r>
              <a:rPr kumimoji="0" sz="2400" i="0" u="none" strike="noStrike" kern="120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EAC16-130D-F419-4CF8-0EC0EE330B17}"/>
              </a:ext>
            </a:extLst>
          </p:cNvPr>
          <p:cNvSpPr txBox="1"/>
          <p:nvPr/>
        </p:nvSpPr>
        <p:spPr>
          <a:xfrm>
            <a:off x="965200" y="7043289"/>
            <a:ext cx="500017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Sempre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exata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436AE1"/>
              </a:solidFill>
              <a:effectLst/>
              <a:uLnTx/>
              <a:uFillTx/>
              <a:latin typeface="Avenir Nex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16476-A1B3-D56F-58B6-BE112276E8EC}"/>
              </a:ext>
            </a:extLst>
          </p:cNvPr>
          <p:cNvSpPr txBox="1"/>
          <p:nvPr/>
        </p:nvSpPr>
        <p:spPr>
          <a:xfrm>
            <a:off x="965200" y="7500489"/>
            <a:ext cx="5000171" cy="582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Multiplo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do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corpo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nunca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'simples'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ou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'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duplo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',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que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variam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com a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fonte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quebram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entre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máquinas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EC9A5-A4A9-5C7A-E34B-98169CAE20CA}"/>
              </a:ext>
            </a:extLst>
          </p:cNvPr>
          <p:cNvSpPr txBox="1"/>
          <p:nvPr/>
        </p:nvSpPr>
        <p:spPr>
          <a:xfrm>
            <a:off x="6804891" y="7043289"/>
            <a:ext cx="500017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Pertence ao estilo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8487C-9A31-29A4-64D0-E0C49473E7CD}"/>
              </a:ext>
            </a:extLst>
          </p:cNvPr>
          <p:cNvSpPr txBox="1"/>
          <p:nvPr/>
        </p:nvSpPr>
        <p:spPr>
          <a:xfrm>
            <a:off x="6804891" y="7500489"/>
            <a:ext cx="5000171" cy="882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Legenda 12 e CAPS 12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dividem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corpo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divergem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na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entrelinha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. Uma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tabela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por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tamanho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não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descreveria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os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dois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169E9-3A96-AB2C-63B7-D7E5FA18C210}"/>
              </a:ext>
            </a:extLst>
          </p:cNvPr>
          <p:cNvSpPr txBox="1"/>
          <p:nvPr/>
        </p:nvSpPr>
        <p:spPr>
          <a:xfrm>
            <a:off x="12644582" y="7069602"/>
            <a:ext cx="500017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Há uma tabela por tamanho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3DFFE3-DD33-1114-B267-101EEF1B00FB}"/>
              </a:ext>
            </a:extLst>
          </p:cNvPr>
          <p:cNvSpPr txBox="1"/>
          <p:nvPr/>
        </p:nvSpPr>
        <p:spPr>
          <a:xfrm>
            <a:off x="12644582" y="7526802"/>
            <a:ext cx="5000171" cy="582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Ela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alimenta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os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botões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de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Entrelinha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e age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texto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sem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estilo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. Onde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discordam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, 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estilo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manda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6E79B0-C83A-4E0C-6077-5694DD48BC20}"/>
              </a:ext>
            </a:extLst>
          </p:cNvPr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all" spc="30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TIPOGRAFIA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C690D6-E462-3252-44E8-5A2DE21F290A}"/>
              </a:ext>
            </a:extLst>
          </p:cNvPr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436AE1"/>
                </a:solidFill>
                <a:effectLst/>
                <a:uLnTx/>
                <a:uFillTx/>
                <a:latin typeface="Avenir Next"/>
                <a:ea typeface="+mn-ea"/>
                <a:cs typeface="+mn-c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982111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Entrelinha por estilo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2235200"/>
            <a:ext cx="13086252" cy="1285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valor efetivo em pontos é o corpo vezes o multiplicador.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4282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4511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250.0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5044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5273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0.80x   =   96.0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5806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" y="6035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   =   72.0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6568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6797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   =   54.0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7330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7559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1.15x   =   50.6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8092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8321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0.95x   =   32.3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8854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9083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28.0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6875" y="4282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06875" y="4511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24.0 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06875" y="5044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6875" y="5273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26.0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6875" y="5806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6875" y="6035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18.0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6875" y="6568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875" y="6797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19.5 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6875" y="7330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6875" y="7559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15.6 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6875" y="809244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6875" y="832104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12.0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9087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COMPORTAMENTO PROPRIO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447800"/>
            <a:ext cx="90876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ponto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717800"/>
            <a:ext cx="9087675" cy="771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Statement 120 pinta o ponto final de azul. Só o ponto, e só se a frase terminar em ponto.</a:t>
            </a:r>
          </a:p>
          <a:p>
            <a:pPr algn="l">
              <a:lnSpc>
                <a:spcPct val="115000"/>
              </a:lnSpc>
            </a:pPr>
            <a:endParaRPr sz="4400" b="0">
              <a:solidFill>
                <a:srgbClr val="436AE1"/>
              </a:solidFill>
              <a:latin typeface="Avenir Next"/>
            </a:endParaRP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Sobre fundo azul, o texto vira branco e o ponto vira rosa -- as duas regras agindo juntas sem se anular.</a:t>
            </a:r>
          </a:p>
          <a:p>
            <a:pPr algn="l">
              <a:lnSpc>
                <a:spcPct val="115000"/>
              </a:lnSpc>
            </a:pPr>
            <a:endParaRPr sz="4400" b="0">
              <a:solidFill>
                <a:srgbClr val="436AE1"/>
              </a:solidFill>
              <a:latin typeface="Avenir Next"/>
            </a:endParaRP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É o único estilo com comportamento próprio. Os outros doze são declarativos.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14875" y="965200"/>
            <a:ext cx="8325675" cy="9202801"/>
          </a:xfrm>
          <a:prstGeom prst="roundRect">
            <a:avLst>
              <a:gd name="adj" fmla="val 3145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22875" y="3585400"/>
            <a:ext cx="7309675" cy="396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Branco.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Ponto rosa</a:t>
            </a:r>
            <a:r>
              <a:rPr sz="12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9087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COMPORTAMENTO PROPRIO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447800"/>
            <a:ext cx="90876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Caixa 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717800"/>
            <a:ext cx="9087675" cy="6982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O CAPS 12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aplica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caixa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alta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e 3pt de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espaçamento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entre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letras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. Caixa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alta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sem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espaçamento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fecha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demais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em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Avenir Next Bold.</a:t>
            </a:r>
          </a:p>
          <a:p>
            <a:pPr algn="l">
              <a:lnSpc>
                <a:spcPct val="115000"/>
              </a:lnSpc>
            </a:pPr>
            <a:endParaRPr sz="4400" dirty="0">
              <a:solidFill>
                <a:srgbClr val="436AE1"/>
              </a:solidFill>
              <a:latin typeface="Avenir Next" panose="020B0503020202020204" pitchFamily="34" charset="0"/>
            </a:endParaRPr>
          </a:p>
          <a:p>
            <a:pPr algn="l">
              <a:lnSpc>
                <a:spcPct val="115000"/>
              </a:lnSpc>
            </a:pP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É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reversível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: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aplicar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outro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estilo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por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cima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desfaz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a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caixa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alta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e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zera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o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espaçamento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.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Nenhum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estilo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deixa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4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resíduo</a:t>
            </a:r>
            <a:r>
              <a:rPr sz="4400" dirty="0">
                <a:solidFill>
                  <a:srgbClr val="436AE1"/>
                </a:solidFill>
                <a:latin typeface="Avenir Next" panose="020B0503020202020204" pitchFamily="34" charset="0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14875" y="965200"/>
            <a:ext cx="8325675" cy="9202801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22875" y="5338000"/>
            <a:ext cx="7309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Rótulo em caixa alta</a:t>
            </a:r>
          </a:p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 três pontos</a:t>
            </a:r>
          </a:p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de espaçamento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1219200"/>
            <a:ext cx="14540280" cy="3847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 dirty="0">
                <a:solidFill>
                  <a:srgbClr val="FFFFFF"/>
                </a:solidFill>
                <a:latin typeface="Avenir Next"/>
              </a:rPr>
              <a:t>4</a:t>
            </a:r>
            <a:r>
              <a:rPr lang="pt-BR" sz="25000" b="1" dirty="0">
                <a:solidFill>
                  <a:srgbClr val="436AE1"/>
                </a:solidFill>
                <a:latin typeface="Avenir Next"/>
              </a:rPr>
              <a:t>.</a:t>
            </a:r>
            <a:endParaRPr sz="25000" b="1" dirty="0">
              <a:solidFill>
                <a:srgbClr val="436AE1"/>
              </a:solidFill>
              <a:latin typeface="Avenir N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4902200"/>
            <a:ext cx="14540280" cy="1138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 dirty="0" err="1">
                <a:solidFill>
                  <a:srgbClr val="FFFFFF"/>
                </a:solidFill>
                <a:latin typeface="Avenir Next"/>
              </a:rPr>
              <a:t>Componentes</a:t>
            </a:r>
            <a:endParaRPr sz="8000" b="1" dirty="0">
              <a:solidFill>
                <a:srgbClr val="FFFFFF"/>
              </a:solidFill>
              <a:latin typeface="Avenir Nex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5200" y="6426200"/>
            <a:ext cx="9087675" cy="3770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 err="1">
                <a:solidFill>
                  <a:srgbClr val="FFFFFF"/>
                </a:solidFill>
                <a:latin typeface="Avenir Next"/>
              </a:rPr>
              <a:t>Poucas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pecas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todas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derivadas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 do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raio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 e do </a:t>
            </a:r>
            <a:r>
              <a:rPr sz="2000" b="0" dirty="0" err="1">
                <a:solidFill>
                  <a:srgbClr val="FFFFFF"/>
                </a:solidFill>
                <a:latin typeface="Avenir Next"/>
              </a:rPr>
              <a:t>módulo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10472801"/>
            <a:ext cx="889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COMPONENTES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AS DUAS PECAS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Caixa e bloco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2895600"/>
            <a:ext cx="5889117" cy="72724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73200" y="3403600"/>
            <a:ext cx="4873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Caixa de 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3200" y="4013200"/>
            <a:ext cx="4873117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Nasce em Texto 24, âncorada na medida escolhida. Sem preenchimento e sem contorno.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08317" y="2895600"/>
            <a:ext cx="5889117" cy="72724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16317" y="3403600"/>
            <a:ext cx="4873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Rounded 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317" y="4013200"/>
            <a:ext cx="487311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de cor com o raio do sistema. Tambem nasce em Texto 24.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1434" y="2895600"/>
            <a:ext cx="5889117" cy="72724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59434" y="3403600"/>
            <a:ext cx="4873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59434" y="4013200"/>
            <a:ext cx="4873117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totalmente arredondado. Para rotulos e banners curtos, nunca para texto longo.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981200"/>
            <a:ext cx="12722745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 é rounded box com padding de um módulo. A grade sai da divisão da área útil com gaps múltiplos de 20pt.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3403600"/>
            <a:ext cx="4353337" cy="6764401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200" y="36576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9116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706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3942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2537" y="3403600"/>
            <a:ext cx="4353337" cy="6764401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26537" y="36576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6537" y="39116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464 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6537" y="43942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79875" y="3403600"/>
            <a:ext cx="4353337" cy="6764401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33875" y="36576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3875" y="39116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343 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3875" y="43942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787213" y="3403600"/>
            <a:ext cx="4353337" cy="6764401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41213" y="36576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1213" y="39116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40 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1213" y="43942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dois módulos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Imagens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2235200"/>
            <a:ext cx="13086252" cy="2570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Imagem entra com o mesmo raio das formas. Recorte é pelo botão Crop da faixa, que usa o comando nativo do PowerPoint -- nada de esticar para caber.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556768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579628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20,62 pt, igual as formas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632968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RECORTE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655828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Formas &gt; Crop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556768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PROPORÇÃO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79628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nunca distorcer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32968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LEGENDA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655828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Legenda 12, abaixo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Componentes: o que vale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981200"/>
            <a:ext cx="1308625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Quando bater a vontade de separar com um traco, a resposta é hierarquia.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3073400"/>
            <a:ext cx="8960675" cy="7094601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73200" y="3581400"/>
            <a:ext cx="7944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3200" y="39878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Espaço em branco em múltiplo de 20pt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3200" y="45720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Mudanca de corpo para separar assunto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3200" y="51562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de cor para agrupar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3200" y="57404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mesmo raio em tudo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79875" y="3073400"/>
            <a:ext cx="8960675" cy="7094601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87875" y="3581400"/>
            <a:ext cx="7944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D5E6D"/>
                </a:solidFill>
                <a:latin typeface="Avenir Next"/>
              </a:rPr>
              <a:t>NUNCA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7875" y="39878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Linha fina decorativa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7875" y="45720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Barra vertical de destaque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87875" y="51562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Sombra, gradiente ou brilho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7875" y="57404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Raio diferente 'porque a forma é menor'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1219200"/>
            <a:ext cx="14540280" cy="3847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 dirty="0">
                <a:solidFill>
                  <a:srgbClr val="FFFFFF"/>
                </a:solidFill>
                <a:latin typeface="Avenir Next"/>
              </a:rPr>
              <a:t>5</a:t>
            </a:r>
            <a:r>
              <a:rPr lang="pt-BR" sz="25000" b="1" dirty="0">
                <a:solidFill>
                  <a:srgbClr val="FD5E6D"/>
                </a:solidFill>
                <a:latin typeface="Avenir Next"/>
              </a:rPr>
              <a:t>.</a:t>
            </a:r>
            <a:endParaRPr sz="25000" b="1" dirty="0">
              <a:solidFill>
                <a:srgbClr val="FD5E6D"/>
              </a:solidFill>
              <a:latin typeface="Avenir N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4902200"/>
            <a:ext cx="1454028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6426200"/>
            <a:ext cx="9087675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Os layouts que o sistema aceita. Fora deles, é composição nova -- e composição nova pede revisão.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catálogo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981200"/>
            <a:ext cx="1272274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Herdados da modelagem do design system 3.0, com os tokens desta ferramenta.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3073400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200" y="33274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5814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Hero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0640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Statement que abre.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2537" y="3073400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26537" y="33274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6537" y="35814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Chapter divider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6537" y="40640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Número + título.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79875" y="3073400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33875" y="33274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3875" y="35814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Spec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3875" y="40640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Título + pares.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787213" y="3073400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41213" y="33274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1213" y="35814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Type specimen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1213" y="40640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Amostra + ficha.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5200" y="5522933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19200" y="5776933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6030933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Swatch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6513533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Cor + specs.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2537" y="5522933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26537" y="5776933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6537" y="6030933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Multi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6537" y="6513533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2 a 4 cards.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79875" y="5522933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33875" y="5776933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33875" y="6030933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Card grid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3875" y="6513533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Grade densa.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787213" y="5522933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041213" y="5776933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41213" y="6030933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Pillar dense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41213" y="6513533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Texto + lista.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5200" y="7972467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19200" y="8226467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9200" y="8480467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Quote side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9200" y="8963067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Texto + painel.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2537" y="7972467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26537" y="8226467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6537" y="8480467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Do / dont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26537" y="8963067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Duas colunas.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79875" y="7972467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433875" y="8226467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33875" y="8480467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Diagram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33875" y="8963067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Esquema em escala.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787213" y="7972467"/>
            <a:ext cx="4353337" cy="2195533"/>
          </a:xfrm>
          <a:prstGeom prst="roundRect">
            <a:avLst>
              <a:gd name="adj" fmla="val 119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041213" y="8226467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41213" y="8480467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Closing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41213" y="8963067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Fecho.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1473200"/>
            <a:ext cx="1563080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venir Next"/>
              </a:rPr>
              <a:t>ARQUÉTIPO 01  ·  HERO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2463800"/>
            <a:ext cx="15630801" cy="3046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 dirty="0">
                <a:solidFill>
                  <a:srgbClr val="FFFFFF"/>
                </a:solidFill>
                <a:latin typeface="Avenir Next"/>
              </a:rPr>
              <a:t>Uma </a:t>
            </a:r>
            <a:r>
              <a:rPr sz="12000" b="1" dirty="0" err="1">
                <a:solidFill>
                  <a:srgbClr val="FFFFFF"/>
                </a:solidFill>
                <a:latin typeface="Avenir Next"/>
              </a:rPr>
              <a:t>frase</a:t>
            </a:r>
            <a:r>
              <a:rPr sz="12000" b="1" dirty="0">
                <a:solidFill>
                  <a:srgbClr val="FFFFFF"/>
                </a:solidFill>
                <a:latin typeface="Avenir Next"/>
              </a:rPr>
              <a:t> </a:t>
            </a:r>
            <a:r>
              <a:rPr sz="12000" b="1" dirty="0" err="1">
                <a:solidFill>
                  <a:srgbClr val="FFFFFF"/>
                </a:solidFill>
                <a:latin typeface="Avenir Next"/>
              </a:rPr>
              <a:t>que</a:t>
            </a:r>
            <a:endParaRPr sz="12000" b="1" dirty="0">
              <a:solidFill>
                <a:srgbClr val="FFFFFF"/>
              </a:solidFill>
              <a:latin typeface="Avenir Next"/>
            </a:endParaRPr>
          </a:p>
          <a:p>
            <a:pPr algn="l">
              <a:lnSpc>
                <a:spcPct val="80000"/>
              </a:lnSpc>
            </a:pPr>
            <a:r>
              <a:rPr sz="12000" b="1" dirty="0" err="1">
                <a:solidFill>
                  <a:srgbClr val="FFFFFF"/>
                </a:solidFill>
                <a:latin typeface="Avenir Next"/>
              </a:rPr>
              <a:t>marca</a:t>
            </a:r>
            <a:r>
              <a:rPr sz="12000" b="1" dirty="0">
                <a:solidFill>
                  <a:srgbClr val="FFFFFF"/>
                </a:solidFill>
                <a:latin typeface="Avenir Next"/>
              </a:rPr>
              <a:t> a </a:t>
            </a:r>
            <a:r>
              <a:rPr sz="12000" b="1" dirty="0" err="1">
                <a:solidFill>
                  <a:srgbClr val="FFFFFF"/>
                </a:solidFill>
                <a:latin typeface="Avenir Next"/>
              </a:rPr>
              <a:t>página</a:t>
            </a:r>
            <a:r>
              <a:rPr sz="12000" b="1" dirty="0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6223000"/>
            <a:ext cx="11268717" cy="1531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dirty="0">
                <a:solidFill>
                  <a:srgbClr val="EEECE6"/>
                </a:solidFill>
                <a:latin typeface="Avenir Next"/>
              </a:rPr>
              <a:t>Statement 120 </a:t>
            </a:r>
            <a:r>
              <a:rPr sz="4400" b="0" dirty="0" err="1">
                <a:solidFill>
                  <a:srgbClr val="EEECE6"/>
                </a:solidFill>
                <a:latin typeface="Avenir Next"/>
              </a:rPr>
              <a:t>sobre</a:t>
            </a:r>
            <a:r>
              <a:rPr sz="4400" b="0" dirty="0">
                <a:solidFill>
                  <a:srgbClr val="EEECE6"/>
                </a:solidFill>
                <a:latin typeface="Avenir Next"/>
              </a:rPr>
              <a:t> </a:t>
            </a:r>
            <a:r>
              <a:rPr sz="4400" b="0" dirty="0" err="1">
                <a:solidFill>
                  <a:srgbClr val="EEECE6"/>
                </a:solidFill>
                <a:latin typeface="Avenir Next"/>
              </a:rPr>
              <a:t>fundo</a:t>
            </a:r>
            <a:r>
              <a:rPr sz="4400" b="0" dirty="0">
                <a:solidFill>
                  <a:srgbClr val="EEECE6"/>
                </a:solidFill>
                <a:latin typeface="Avenir Next"/>
              </a:rPr>
              <a:t> </a:t>
            </a:r>
            <a:r>
              <a:rPr sz="4400" b="0" dirty="0" err="1">
                <a:solidFill>
                  <a:srgbClr val="EEECE6"/>
                </a:solidFill>
                <a:latin typeface="Avenir Next"/>
              </a:rPr>
              <a:t>saturado</a:t>
            </a:r>
            <a:r>
              <a:rPr sz="4400" b="0" dirty="0">
                <a:solidFill>
                  <a:srgbClr val="EEECE6"/>
                </a:solidFill>
                <a:latin typeface="Avenir Next"/>
              </a:rPr>
              <a:t>: o </a:t>
            </a:r>
            <a:r>
              <a:rPr sz="4400" b="0" dirty="0" err="1">
                <a:solidFill>
                  <a:srgbClr val="EEECE6"/>
                </a:solidFill>
                <a:latin typeface="Avenir Next"/>
              </a:rPr>
              <a:t>texto</a:t>
            </a:r>
            <a:r>
              <a:rPr sz="4400" b="0" dirty="0">
                <a:solidFill>
                  <a:srgbClr val="EEECE6"/>
                </a:solidFill>
                <a:latin typeface="Avenir Next"/>
              </a:rPr>
              <a:t> </a:t>
            </a:r>
            <a:r>
              <a:rPr sz="4400" b="0" dirty="0" err="1">
                <a:solidFill>
                  <a:srgbClr val="EEECE6"/>
                </a:solidFill>
                <a:latin typeface="Avenir Next"/>
              </a:rPr>
              <a:t>vira</a:t>
            </a:r>
            <a:r>
              <a:rPr sz="4400" b="0" dirty="0">
                <a:solidFill>
                  <a:srgbClr val="EEECE6"/>
                </a:solidFill>
                <a:latin typeface="Avenir Next"/>
              </a:rPr>
              <a:t> </a:t>
            </a:r>
            <a:r>
              <a:rPr sz="4400" b="0" dirty="0" err="1">
                <a:solidFill>
                  <a:srgbClr val="EEECE6"/>
                </a:solidFill>
                <a:latin typeface="Avenir Next"/>
              </a:rPr>
              <a:t>branco</a:t>
            </a:r>
            <a:r>
              <a:rPr sz="4400" b="0" dirty="0">
                <a:solidFill>
                  <a:srgbClr val="EEECE6"/>
                </a:solidFill>
                <a:latin typeface="Avenir Next"/>
              </a:rPr>
              <a:t> e o </a:t>
            </a:r>
            <a:r>
              <a:rPr sz="4400" b="0" dirty="0" err="1">
                <a:solidFill>
                  <a:srgbClr val="EEECE6"/>
                </a:solidFill>
                <a:latin typeface="Avenir Next"/>
              </a:rPr>
              <a:t>ponto</a:t>
            </a:r>
            <a:r>
              <a:rPr sz="4400" b="0" dirty="0">
                <a:solidFill>
                  <a:srgbClr val="EEECE6"/>
                </a:solidFill>
                <a:latin typeface="Avenir Next"/>
              </a:rPr>
              <a:t>, rosa</a:t>
            </a:r>
            <a:r>
              <a:rPr lang="pt-BR" sz="4400" b="0" dirty="0">
                <a:solidFill>
                  <a:srgbClr val="EEECE6"/>
                </a:solidFill>
                <a:latin typeface="Avenir Next"/>
              </a:rPr>
              <a:t> ou azul</a:t>
            </a:r>
            <a:r>
              <a:rPr sz="4400" b="0" dirty="0">
                <a:solidFill>
                  <a:srgbClr val="EEECE6"/>
                </a:solidFill>
                <a:latin typeface="Avenir Next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1219200"/>
            <a:ext cx="14540280" cy="3847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 dirty="0">
                <a:solidFill>
                  <a:srgbClr val="FD5E6D"/>
                </a:solidFill>
                <a:latin typeface="Avenir Next"/>
              </a:rPr>
              <a:t>2</a:t>
            </a:r>
            <a:r>
              <a:rPr lang="pt-BR" sz="25000" b="1" dirty="0">
                <a:solidFill>
                  <a:srgbClr val="FD5E6D"/>
                </a:solidFill>
                <a:latin typeface="Avenir Next"/>
              </a:rPr>
              <a:t>.</a:t>
            </a:r>
            <a:endParaRPr sz="25000" b="1" dirty="0">
              <a:solidFill>
                <a:srgbClr val="FD5E6D"/>
              </a:solidFill>
              <a:latin typeface="Avenir N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4902200"/>
            <a:ext cx="14540280" cy="193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Chapter divider</a:t>
            </a:r>
          </a:p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sobre bege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7340600"/>
            <a:ext cx="9087675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>
                <a:solidFill>
                  <a:srgbClr val="436AE1"/>
                </a:solidFill>
                <a:latin typeface="Avenir Next"/>
              </a:rPr>
              <a:t>O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mesmo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arquétipo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do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bloco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01, com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fundo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claro: Big Number e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Manchete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mantém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a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cor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 de </a:t>
            </a:r>
            <a:r>
              <a:rPr sz="2000" b="0" dirty="0" err="1">
                <a:solidFill>
                  <a:srgbClr val="436AE1"/>
                </a:solidFill>
                <a:latin typeface="Avenir Next"/>
              </a:rPr>
              <a:t>tipo</a:t>
            </a:r>
            <a:r>
              <a:rPr sz="2000" b="0" dirty="0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8579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447800"/>
            <a:ext cx="85796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Pillar dense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717800"/>
            <a:ext cx="8579675" cy="4722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Coluna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de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argumento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à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esquerda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,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desdobramento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à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direita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.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É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o layout de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maior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densidade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que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o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sistema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aceita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sem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virar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poluição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.</a:t>
            </a:r>
          </a:p>
          <a:p>
            <a:pPr algn="l">
              <a:lnSpc>
                <a:spcPct val="130000"/>
              </a:lnSpc>
            </a:pPr>
            <a:endParaRPr sz="3400" dirty="0">
              <a:solidFill>
                <a:srgbClr val="436AE1"/>
              </a:solidFill>
              <a:latin typeface="Avenir Next" panose="020B0503020202020204" pitchFamily="34" charset="0"/>
            </a:endParaRPr>
          </a:p>
          <a:p>
            <a:pPr algn="l">
              <a:lnSpc>
                <a:spcPct val="130000"/>
              </a:lnSpc>
            </a:pP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Use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quando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o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conteúdo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tem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uma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tese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e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três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a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cinco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 </a:t>
            </a:r>
            <a:r>
              <a:rPr sz="3400" dirty="0" err="1">
                <a:solidFill>
                  <a:srgbClr val="436AE1"/>
                </a:solidFill>
                <a:latin typeface="Avenir Next" panose="020B0503020202020204" pitchFamily="34" charset="0"/>
              </a:rPr>
              <a:t>consequências</a:t>
            </a:r>
            <a:r>
              <a:rPr sz="3400" dirty="0">
                <a:solidFill>
                  <a:srgbClr val="436AE1"/>
                </a:solidFill>
                <a:latin typeface="Avenir Next" panose="020B0503020202020204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8857" y="2717800"/>
            <a:ext cx="8579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>
                <a:solidFill>
                  <a:srgbClr val="436AE1"/>
                </a:solidFill>
                <a:latin typeface="Avenir Next"/>
              </a:rPr>
              <a:t>Uma </a:t>
            </a:r>
            <a:r>
              <a:rPr sz="2800" b="1" dirty="0" err="1">
                <a:solidFill>
                  <a:srgbClr val="436AE1"/>
                </a:solidFill>
                <a:latin typeface="Avenir Next"/>
              </a:rPr>
              <a:t>tese</a:t>
            </a:r>
            <a:r>
              <a:rPr sz="2800" b="1" dirty="0">
                <a:solidFill>
                  <a:srgbClr val="436AE1"/>
                </a:solidFill>
                <a:latin typeface="Avenir Next"/>
              </a:rPr>
              <a:t> </a:t>
            </a:r>
            <a:r>
              <a:rPr sz="2800" b="1" dirty="0" err="1">
                <a:solidFill>
                  <a:srgbClr val="436AE1"/>
                </a:solidFill>
                <a:latin typeface="Avenir Next"/>
              </a:rPr>
              <a:t>por</a:t>
            </a:r>
            <a:r>
              <a:rPr sz="2800" b="1" dirty="0">
                <a:solidFill>
                  <a:srgbClr val="436AE1"/>
                </a:solidFill>
                <a:latin typeface="Avenir Next"/>
              </a:rPr>
              <a:t>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8857" y="3175000"/>
            <a:ext cx="85796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Se há duas, são dois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38857" y="3930650"/>
            <a:ext cx="8579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Três a cinco itens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8857" y="4387850"/>
            <a:ext cx="85796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Menos que três não pede o layout; mais que cinco não cabe.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38857" y="5143500"/>
            <a:ext cx="8579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 em Tópico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38857" y="5600700"/>
            <a:ext cx="85796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Corpo em Texto 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9087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447800"/>
            <a:ext cx="90876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Quote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717800"/>
            <a:ext cx="9087675" cy="3213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Texto à esquerda, painel de cor à direita. O painel não é decoracao: ele carrega a citação, o número ou a amostra que sustenta o argumento do lado esquerdo.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14875" y="965200"/>
            <a:ext cx="8325675" cy="9202801"/>
          </a:xfrm>
          <a:prstGeom prst="roundRect">
            <a:avLst>
              <a:gd name="adj" fmla="val 3145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4400" dirty="0">
                <a:solidFill>
                  <a:srgbClr val="FFFFFF"/>
                </a:solidFill>
                <a:latin typeface="Avenir Next" panose="020B0503020202020204" pitchFamily="34" charset="0"/>
              </a:rPr>
              <a:t>O </a:t>
            </a:r>
            <a:r>
              <a:rPr lang="en-US" sz="4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painel</a:t>
            </a:r>
            <a:r>
              <a:rPr lang="en-US" sz="4400" dirty="0">
                <a:solidFill>
                  <a:srgbClr val="FFFFFF"/>
                </a:solidFill>
                <a:latin typeface="Avenir Next" panose="020B0503020202020204" pitchFamily="34" charset="0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carrega</a:t>
            </a:r>
            <a:endParaRPr lang="en-US" sz="4400" dirty="0">
              <a:solidFill>
                <a:srgbClr val="FFFFFF"/>
              </a:solidFill>
              <a:latin typeface="Avenir Next" panose="020B0503020202020204" pitchFamily="34" charset="0"/>
            </a:endParaRPr>
          </a:p>
          <a:p>
            <a:pPr algn="ctr">
              <a:lnSpc>
                <a:spcPct val="115000"/>
              </a:lnSpc>
            </a:pPr>
            <a:r>
              <a:rPr lang="en-US" sz="4400" dirty="0">
                <a:solidFill>
                  <a:srgbClr val="FFFFFF"/>
                </a:solidFill>
                <a:latin typeface="Avenir Next" panose="020B0503020202020204" pitchFamily="34" charset="0"/>
              </a:rPr>
              <a:t>o </a:t>
            </a:r>
            <a:r>
              <a:rPr lang="en-US" sz="4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que</a:t>
            </a:r>
            <a:r>
              <a:rPr lang="en-US" sz="4400" dirty="0">
                <a:solidFill>
                  <a:srgbClr val="FFFFFF"/>
                </a:solidFill>
                <a:latin typeface="Avenir Next" panose="020B0503020202020204" pitchFamily="34" charset="0"/>
              </a:rPr>
              <a:t> o </a:t>
            </a:r>
            <a:r>
              <a:rPr lang="en-US" sz="4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texto</a:t>
            </a:r>
            <a:endParaRPr lang="en-US" sz="4400" dirty="0">
              <a:solidFill>
                <a:srgbClr val="FFFFFF"/>
              </a:solidFill>
              <a:latin typeface="Avenir Next" panose="020B0503020202020204" pitchFamily="34" charset="0"/>
            </a:endParaRPr>
          </a:p>
          <a:p>
            <a:pPr algn="ctr">
              <a:lnSpc>
                <a:spcPct val="115000"/>
              </a:lnSpc>
            </a:pPr>
            <a:r>
              <a:rPr lang="en-US" sz="4400" dirty="0" err="1">
                <a:solidFill>
                  <a:srgbClr val="FFFFFF"/>
                </a:solidFill>
                <a:latin typeface="Avenir Next" panose="020B0503020202020204" pitchFamily="34" charset="0"/>
              </a:rPr>
              <a:t>afirma</a:t>
            </a:r>
            <a:r>
              <a:rPr lang="en-US" sz="4400" dirty="0">
                <a:solidFill>
                  <a:srgbClr val="FFFFFF"/>
                </a:solidFill>
                <a:latin typeface="Avenir Next" panose="020B0503020202020204" pitchFamily="34" charset="0"/>
              </a:rPr>
              <a:t>.</a:t>
            </a:r>
            <a:endParaRPr sz="4400" dirty="0">
              <a:solidFill>
                <a:srgbClr val="FFFFFF"/>
              </a:solidFill>
              <a:latin typeface="Avenir Next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Multi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2895600"/>
            <a:ext cx="5889117" cy="2759869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73200" y="3403600"/>
            <a:ext cx="4873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Dois a quatro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3200" y="4013200"/>
            <a:ext cx="487311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Mais que quatro vira grade densa, que é outro arquétipo.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08317" y="2895600"/>
            <a:ext cx="5889117" cy="2759869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16317" y="3403600"/>
            <a:ext cx="4873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Mesma altura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317" y="4013200"/>
            <a:ext cx="487311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Cards de alturas diferentes quebram a leitura horizontal.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1434" y="2895600"/>
            <a:ext cx="5889117" cy="2759869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59434" y="3403600"/>
            <a:ext cx="4873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59434" y="4013200"/>
            <a:ext cx="4873117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Sempre o módulo, nunca uma folga escolhida no olho.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Spec page sobre branco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641600"/>
            <a:ext cx="13086252" cy="1927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mesmo arquétipo de especificacao, em fundo branco. Todos os arquétipos aceitam os quatro fundos permitidos sem ajuste.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5871786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6100386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7096257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7324857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 e azul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871786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CONTRASTE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100386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Não dispara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096257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7324857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Areas de respiro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Card grid em três colunas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981200"/>
            <a:ext cx="1272274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mesma grade do catálogo, com menos colunas e mais corpo.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3073400"/>
            <a:ext cx="5889117" cy="70946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200" y="3327400"/>
            <a:ext cx="53811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VARIAÇÃO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581400"/>
            <a:ext cx="5381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Três colunas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064000"/>
            <a:ext cx="53811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464pt de largura cada.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08317" y="3073400"/>
            <a:ext cx="5889117" cy="70946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2317" y="3327400"/>
            <a:ext cx="53811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VARIAÇÃO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2317" y="3581400"/>
            <a:ext cx="5381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Quatro colunas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2317" y="4064000"/>
            <a:ext cx="53811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343pt cada, para itens curtos.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1434" y="3073400"/>
            <a:ext cx="5889117" cy="70946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05434" y="3327400"/>
            <a:ext cx="53811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VARIAÇÃO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05434" y="3581400"/>
            <a:ext cx="5381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Cinco colunas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05434" y="4064000"/>
            <a:ext cx="53811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270pt cada, só rotulo e número.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1219200"/>
            <a:ext cx="14540280" cy="3847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 dirty="0">
                <a:solidFill>
                  <a:srgbClr val="FFFFFF"/>
                </a:solidFill>
                <a:latin typeface="Avenir Next"/>
              </a:rPr>
              <a:t>6</a:t>
            </a:r>
            <a:r>
              <a:rPr lang="pt-BR" sz="25000" b="1" dirty="0">
                <a:solidFill>
                  <a:srgbClr val="436AE1"/>
                </a:solidFill>
                <a:latin typeface="Avenir Next"/>
              </a:rPr>
              <a:t>.</a:t>
            </a:r>
            <a:endParaRPr sz="25000" b="1" dirty="0">
              <a:solidFill>
                <a:srgbClr val="436AE1"/>
              </a:solidFill>
              <a:latin typeface="Avenir N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4902200"/>
            <a:ext cx="14540280" cy="1138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chemeClr val="bg1"/>
                </a:solidFill>
                <a:latin typeface="Avenir Next"/>
              </a:rPr>
              <a:t>Regras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6426200"/>
            <a:ext cx="9087675" cy="3770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chemeClr val="bg1"/>
                </a:solidFill>
                <a:latin typeface="Avenir Next"/>
              </a:rPr>
              <a:t>O que o sistema nunca emite, e para onde vai o que ficou de fora.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Anti-vícios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981200"/>
            <a:ext cx="13086252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lista do que o sistema recusa. Não é preferência estética: é o que mantém dois decks parecidos.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3073400"/>
            <a:ext cx="8960675" cy="7094601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73200" y="3581400"/>
            <a:ext cx="7944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3200" y="39878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da escala dos treze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3200" y="45720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dos cinco slots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3200" y="51562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Entrelinha do estilo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3200" y="57404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Avenir Next, Regular ou Bold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79875" y="3073400"/>
            <a:ext cx="8960675" cy="7094601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87875" y="3581400"/>
            <a:ext cx="7944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D5E6D"/>
                </a:solidFill>
                <a:latin typeface="Avenir Next"/>
              </a:rPr>
              <a:t>NUNCA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7875" y="39878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Linha decorativa ou divisória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7875" y="45720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Gradiente, sombra, brilho, contorno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87875" y="51562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ou corpo fora da tabela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7875" y="5740400"/>
            <a:ext cx="7944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Icone inventado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Checklist de auditoria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981200"/>
            <a:ext cx="1272274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que olhar antes de mandar um deck para fora.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3073400"/>
            <a:ext cx="588911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200" y="3327400"/>
            <a:ext cx="53811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581400"/>
            <a:ext cx="5381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Fonte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064000"/>
            <a:ext cx="53811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Toda run em Avenir Next.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08317" y="3073400"/>
            <a:ext cx="588911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2317" y="3327400"/>
            <a:ext cx="53811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2317" y="3581400"/>
            <a:ext cx="5381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2317" y="4064000"/>
            <a:ext cx="53811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Todo corpo na escala dos treze.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1434" y="3073400"/>
            <a:ext cx="588911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05434" y="3327400"/>
            <a:ext cx="53811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05434" y="3581400"/>
            <a:ext cx="5381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05434" y="4064000"/>
            <a:ext cx="53811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Toda cor nos cinco slots.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5200" y="6747700"/>
            <a:ext cx="588911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9200" y="7001700"/>
            <a:ext cx="53811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7255700"/>
            <a:ext cx="5381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7738300"/>
            <a:ext cx="53811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Bate com a do estilo.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8317" y="6747700"/>
            <a:ext cx="588911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2317" y="7001700"/>
            <a:ext cx="53811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2317" y="7255700"/>
            <a:ext cx="5381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2317" y="7738300"/>
            <a:ext cx="53811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Nada invade os 76pt.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1434" y="6747700"/>
            <a:ext cx="588911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505434" y="7001700"/>
            <a:ext cx="53811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05434" y="7255700"/>
            <a:ext cx="5381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Contraste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05434" y="7738300"/>
            <a:ext cx="53811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Nenhum texto na cor do fundo.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Migração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2235200"/>
            <a:ext cx="13086252" cy="1927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Corpos de versões anteriores que sairam da escala fechada. O botão Padronizar tipografia faz o arredondamento sozinho.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527835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55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550695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60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6518696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36 E 32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6747296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34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7712496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22 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" y="7941096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24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5278350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16 E 14 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5506950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15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6518696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ROTULO 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06875" y="6747296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Título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06875" y="7712496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ACIMA DE 185 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06875" y="7941096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250 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1219200"/>
            <a:ext cx="14540280" cy="3847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 dirty="0">
                <a:solidFill>
                  <a:srgbClr val="FFFFFF"/>
                </a:solidFill>
                <a:latin typeface="Avenir Next"/>
              </a:rPr>
              <a:t>7</a:t>
            </a:r>
            <a:r>
              <a:rPr lang="pt-BR" sz="25000" b="1" dirty="0">
                <a:solidFill>
                  <a:srgbClr val="FD5E6D"/>
                </a:solidFill>
                <a:latin typeface="Avenir Next"/>
              </a:rPr>
              <a:t>.</a:t>
            </a:r>
            <a:endParaRPr sz="25000" b="1" dirty="0">
              <a:solidFill>
                <a:srgbClr val="FD5E6D"/>
              </a:solidFill>
              <a:latin typeface="Avenir N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4902200"/>
            <a:ext cx="14540280" cy="10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Outras mídias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6426200"/>
            <a:ext cx="908767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Os tokens viajam. O que muda é a unidade.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OUTRAS MÍDIAS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59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 MESMA REGRA EM TRÊS UNIDADES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3716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Web, impresso, social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2895600"/>
            <a:ext cx="5889117" cy="72724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73200" y="3403600"/>
            <a:ext cx="4873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3200" y="4013200"/>
            <a:ext cx="4873117" cy="1320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Use px da tabela (base 1080). A entrelinha vira line-height sem unidade: o multiplicador é o mesmo número. Raio de 25px, módulo de 24px.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08317" y="2895600"/>
            <a:ext cx="5889117" cy="72724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16317" y="3403600"/>
            <a:ext cx="4873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Impresso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317" y="4013200"/>
            <a:ext cx="4873117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Use cm. A página é 55,8 x 31,4cm; em A4 paisagem o fator é 0,53. A escala não muda, só o tamanho fisico.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1434" y="2895600"/>
            <a:ext cx="5889117" cy="7272401"/>
          </a:xfrm>
          <a:prstGeom prst="roundRect">
            <a:avLst>
              <a:gd name="adj" fmla="val 4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59434" y="3403600"/>
            <a:ext cx="487311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59434" y="4013200"/>
            <a:ext cx="4873117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Recorte a área útil, nunca a página inteira. A margem de 76pt existe para o conteúdo sobreviver ao corte.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9087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O QUE NAO MUDA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447800"/>
            <a:ext cx="9087675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hierarquia mora nas razões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3403600"/>
            <a:ext cx="9087675" cy="4722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>
                <a:solidFill>
                  <a:srgbClr val="436AE1"/>
                </a:solidFill>
                <a:latin typeface="Avenir Next" panose="020B0503020202020204" pitchFamily="34" charset="0"/>
              </a:rPr>
              <a:t>Se o layout não for 1920x1080, escale por proporção -- nunca reescolha corpos.</a:t>
            </a:r>
          </a:p>
          <a:p>
            <a:pPr algn="l">
              <a:lnSpc>
                <a:spcPct val="130000"/>
              </a:lnSpc>
            </a:pPr>
            <a:endParaRPr sz="3400">
              <a:solidFill>
                <a:srgbClr val="436AE1"/>
              </a:solidFill>
              <a:latin typeface="Avenir Next" panose="020B0503020202020204" pitchFamily="34" charset="0"/>
            </a:endParaRPr>
          </a:p>
          <a:p>
            <a:pPr algn="l">
              <a:lnSpc>
                <a:spcPct val="130000"/>
              </a:lnSpc>
            </a:pPr>
            <a:r>
              <a:rPr sz="3400">
                <a:solidFill>
                  <a:srgbClr val="436AE1"/>
                </a:solidFill>
                <a:latin typeface="Avenir Next" panose="020B0503020202020204" pitchFamily="34" charset="0"/>
              </a:rPr>
              <a:t>A diferenca entre Título 60 e Texto 24 não está em 60 e 24: está na razão entre eles. Mantida a razão, o sistema sobrevive a qualquer tamanho de tela ou papel.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14875" y="965200"/>
            <a:ext cx="8325675" cy="9202801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22875" y="4530280"/>
            <a:ext cx="7309675" cy="2491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 dirty="0">
                <a:solidFill>
                  <a:srgbClr val="FD5E6D"/>
                </a:solidFill>
                <a:latin typeface="Avenir Next"/>
              </a:rPr>
              <a:t>Duas cores de </a:t>
            </a:r>
            <a:r>
              <a:rPr sz="3400" b="1" dirty="0" err="1">
                <a:solidFill>
                  <a:srgbClr val="FD5E6D"/>
                </a:solidFill>
                <a:latin typeface="Avenir Next"/>
              </a:rPr>
              <a:t>tipo</a:t>
            </a:r>
            <a:r>
              <a:rPr sz="3400" b="1" dirty="0">
                <a:solidFill>
                  <a:srgbClr val="FD5E6D"/>
                </a:solidFill>
                <a:latin typeface="Avenir Next"/>
              </a:rPr>
              <a:t>.</a:t>
            </a:r>
          </a:p>
          <a:p>
            <a:pPr algn="ctr">
              <a:lnSpc>
                <a:spcPct val="95000"/>
              </a:lnSpc>
            </a:pPr>
            <a:r>
              <a:rPr sz="3400" b="1" dirty="0">
                <a:solidFill>
                  <a:srgbClr val="FD5E6D"/>
                </a:solidFill>
                <a:latin typeface="Avenir Next"/>
              </a:rPr>
              <a:t>Escala </a:t>
            </a:r>
            <a:r>
              <a:rPr sz="3400" b="1" dirty="0" err="1">
                <a:solidFill>
                  <a:srgbClr val="FD5E6D"/>
                </a:solidFill>
                <a:latin typeface="Avenir Next"/>
              </a:rPr>
              <a:t>fechada</a:t>
            </a:r>
            <a:r>
              <a:rPr sz="3400" b="1" dirty="0">
                <a:solidFill>
                  <a:srgbClr val="FD5E6D"/>
                </a:solidFill>
                <a:latin typeface="Avenir Next"/>
              </a:rPr>
              <a:t>.</a:t>
            </a:r>
          </a:p>
          <a:p>
            <a:pPr algn="ctr">
              <a:lnSpc>
                <a:spcPct val="95000"/>
              </a:lnSpc>
            </a:pPr>
            <a:r>
              <a:rPr sz="3400" b="1" dirty="0" err="1">
                <a:solidFill>
                  <a:srgbClr val="FD5E6D"/>
                </a:solidFill>
                <a:latin typeface="Avenir Next"/>
              </a:rPr>
              <a:t>Entrelinha</a:t>
            </a:r>
            <a:r>
              <a:rPr sz="3400" b="1" dirty="0">
                <a:solidFill>
                  <a:srgbClr val="FD5E6D"/>
                </a:solidFill>
                <a:latin typeface="Avenir Next"/>
              </a:rPr>
              <a:t> do </a:t>
            </a:r>
            <a:r>
              <a:rPr sz="3400" b="1" dirty="0" err="1">
                <a:solidFill>
                  <a:srgbClr val="FD5E6D"/>
                </a:solidFill>
                <a:latin typeface="Avenir Next"/>
              </a:rPr>
              <a:t>estilo</a:t>
            </a:r>
            <a:r>
              <a:rPr sz="3400" b="1" dirty="0">
                <a:solidFill>
                  <a:srgbClr val="FD5E6D"/>
                </a:solidFill>
                <a:latin typeface="Avenir Next"/>
              </a:rPr>
              <a:t>.</a:t>
            </a:r>
          </a:p>
          <a:p>
            <a:pPr algn="ctr">
              <a:lnSpc>
                <a:spcPct val="95000"/>
              </a:lnSpc>
            </a:pPr>
            <a:r>
              <a:rPr sz="3400" b="1" dirty="0" err="1">
                <a:solidFill>
                  <a:srgbClr val="FD5E6D"/>
                </a:solidFill>
                <a:latin typeface="Avenir Next"/>
              </a:rPr>
              <a:t>Espacamento</a:t>
            </a:r>
            <a:r>
              <a:rPr sz="3400" b="1" dirty="0">
                <a:solidFill>
                  <a:srgbClr val="FD5E6D"/>
                </a:solidFill>
                <a:latin typeface="Avenir Next"/>
              </a:rPr>
              <a:t> </a:t>
            </a:r>
            <a:r>
              <a:rPr sz="3400" b="1" dirty="0" err="1">
                <a:solidFill>
                  <a:srgbClr val="FD5E6D"/>
                </a:solidFill>
                <a:latin typeface="Avenir Next"/>
              </a:rPr>
              <a:t>em</a:t>
            </a:r>
            <a:r>
              <a:rPr sz="3400" b="1" dirty="0">
                <a:solidFill>
                  <a:srgbClr val="FD5E6D"/>
                </a:solidFill>
                <a:latin typeface="Avenir Next"/>
              </a:rPr>
              <a:t> </a:t>
            </a:r>
            <a:r>
              <a:rPr sz="3400" b="1" dirty="0" err="1">
                <a:solidFill>
                  <a:srgbClr val="FD5E6D"/>
                </a:solidFill>
                <a:latin typeface="Avenir Next"/>
              </a:rPr>
              <a:t>módulo</a:t>
            </a:r>
            <a:r>
              <a:rPr sz="3400" b="1" dirty="0">
                <a:solidFill>
                  <a:srgbClr val="FD5E6D"/>
                </a:solidFill>
                <a:latin typeface="Avenir Next"/>
              </a:rPr>
              <a:t>.</a:t>
            </a:r>
          </a:p>
          <a:p>
            <a:pPr algn="ctr">
              <a:lnSpc>
                <a:spcPct val="95000"/>
              </a:lnSpc>
            </a:pPr>
            <a:r>
              <a:rPr sz="3400" b="1" dirty="0" err="1">
                <a:solidFill>
                  <a:srgbClr val="FD5E6D"/>
                </a:solidFill>
                <a:latin typeface="Avenir Next"/>
              </a:rPr>
              <a:t>Contraste</a:t>
            </a:r>
            <a:r>
              <a:rPr sz="3400" b="1" dirty="0">
                <a:solidFill>
                  <a:srgbClr val="FD5E6D"/>
                </a:solidFill>
                <a:latin typeface="Avenir Next"/>
              </a:rPr>
              <a:t> </a:t>
            </a:r>
            <a:r>
              <a:rPr sz="3400" b="1" dirty="0" err="1">
                <a:solidFill>
                  <a:srgbClr val="FD5E6D"/>
                </a:solidFill>
                <a:latin typeface="Avenir Next"/>
              </a:rPr>
              <a:t>automatico</a:t>
            </a:r>
            <a:r>
              <a:rPr sz="3400" b="1" dirty="0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1219200"/>
            <a:ext cx="14540280" cy="3847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 dirty="0">
                <a:solidFill>
                  <a:srgbClr val="FFFFFF"/>
                </a:solidFill>
                <a:latin typeface="Avenir Next"/>
              </a:rPr>
              <a:t>8</a:t>
            </a:r>
            <a:r>
              <a:rPr lang="pt-BR" sz="25000" b="1" dirty="0">
                <a:solidFill>
                  <a:srgbClr val="436AE1"/>
                </a:solidFill>
                <a:latin typeface="Avenir Next"/>
              </a:rPr>
              <a:t>.</a:t>
            </a:r>
            <a:endParaRPr sz="25000" b="1" dirty="0">
              <a:solidFill>
                <a:srgbClr val="436AE1"/>
              </a:solidFill>
              <a:latin typeface="Avenir Nex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4902200"/>
            <a:ext cx="14540280" cy="1138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6426200"/>
            <a:ext cx="9087675" cy="3770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Onde este sistema vira um clique.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faixa CBA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1981200"/>
            <a:ext cx="12722745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grupos da aba, e o que cada um resolve.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5200" y="3073400"/>
            <a:ext cx="435333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200" y="33274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INSERIR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5814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Caixa 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0640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Já nascem no padrão.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2537" y="3073400"/>
            <a:ext cx="435333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26537" y="33274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6537" y="35814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13 estilos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6537" y="40640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Um clique aplica quatro decisões.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79875" y="3073400"/>
            <a:ext cx="435333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33875" y="33274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3875" y="35814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Por tamanho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3875" y="40640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Para texto sem estilo.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787213" y="3073400"/>
            <a:ext cx="435333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41213" y="33274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1213" y="35814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Peso e alinhamento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1213" y="40640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Negrito, esquerda, centro.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5200" y="6747700"/>
            <a:ext cx="435333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19200" y="70017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FONTE / FUNDO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72557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77383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Só os cinco slots.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2537" y="6747700"/>
            <a:ext cx="435333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26537" y="70017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FORMAS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6537" y="72557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Raio e crop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6537" y="77383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Rounded, tirar, recortar.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79875" y="6747700"/>
            <a:ext cx="435333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33875" y="70017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ALINHAR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33875" y="72557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Âncoras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3875" y="77383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Encaixe em medida fixa.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787213" y="6747700"/>
            <a:ext cx="4353337" cy="3420300"/>
          </a:xfrm>
          <a:prstGeom prst="roundRect">
            <a:avLst>
              <a:gd name="adj" fmla="val 76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041213" y="7001700"/>
            <a:ext cx="38453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AUDITORIA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41213" y="7255700"/>
            <a:ext cx="3845337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Padronizar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41213" y="7738300"/>
            <a:ext cx="38453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Encaixa o que fugiu.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965200"/>
            <a:ext cx="1817535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Mudar os padroes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2235200"/>
            <a:ext cx="13086252" cy="2570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A página de Brand Standards gera uma linha de configuração que a faixa aplica sem recompilar nada. É como o sistema evolui sem virar código novo.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5941752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PÁGINA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6170352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Padroes &gt; Abrir página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7130952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7359552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Padroes &gt; Aplicar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5941752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FORMATO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170352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chave=valor separado por 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130952"/>
            <a:ext cx="8833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ESTILO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359552"/>
            <a:ext cx="88336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s_&lt;id&gt; = corpo|bold|papel|entrelinha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10472801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70551" y="10472801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3166300"/>
            <a:ext cx="14903787" cy="396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Treze estilos,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cinco cores,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um módulo</a:t>
            </a:r>
            <a:r>
              <a:rPr sz="12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9837801"/>
            <a:ext cx="1090521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 err="1">
                <a:solidFill>
                  <a:srgbClr val="FFFFFF"/>
                </a:solidFill>
                <a:latin typeface="Avenir Next"/>
              </a:rPr>
              <a:t>design.md</a:t>
            </a:r>
            <a:r>
              <a:rPr sz="2000" b="0" dirty="0">
                <a:solidFill>
                  <a:srgbClr val="FFFFFF"/>
                </a:solidFill>
                <a:latin typeface="Avenir Next"/>
              </a:rPr>
              <a:t>  ·  tools/design-system  ·  CBA Studio v1.5.1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3836</Words>
  <Application>Microsoft Macintosh PowerPoint</Application>
  <PresentationFormat>Custom</PresentationFormat>
  <Paragraphs>948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3" baseType="lpstr">
      <vt:lpstr>Arial</vt:lpstr>
      <vt:lpstr>Avenir Next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Herick Ferreira | CBA B+G</cp:lastModifiedBy>
  <cp:revision>6</cp:revision>
  <dcterms:created xsi:type="dcterms:W3CDTF">2013-01-27T09:14:16Z</dcterms:created>
  <dcterms:modified xsi:type="dcterms:W3CDTF">2026-08-06T17:21:14Z</dcterms:modified>
  <cp:category/>
</cp:coreProperties>
</file>