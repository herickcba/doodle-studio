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</p:sldIdLst>
  <p:sldSz cx="20105751" cy="11311001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CBA B+G  ·  DESIGN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76120"/>
            <a:ext cx="13809313" cy="396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Um sistema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cabe em treze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estilos</a:t>
            </a:r>
            <a:r>
              <a:rPr sz="12000" b="1">
                <a:solidFill>
                  <a:srgbClr val="FD5E6D"/>
                </a:solidFill>
                <a:latin typeface="Avenir Next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954520"/>
            <a:ext cx="9036875" cy="1285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Documentação da tipografia, cor e grid do CBA Studio.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O QUE É ISTO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ferramenta é a definição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946400"/>
            <a:ext cx="13809313" cy="1684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Este documento não inventa um padrão: ele descreve o que a faixa CBA Studio já aplica com um clique. A fonte da verdade é o código do add-in; aqui e nos slides seguintes ele está escrito em português.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44671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FONTE DA VERDADE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85311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SetDefaults, no .bas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71671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ESPELHO EM CÓDIGO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812311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tools/design-system/tokens.py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44671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 EM TEXTO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85311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design.md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71671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GATE ANTI-DERIVA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812311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check-tokens.py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ABERTURA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caminho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Sete blocos, do que é invariável para o que é aplicado.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6362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70000" y="41442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0000" y="45506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70000" y="5160200"/>
            <a:ext cx="32484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Página, margem, módulo, raio.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4437" y="36362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42437" y="41442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42437" y="45506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42437" y="5160200"/>
            <a:ext cx="32484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Cinco slots, dois papéis de tipo.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06875" y="36362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14875" y="41442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14875" y="45506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14875" y="51602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Os treze estilos, um a um.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079313" y="36362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87313" y="41442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87313" y="45506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87313" y="51602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Caixas, cards, imagens.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68366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70000" y="73446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0000" y="77510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70000" y="8360600"/>
            <a:ext cx="32484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Layouts que o sistema aceita.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34437" y="68366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42437" y="73446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6.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42437" y="77510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2437" y="83606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Anti-vícios e migração.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06875" y="68366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4875" y="73446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7.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14875" y="77510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Outras mídias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14875" y="83606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Web, impresso, social.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079313" y="68366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587313" y="73446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8.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87313" y="77510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Aplicação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87313" y="8360600"/>
            <a:ext cx="32484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faixa e o Brand Standards.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ABERTURA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317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D5E6D"/>
                </a:solidFill>
                <a:latin typeface="Avenir Next"/>
              </a:rPr>
              <a:t>1.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53000"/>
            <a:ext cx="13809313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Fundamentos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985000"/>
            <a:ext cx="9036875" cy="1684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A página, a margem, o módulo de espaçamento e o raio. Todo o resto deriva daqui.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FUNDAMENTOS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9036875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página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286000"/>
            <a:ext cx="9036875" cy="165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16:9 customizado, não o 16:9 padrão do PowerPoint. Deck em outro formato entra distorcido: o botão Page Size da faixa converte.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altura é a ponte entre mídias: 1080px equivale a 890,63pt, logo 1pt = 1,2126px.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57468" y="1524000"/>
            <a:ext cx="8186282" cy="4605401"/>
          </a:xfrm>
          <a:prstGeom prst="rect">
            <a:avLst/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7468" y="6891401"/>
            <a:ext cx="818628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LARGURA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7468" y="7297801"/>
            <a:ext cx="8186282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1583,13 pt  ·  1920 px  ·  55,8 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7468" y="8136001"/>
            <a:ext cx="818628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ALTURA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7468" y="8542401"/>
            <a:ext cx="8186282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890,63 pt  ·  1080 px  ·  31,4 cm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7468" y="9380601"/>
            <a:ext cx="818628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PROPORÇÃO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7468" y="9787001"/>
            <a:ext cx="8186282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16:9 customizado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9036875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Margem e área útil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286000"/>
            <a:ext cx="9036875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margem tem 60pt, três módulos exatos, nos quatro lados. Ela existe para o slide sobreviver a recorte, projeção e reaproveitamento em outra mídia.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57468" y="1524000"/>
            <a:ext cx="8186282" cy="4605401"/>
          </a:xfrm>
          <a:prstGeom prst="rect">
            <a:avLst/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67725" y="1834256"/>
            <a:ext cx="7565768" cy="3984887"/>
          </a:xfrm>
          <a:prstGeom prst="rect">
            <a:avLst/>
          </a:prstGeom>
          <a:noFill/>
          <a:ln w="12700">
            <a:solidFill>
              <a:srgbClr val="FD5E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7468" y="6891401"/>
            <a:ext cx="818628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MARGEM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7468" y="7297801"/>
            <a:ext cx="8186282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60 pt  ·  73 px  ·  2,12 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7468" y="8136001"/>
            <a:ext cx="818628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ÁREA ÚTIL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7468" y="8542401"/>
            <a:ext cx="8186282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1463 x 771 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7468" y="9380601"/>
            <a:ext cx="818628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COLUNAS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7468" y="9787001"/>
            <a:ext cx="8186282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4 de 335,78 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9036875" cy="144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módulo de espaçamento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971800"/>
            <a:ext cx="9036875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Toda distância entre colunas, cards e blocos é múltiplo de 20pt, e o raio e a margem também: 20 e 60. Distância que não é múltiplo de 20 é acidente, não decisão.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57468" y="1524000"/>
            <a:ext cx="8186282" cy="4605401"/>
          </a:xfrm>
          <a:prstGeom prst="rect">
            <a:avLst/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67725" y="1834256"/>
            <a:ext cx="7565768" cy="3984887"/>
          </a:xfrm>
          <a:prstGeom prst="rect">
            <a:avLst/>
          </a:prstGeom>
          <a:noFill/>
          <a:ln w="12700">
            <a:solidFill>
              <a:srgbClr val="FD5E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67725" y="5819144"/>
            <a:ext cx="103418" cy="103418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74563" y="5819144"/>
            <a:ext cx="103418" cy="103418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881401" y="5819144"/>
            <a:ext cx="103418" cy="103418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88239" y="5819144"/>
            <a:ext cx="103418" cy="103418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295077" y="5819144"/>
            <a:ext cx="103418" cy="103418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501915" y="5819144"/>
            <a:ext cx="103418" cy="103418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708753" y="5819144"/>
            <a:ext cx="103418" cy="103418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915590" y="5819144"/>
            <a:ext cx="103418" cy="103418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7468" y="6891401"/>
            <a:ext cx="818628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MÓDULO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7468" y="7297801"/>
            <a:ext cx="8186282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20 pt  ·  24 px  ·  0,71 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7468" y="8136001"/>
            <a:ext cx="818628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MÚLTIPLOS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7468" y="8542401"/>
            <a:ext cx="8186282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20 · 40 · 60 · 80 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7468" y="9380601"/>
            <a:ext cx="818628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RELAÇÃO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7468" y="9787001"/>
            <a:ext cx="8186282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raio = 1 módulo, gutter =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Âncora de encaixe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286000"/>
            <a:ext cx="13809313" cy="1684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A âncora não é a margem. A margem delimita a página; a âncora é o passo de alinhamento entre objetos. São papéis diferentes e convivem.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1651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PADRÃO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52291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1,27 cm  ·  36 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38651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EM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79291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44 px @1080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611651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PASSOS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52291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0,5 · 1 · 1,27 · 1,5 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38651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PASSOS (cont.)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79291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 · 2,5 · 3 · 4 · 5 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Raio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286000"/>
            <a:ext cx="13809313" cy="1684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raio é um valor visual constante, não uma proporção: um card grande e um botão pequeno tem o mesmo arredondamento. É o que faz formas de tamanhos diferentes parecerem da mesma família.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1651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RAIO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52291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20 pt  ·  24 px  ·  0,71 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38651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EM OOXML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79291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adj = raio / (menor lado / 2) x 50000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611651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52291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adj = 50000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38651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79291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adj =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14875" y="4619180"/>
            <a:ext cx="8020875" cy="2072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60 de margem.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20 de módulo.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20 de raio.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/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Tudo múltiplo de 20.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COMO OS TRÊS SE COMBINAM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98600"/>
            <a:ext cx="9036875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Margem, módulo e raio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022600"/>
            <a:ext cx="9036875" cy="449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A margem diz onde começa. O módulo diz de quanto em quanto se anda. O raio diz como a forma termina.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Com os três fixos, dois slides feitos por pessoas diferentes saem parecidos sem combinação prévia: que é o único teste que importa num design 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317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2.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53000"/>
            <a:ext cx="13809313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985000"/>
            <a:ext cx="9036875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Cinco slots. Dois carregam tipo. Um resolve contraste sozinho.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Os índices importam: a configuração de marca referência por número, não por nome.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401500"/>
            <a:ext cx="3309950" cy="2362200"/>
          </a:xfrm>
          <a:prstGeom prst="roundRect">
            <a:avLst>
              <a:gd name="adj" fmla="val 107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70000" y="5909500"/>
            <a:ext cx="22939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0000" y="6315900"/>
            <a:ext cx="22939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70000" y="6925500"/>
            <a:ext cx="229395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#FD5E6D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9950" y="5401500"/>
            <a:ext cx="3309950" cy="2362200"/>
          </a:xfrm>
          <a:prstGeom prst="roundRect">
            <a:avLst>
              <a:gd name="adj" fmla="val 107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7950" y="5909500"/>
            <a:ext cx="22939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7950" y="6315900"/>
            <a:ext cx="22939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7950" y="6925500"/>
            <a:ext cx="229395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#436AE1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97900" y="5401500"/>
            <a:ext cx="3309950" cy="2362200"/>
          </a:xfrm>
          <a:prstGeom prst="roundRect">
            <a:avLst>
              <a:gd name="adj" fmla="val 107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05900" y="5909500"/>
            <a:ext cx="22939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5900" y="6315900"/>
            <a:ext cx="22939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Bege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5900" y="6925500"/>
            <a:ext cx="229395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#EEECE6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215850" y="5401500"/>
            <a:ext cx="3309950" cy="2362200"/>
          </a:xfrm>
          <a:prstGeom prst="roundRect">
            <a:avLst>
              <a:gd name="adj" fmla="val 107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723850" y="5909500"/>
            <a:ext cx="22939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23850" y="6315900"/>
            <a:ext cx="22939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Branco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23850" y="6925500"/>
            <a:ext cx="229395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#FFFFFF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033800" y="5401500"/>
            <a:ext cx="3309950" cy="2362200"/>
          </a:xfrm>
          <a:prstGeom prst="roundRect">
            <a:avLst>
              <a:gd name="adj" fmla="val 107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541800" y="5909500"/>
            <a:ext cx="22939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541800" y="6315900"/>
            <a:ext cx="22939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Preto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541800" y="6925500"/>
            <a:ext cx="229395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#000000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Rosa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9036875" cy="7094601"/>
          </a:xfrm>
          <a:prstGeom prst="roundRect">
            <a:avLst>
              <a:gd name="adj" fmla="val 3580"/>
            </a:avLst>
          </a:prstGeom>
          <a:solidFill>
            <a:srgbClr val="FD5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06875" y="294640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5280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#FD5E6D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7040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7680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253, 94, 109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9440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40080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772400"/>
            <a:ext cx="90368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de tipo 1. Statements, títulos, chapéus, números-destaque.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Azul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9036875" cy="7094601"/>
          </a:xfrm>
          <a:prstGeom prst="roundRect">
            <a:avLst>
              <a:gd name="adj" fmla="val 3580"/>
            </a:avLst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06875" y="294640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5280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#436AE1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7040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7680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67, 106, 225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9440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40080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772400"/>
            <a:ext cx="90368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de tipo 2. Corpo de texto, tópicos, legendas, manchetes.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Bege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9036875" cy="7094601"/>
          </a:xfrm>
          <a:prstGeom prst="roundRect">
            <a:avLst>
              <a:gd name="adj" fmla="val 3580"/>
            </a:avLst>
          </a:prstGeom>
          <a:solidFill>
            <a:srgbClr val="EEECE6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06875" y="294640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5280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#EEECE6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7040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7680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238, 236, 230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9440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40080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772400"/>
            <a:ext cx="90368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Fundo de conteúdo padrão. Nunca é cor de tipo.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Branco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9036875" cy="7094601"/>
          </a:xfrm>
          <a:prstGeom prst="roundRect">
            <a:avLst>
              <a:gd name="adj" fmla="val 3580"/>
            </a:avLst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06875" y="294640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5280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#FFFFFF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7040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7680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255, 255, 255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9440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40080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772400"/>
            <a:ext cx="90368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Fundo claro e texto sobre fundo saturado (regra de contraste).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Preto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9036875" cy="7094601"/>
          </a:xfrm>
          <a:prstGeom prst="roundRect">
            <a:avLst>
              <a:gd name="adj" fmla="val 358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06875" y="294640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5280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#000000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7040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7680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0, 0, 0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9440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40080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772400"/>
            <a:ext cx="90368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Reserva. Não usar em tipo da marca.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PAPÉIS DE COR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tipo só tem duas cores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5855250" cy="3225800"/>
          </a:xfrm>
          <a:prstGeom prst="roundRect">
            <a:avLst>
              <a:gd name="adj" fmla="val 787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70000" y="3454400"/>
            <a:ext cx="483925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0000" y="4673600"/>
            <a:ext cx="48392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Statements, títulos, chapéus e números-destaque. É a cor que marca hierarquia alta.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25250" y="2946400"/>
            <a:ext cx="5855250" cy="3225800"/>
          </a:xfrm>
          <a:prstGeom prst="roundRect">
            <a:avLst>
              <a:gd name="adj" fmla="val 787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3250" y="3454400"/>
            <a:ext cx="483925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3250" y="4673600"/>
            <a:ext cx="4839250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Corpo de texto, tópicos, legendas e manchetes. É a cor que se le em volume.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488500" y="2946400"/>
            <a:ext cx="5855250" cy="3225800"/>
          </a:xfrm>
          <a:prstGeom prst="roundRect">
            <a:avLst>
              <a:gd name="adj" fmla="val 787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6500" y="3454400"/>
            <a:ext cx="483925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Branco</a:t>
            </a:r>
          </a:p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6500" y="4673600"/>
            <a:ext cx="4839250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Não é escolha: aparece quando a regra de contraste age sobre fundo saturado.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FD5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14875" y="4588700"/>
            <a:ext cx="8020875" cy="213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Título 60 é rosa.</a:t>
            </a:r>
          </a:p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Sobre fundo rosa,</a:t>
            </a:r>
          </a:p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ele nasce branco.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REGRA DE CONTRASTE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98600"/>
            <a:ext cx="9036875" cy="144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Texto nunca some no fundo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708400"/>
            <a:ext cx="9036875" cy="50520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Se a cor do texto for exatamente a cor do fundo, o texto vira branco.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fundo relevante é, nesta ordem: o preenchimento da própria forma; senão o do grupo que a contém; senão o do slide e isso inclui uma forma sólida cobrindo a página, que é como a maioria dos decks reais é montada.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Fundos permitidos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4264437" cy="2870200"/>
          </a:xfrm>
          <a:prstGeom prst="roundRect">
            <a:avLst>
              <a:gd name="adj" fmla="val 884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70000" y="34544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Bege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0000" y="4318000"/>
            <a:ext cx="3248437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fundo de conteúdo padrão. Tipo em rosa e azul.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34437" y="2946400"/>
            <a:ext cx="4264437" cy="2870200"/>
          </a:xfrm>
          <a:prstGeom prst="roundRect">
            <a:avLst>
              <a:gd name="adj" fmla="val 884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42437" y="34544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Branco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42437" y="4318000"/>
            <a:ext cx="32484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Cards e areas de respiro. Tipo em rosa e azul.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06875" y="2946400"/>
            <a:ext cx="4264437" cy="2870200"/>
          </a:xfrm>
          <a:prstGeom prst="roundRect">
            <a:avLst>
              <a:gd name="adj" fmla="val 884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14875" y="34544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14875" y="4318000"/>
            <a:ext cx="32484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Aberturas e destaques. Tipo em branco.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079313" y="2946400"/>
            <a:ext cx="4264437" cy="2870200"/>
          </a:xfrm>
          <a:prstGeom prst="roundRect">
            <a:avLst>
              <a:gd name="adj" fmla="val 884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87313" y="34544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87313" y="4318000"/>
            <a:ext cx="32484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Aberturas e destaques. Tipo em branco.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Cor: o que vale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paleta é fechada. Não existe 'um azul um pouco mais claro'.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124200"/>
            <a:ext cx="9036875" cy="5054600"/>
          </a:xfrm>
          <a:prstGeom prst="roundRect">
            <a:avLst>
              <a:gd name="adj" fmla="val 50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70000" y="3632200"/>
            <a:ext cx="8020875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436AE1"/>
                </a:solidFill>
                <a:latin typeface="Avenir Next"/>
              </a:rPr>
              <a:t>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0000" y="4826000"/>
            <a:ext cx="8020875" cy="284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0"/>
              </a:spcAft>
            </a:pPr>
            <a:r>
              <a:rPr sz="2000" b="0">
                <a:solidFill>
                  <a:srgbClr val="436AE1"/>
                </a:solidFill>
                <a:latin typeface="Avenir Next"/>
              </a:rPr>
              <a:t>Usar os cinco slots como estao</a:t>
            </a:r>
          </a:p>
          <a:p>
            <a:pPr algn="l">
              <a:lnSpc>
                <a:spcPct val="130000"/>
              </a:lnSpc>
              <a:spcAft>
                <a:spcPts val="4000"/>
              </a:spcAft>
            </a:pPr>
            <a:r>
              <a:rPr sz="2000" b="0">
                <a:solidFill>
                  <a:srgbClr val="436AE1"/>
                </a:solidFill>
                <a:latin typeface="Avenir Next"/>
              </a:rPr>
              <a:t>Deixar a regra de contraste decidir o branco</a:t>
            </a:r>
          </a:p>
          <a:p>
            <a:pPr algn="l">
              <a:lnSpc>
                <a:spcPct val="130000"/>
              </a:lnSpc>
              <a:spcAft>
                <a:spcPts val="4000"/>
              </a:spcAft>
            </a:pPr>
            <a:r>
              <a:rPr sz="2000" b="0">
                <a:solidFill>
                  <a:srgbClr val="436AE1"/>
                </a:solidFill>
                <a:latin typeface="Avenir Next"/>
              </a:rPr>
              <a:t>Bege como fundo padrão de conteúdo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Rosa e azul como os dois papéis de tipo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06875" y="3124200"/>
            <a:ext cx="9036875" cy="5054600"/>
          </a:xfrm>
          <a:prstGeom prst="roundRect">
            <a:avLst>
              <a:gd name="adj" fmla="val 50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14875" y="3632200"/>
            <a:ext cx="8020875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Nunca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4875" y="4826000"/>
            <a:ext cx="8020875" cy="284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0"/>
              </a:spcAft>
            </a:pPr>
            <a:r>
              <a:rPr sz="2000" b="0">
                <a:solidFill>
                  <a:srgbClr val="436AE1"/>
                </a:solidFill>
                <a:latin typeface="Avenir Next"/>
              </a:rPr>
              <a:t>Criar tom intermediário 'para variar'</a:t>
            </a:r>
          </a:p>
          <a:p>
            <a:pPr algn="l">
              <a:lnSpc>
                <a:spcPct val="130000"/>
              </a:lnSpc>
              <a:spcAft>
                <a:spcPts val="4000"/>
              </a:spcAft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preto em conteúdo de marca</a:t>
            </a:r>
          </a:p>
          <a:p>
            <a:pPr algn="l">
              <a:lnSpc>
                <a:spcPct val="130000"/>
              </a:lnSpc>
              <a:spcAft>
                <a:spcPts val="4000"/>
              </a:spcAft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de fundo fora dos quatro permitidos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Transparência para 'suavizar' uma cor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317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D5E6D"/>
                </a:solidFill>
                <a:latin typeface="Avenir Next"/>
              </a:rPr>
              <a:t>3.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53000"/>
            <a:ext cx="13809313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Tipografia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985000"/>
            <a:ext cx="9036875" cy="1684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Uma família, treze estilos. Cada um já traz peso, cor e entrelinha: escolher o estilo decide as quatro coisas.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TIPOGRAFIA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escala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Treze corpos, nada entre eles. Se não está aqui, não é do sistema.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055300"/>
            <a:ext cx="33099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250PT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461700"/>
            <a:ext cx="33099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Big Number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071300"/>
            <a:ext cx="330995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rosa · 1.00x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9950" y="4055300"/>
            <a:ext cx="33099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120PT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9950" y="4461700"/>
            <a:ext cx="33099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9950" y="5071300"/>
            <a:ext cx="330995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rosa · 0.80x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7900" y="4055300"/>
            <a:ext cx="33099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80PT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7900" y="4461700"/>
            <a:ext cx="33099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Manchete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7900" y="5071300"/>
            <a:ext cx="330995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azul · 0.90x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15850" y="4055300"/>
            <a:ext cx="33099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60PT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15850" y="4461700"/>
            <a:ext cx="33099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Título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15850" y="5071300"/>
            <a:ext cx="330995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rosa · 0.90x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33800" y="4055300"/>
            <a:ext cx="33099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44PT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33800" y="4461700"/>
            <a:ext cx="33099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Destaque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33800" y="5071300"/>
            <a:ext cx="330995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Regular · azul · 1.15x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909500"/>
            <a:ext cx="33099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6315900"/>
            <a:ext cx="33099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Subtítulo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6925500"/>
            <a:ext cx="330995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rosa · 0.95x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9950" y="5909500"/>
            <a:ext cx="33099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9950" y="6315900"/>
            <a:ext cx="33099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Texto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9950" y="6925500"/>
            <a:ext cx="330995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Regular · azul · 1.30x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7900" y="5909500"/>
            <a:ext cx="33099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28PT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7900" y="6315900"/>
            <a:ext cx="33099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Tópico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7900" y="6925500"/>
            <a:ext cx="330995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azul · 1.00x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15850" y="5909500"/>
            <a:ext cx="33099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24PT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15850" y="6315900"/>
            <a:ext cx="33099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Texto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15850" y="6925500"/>
            <a:ext cx="330995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Regular · azul · 1.00x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33800" y="5909500"/>
            <a:ext cx="33099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20PT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33800" y="6315900"/>
            <a:ext cx="33099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Apoio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33800" y="6925500"/>
            <a:ext cx="330995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Regular · azul · 1.30x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" y="7763700"/>
            <a:ext cx="33099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18PT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8170100"/>
            <a:ext cx="33099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Chapéu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00" y="8779700"/>
            <a:ext cx="330995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rosa · 1.00x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9950" y="7763700"/>
            <a:ext cx="33099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15PT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9950" y="8170100"/>
            <a:ext cx="33099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Texto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9950" y="8779700"/>
            <a:ext cx="330995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Regular · azul · 1.30x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7900" y="7763700"/>
            <a:ext cx="33099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7900" y="8170100"/>
            <a:ext cx="33099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Legenda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7900" y="8779700"/>
            <a:ext cx="330995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azul · 1.30x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15850" y="7763700"/>
            <a:ext cx="33099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215850" y="8170100"/>
            <a:ext cx="33099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CAPS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215850" y="8779700"/>
            <a:ext cx="330995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azul · 1.00x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Big Number 250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250pt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303px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710801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número que carrega a página inteira. Um por slide, sem concorrência.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598100"/>
            <a:ext cx="18581751" cy="317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D5E6D"/>
                </a:solidFill>
                <a:latin typeface="Avenir Next"/>
              </a:rPr>
              <a:t>47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Statement 120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120pt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0.80x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146px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710801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frase-manifesto. Ponto final em azul; sobre fundo azul, o texto vira branco e o ponto rosa.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814000"/>
            <a:ext cx="18581751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D5E6D"/>
                </a:solidFill>
                <a:latin typeface="Avenir Next"/>
              </a:rPr>
              <a:t>A marca não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D5E6D"/>
                </a:solidFill>
                <a:latin typeface="Avenir Next"/>
              </a:rPr>
              <a:t>é o que você diz</a:t>
            </a:r>
            <a:r>
              <a:rPr sz="12000" b="1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Manchete 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80pt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97px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710801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Título de abertura de capítulo.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220400"/>
            <a:ext cx="18581751" cy="19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O começo de</a:t>
            </a:r>
          </a:p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um capítulo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Título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60pt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73px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710801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Título de página.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8046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Título de página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Destaque 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44pt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1.15x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53px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710801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Corpo de destaque e manifesto. O maior corpo que ainda é texto, não título.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542980"/>
            <a:ext cx="18581751" cy="1285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O corpo de destaque carrega a ideia principal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sem virar título.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Subtítulo 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0.95x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41px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710801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Subtítulo e descritivo abaixo do título.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969700"/>
            <a:ext cx="18581751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Subtítulo que explica o título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Texto 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8566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2630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8566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2630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8566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2630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8566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2630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8566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2630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41px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380601"/>
            <a:ext cx="13809313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corrido grande: intro de pagina e paragrafo de argumento. Entre o Destaque 44, que e' statement curto, e o Texto 24.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459160"/>
            <a:ext cx="18581751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Texto corrido grande. É o parágrafo de argumento: entra onde o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Destaque 44 pesaria demais e o Texto 24 ficaria miúdo.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Tópico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28pt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34px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710801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Título de tópico ou de card.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007800"/>
            <a:ext cx="1858175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Título de tópico ou de card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Texto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24pt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29px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710801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corrido. O padrão de toda caixa nova.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880800"/>
            <a:ext cx="18581751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436AE1"/>
                </a:solidFill>
                <a:latin typeface="Avenir Next"/>
              </a:rPr>
              <a:t>Texto corrido. É o estilo que toda caixa nova recebe ao nascer,</a:t>
            </a:r>
          </a:p>
          <a:p>
            <a:pPr algn="l">
              <a:lnSpc>
                <a:spcPct val="100000"/>
              </a:lnSpc>
            </a:pPr>
            <a:r>
              <a:rPr sz="2400" b="0">
                <a:solidFill>
                  <a:srgbClr val="436AE1"/>
                </a:solidFill>
                <a:latin typeface="Avenir Next"/>
              </a:rPr>
              <a:t>porque é o que mais aparece num deck de verdade.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Apoio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24px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710801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de apoio em pilares e colunas.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855400"/>
            <a:ext cx="18581751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de apoio em pilares e colunas. Respira mais que o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corrido porque costuma vir em bloco estreito.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Chapéu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18pt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22px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710801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Chapéu acima do título.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071300"/>
            <a:ext cx="18581751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CHAPÉU ACIMA DO TÍTULO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Texto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15pt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18px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710801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corrido pequeno, em slides densos.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937950"/>
            <a:ext cx="18581751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Texto corrido pequeno, para slides densos onde 24pt não caberia.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A entrelinha de 1,3x mantém a leitura confortável mesmo apertado.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Legenda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15px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710801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Legendas, notas e fontes.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987480"/>
            <a:ext cx="18581751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Legenda de imagem, nota de rodapé ou fonte de dado.</a:t>
            </a:r>
          </a:p>
          <a:p>
            <a:pPr algn="l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Fonte: CBA B+G, 2026.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CAPS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8186801"/>
            <a:ext cx="32083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593201"/>
            <a:ext cx="32083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15px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710801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Rótulo em caixa alta. Mesmo corpo da Legenda 12, entrelinha diferente.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1094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Rótulo em caixa alta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8085201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Sempre exata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694801"/>
            <a:ext cx="4264437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Multiplo do corpo, nunca 'simples' ou 'duplo', que variam com a fonte e quebram entre máquinas.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34437" y="8085201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Pertence ao estilo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4437" y="8694801"/>
            <a:ext cx="4264437" cy="132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Legenda 12 e CAPS 12 dividem o corpo e divergem na entrelinha. Uma tabela por tamanho não descreveria os dois.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8085201"/>
            <a:ext cx="4264437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Há uma tabela por tamanho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9050401"/>
            <a:ext cx="4264437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Ela alimenta os botões de Entrelinha e age em texto sem estilo. Onde discordam, o estilo manda.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62000"/>
            <a:ext cx="1380931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ENTRELINHA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498600"/>
            <a:ext cx="13809313" cy="144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Quanto maior o corpo,</a:t>
            </a:r>
          </a:p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mais apertada a linha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708400"/>
            <a:ext cx="13809313" cy="3368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Não é arbitrario. Em 250 e 120pt o espaço entre linhas já é enorme em valor absoluto: o multiplicador comprime para o bloco ler como uma massa só.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Em 12 e 15pt acontece o inverso: a linha precisa de ar para o olho achar a proxima.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Entrelinha por estilo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286000"/>
            <a:ext cx="13809313" cy="561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valor efetivo em pontos é o corpo vezes o multiplicador.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285170"/>
            <a:ext cx="4264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250PT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691570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250.0 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55170"/>
            <a:ext cx="4264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120PT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5961570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0.80x   =   96.0 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6825170"/>
            <a:ext cx="4264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80PT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7231570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   =   72.0 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8095170"/>
            <a:ext cx="4264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60PT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8501570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   =   54.0 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4437" y="4285170"/>
            <a:ext cx="4264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44PT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4437" y="4691570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1.15x   =   50.6 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4437" y="5555170"/>
            <a:ext cx="4264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4437" y="5961570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0.95x   =   32.3 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4437" y="6825170"/>
            <a:ext cx="4264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4437" y="7231570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   =   44.2 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4437" y="8095170"/>
            <a:ext cx="4264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28PT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4437" y="8501570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28.0 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06875" y="4285170"/>
            <a:ext cx="4264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24PT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06875" y="4691570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24.0 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06875" y="5555170"/>
            <a:ext cx="4264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20PT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6875" y="5961570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   =   26.0 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06875" y="6825170"/>
            <a:ext cx="4264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18PT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875" y="7231570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18.0 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06875" y="8095170"/>
            <a:ext cx="4264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15PT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06875" y="8501570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   =   19.5 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79313" y="4285170"/>
            <a:ext cx="4264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79313" y="4691570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   =   15.6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79313" y="5555170"/>
            <a:ext cx="4264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79313" y="5961570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12.0 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14875" y="3674300"/>
            <a:ext cx="8020875" cy="396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Branco.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Ponto rosa</a:t>
            </a:r>
            <a:r>
              <a:rPr sz="12000" b="1">
                <a:solidFill>
                  <a:srgbClr val="FD5E6D"/>
                </a:solidFill>
                <a:latin typeface="Avenir Next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COMPORTAMENTO PROPRIO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98600"/>
            <a:ext cx="9036875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ponto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022600"/>
            <a:ext cx="9036875" cy="561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Statement 120 pinta o ponto final de azul. Só o ponto, e só se a frase terminar em ponto.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Sobre fundo azul, o texto vira branco e o ponto vira rosa: as duas regras agindo juntas sem se anular.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É o único estilo com comportamento próprio. Os outros doze são declarativos.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14875" y="5426900"/>
            <a:ext cx="80208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Rótulo em caixa alta</a:t>
            </a:r>
          </a:p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 três pontos</a:t>
            </a:r>
          </a:p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de espaçamento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COMPORTAMENTO PROPRIO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98600"/>
            <a:ext cx="9036875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Caixa alta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022600"/>
            <a:ext cx="9036875" cy="449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CAPS 12 aplica caixa alta e 3pt de espaçamento entre letras. Caixa alta sem espaçamento fecha demais em Avenir Next Bold.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É reversível: aplicar outro estilo por cima desfaz a caixa alta e zera o espaçamento. Nenhum estilo deixa resíduo.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317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53000"/>
            <a:ext cx="13809313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985000"/>
            <a:ext cx="9036875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Poucas pecas, todas derivadas do raio e do módulo.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AS DUAS PECAS 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Caixa e bloco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5855250" cy="2870200"/>
          </a:xfrm>
          <a:prstGeom prst="roundRect">
            <a:avLst>
              <a:gd name="adj" fmla="val 884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70000" y="3454400"/>
            <a:ext cx="48392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Caixa de 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0000" y="4318000"/>
            <a:ext cx="48392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Nasce em Texto 24, âncorada na medida escolhida. Sem preenchimento e sem contorno.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25250" y="2946400"/>
            <a:ext cx="5855250" cy="2870200"/>
          </a:xfrm>
          <a:prstGeom prst="roundRect">
            <a:avLst>
              <a:gd name="adj" fmla="val 884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3250" y="3454400"/>
            <a:ext cx="48392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Rounded box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3250" y="4318000"/>
            <a:ext cx="4839250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Bloco de cor com o raio do sistema. Tambem nasce em Texto 24.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488500" y="2946400"/>
            <a:ext cx="5855250" cy="2870200"/>
          </a:xfrm>
          <a:prstGeom prst="roundRect">
            <a:avLst>
              <a:gd name="adj" fmla="val 884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6500" y="3454400"/>
            <a:ext cx="48392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6500" y="4318000"/>
            <a:ext cx="48392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Bloco totalmente arredondado. Para rotulos e banners curtos, nunca para texto longo.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Card é rounded box com padding de um módulo. A grade sai da divisão da área útil com gaps múltiplos de 20pt.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401500"/>
            <a:ext cx="4264437" cy="2362200"/>
          </a:xfrm>
          <a:prstGeom prst="roundRect">
            <a:avLst>
              <a:gd name="adj" fmla="val 107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70000" y="59095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 CARDS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0000" y="63159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706 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70000" y="69255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gap de 20pt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4437" y="5401500"/>
            <a:ext cx="4264437" cy="2362200"/>
          </a:xfrm>
          <a:prstGeom prst="roundRect">
            <a:avLst>
              <a:gd name="adj" fmla="val 107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42437" y="59095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 CARDS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42437" y="63159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464 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42437" y="69255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gap de 20pt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06875" y="5401500"/>
            <a:ext cx="4264437" cy="2362200"/>
          </a:xfrm>
          <a:prstGeom prst="roundRect">
            <a:avLst>
              <a:gd name="adj" fmla="val 107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14875" y="59095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4 CARDS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14875" y="63159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343 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14875" y="69255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gap de 20pt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079313" y="5401500"/>
            <a:ext cx="4264437" cy="2362200"/>
          </a:xfrm>
          <a:prstGeom prst="roundRect">
            <a:avLst>
              <a:gd name="adj" fmla="val 107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87313" y="59095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87313" y="63159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40 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87313" y="69255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dois módulos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Imagens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286000"/>
            <a:ext cx="13809313" cy="1684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Imagem entra com o mesmo raio das formas. Recorte é pelo botão Crop da faixa, que usa o comando nativo do PowerPoint: nada de esticar para caber.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1651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RAIO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52291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20 pt, igual às formas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38651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RECORTE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79291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Formas &gt; Crop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611651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PROPORÇÃO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52291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nunca distorcer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38651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LEGENDA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79291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Legenda 12, abaixo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Componentes: o que vale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Quando bater a vontade de separar com um traco, a resposta é hierarquia.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124200"/>
            <a:ext cx="9036875" cy="5054600"/>
          </a:xfrm>
          <a:prstGeom prst="roundRect">
            <a:avLst>
              <a:gd name="adj" fmla="val 50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70000" y="3632200"/>
            <a:ext cx="8020875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436AE1"/>
                </a:solidFill>
                <a:latin typeface="Avenir Next"/>
              </a:rPr>
              <a:t>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0000" y="4826000"/>
            <a:ext cx="8020875" cy="284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0"/>
              </a:spcAft>
            </a:pPr>
            <a:r>
              <a:rPr sz="2000" b="0">
                <a:solidFill>
                  <a:srgbClr val="436AE1"/>
                </a:solidFill>
                <a:latin typeface="Avenir Next"/>
              </a:rPr>
              <a:t>Espaço em branco em múltiplo de 20pt</a:t>
            </a:r>
          </a:p>
          <a:p>
            <a:pPr algn="l">
              <a:lnSpc>
                <a:spcPct val="130000"/>
              </a:lnSpc>
              <a:spcAft>
                <a:spcPts val="4000"/>
              </a:spcAft>
            </a:pPr>
            <a:r>
              <a:rPr sz="2000" b="0">
                <a:solidFill>
                  <a:srgbClr val="436AE1"/>
                </a:solidFill>
                <a:latin typeface="Avenir Next"/>
              </a:rPr>
              <a:t>Mudanca de corpo para separar assunto</a:t>
            </a:r>
          </a:p>
          <a:p>
            <a:pPr algn="l">
              <a:lnSpc>
                <a:spcPct val="130000"/>
              </a:lnSpc>
              <a:spcAft>
                <a:spcPts val="4000"/>
              </a:spcAft>
            </a:pPr>
            <a:r>
              <a:rPr sz="2000" b="0">
                <a:solidFill>
                  <a:srgbClr val="436AE1"/>
                </a:solidFill>
                <a:latin typeface="Avenir Next"/>
              </a:rPr>
              <a:t>Bloco de cor para agrupar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mesmo raio em tudo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06875" y="3124200"/>
            <a:ext cx="9036875" cy="5054600"/>
          </a:xfrm>
          <a:prstGeom prst="roundRect">
            <a:avLst>
              <a:gd name="adj" fmla="val 50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14875" y="3632200"/>
            <a:ext cx="8020875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Nunca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4875" y="4826000"/>
            <a:ext cx="8020875" cy="284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0"/>
              </a:spcAft>
            </a:pPr>
            <a:r>
              <a:rPr sz="2000" b="0">
                <a:solidFill>
                  <a:srgbClr val="436AE1"/>
                </a:solidFill>
                <a:latin typeface="Avenir Next"/>
              </a:rPr>
              <a:t>Linha fina decorativa</a:t>
            </a:r>
          </a:p>
          <a:p>
            <a:pPr algn="l">
              <a:lnSpc>
                <a:spcPct val="130000"/>
              </a:lnSpc>
              <a:spcAft>
                <a:spcPts val="4000"/>
              </a:spcAft>
            </a:pPr>
            <a:r>
              <a:rPr sz="2000" b="0">
                <a:solidFill>
                  <a:srgbClr val="436AE1"/>
                </a:solidFill>
                <a:latin typeface="Avenir Next"/>
              </a:rPr>
              <a:t>Barra vertical de destaque</a:t>
            </a:r>
          </a:p>
          <a:p>
            <a:pPr algn="l">
              <a:lnSpc>
                <a:spcPct val="130000"/>
              </a:lnSpc>
              <a:spcAft>
                <a:spcPts val="4000"/>
              </a:spcAft>
            </a:pPr>
            <a:r>
              <a:rPr sz="2000" b="0">
                <a:solidFill>
                  <a:srgbClr val="436AE1"/>
                </a:solidFill>
                <a:latin typeface="Avenir Next"/>
              </a:rPr>
              <a:t>Sombra, gradiente ou brilho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Raio diferente 'porque a forma é menor'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317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D5E6D"/>
                </a:solidFill>
                <a:latin typeface="Avenir Next"/>
              </a:rPr>
              <a:t>5.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53000"/>
            <a:ext cx="13809313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985000"/>
            <a:ext cx="9036875" cy="1684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Os layouts que o sistema aceita. Fora deles, é composição nova e composição nova pede revisão.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catálogo, 1 de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Os arquétipos de abertura, especificação e grade.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6362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70000" y="41442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0000" y="45506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Hero 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70000" y="5160200"/>
            <a:ext cx="32484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Statement que abre. Fundo sempre saturado.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4437" y="36362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42437" y="41442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42437" y="45506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Chapter divider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42437" y="51602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Número e título de bloco.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06875" y="36362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14875" y="41442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14875" y="45506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Spec page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14875" y="5160200"/>
            <a:ext cx="32484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Título, intro e pares rótulo/valor.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079313" y="36362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87313" y="41442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87313" y="45506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Type specimen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87313" y="5160200"/>
            <a:ext cx="32484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Amostra no corpo real e ficha técnica.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68366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70000" y="73446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0000" y="77510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Swatch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70000" y="8360600"/>
            <a:ext cx="32484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Uma cor com hex, RGB e papel.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34437" y="68366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42437" y="73446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6.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42437" y="77510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Multi card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2437" y="8360600"/>
            <a:ext cx="32484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2 a 4 cards de mesma altura.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06875" y="68366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4875" y="73446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7.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14875" y="77510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Card grid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14875" y="83606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Grade densa, com caixa.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catálogo, 2 de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Os arquétipos de composição, regra e fecho.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6362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70000" y="41442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0000" y="45506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Grid plain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70000" y="51602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mesma grade, sem caixa.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4437" y="36362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42437" y="41442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42437" y="45506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Zoned content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42437" y="5160200"/>
            <a:ext cx="32484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Zona superior e faixa inferior.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06875" y="36362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14875" y="41442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14875" y="45506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Stat band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14875" y="51602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Faixa inferior de números.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079313" y="36362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87313" y="41442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87313" y="45506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Quote side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87313" y="51602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e painel de cor.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68366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70000" y="73446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0000" y="77510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Do e nunca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70000" y="83606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Duas colunas de regra.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34437" y="68366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42437" y="73446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13.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42437" y="77510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Diagram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2437" y="8360600"/>
            <a:ext cx="32484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Esquema desenhado em escala.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06875" y="68366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4875" y="73446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14.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14875" y="77510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Closing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14875" y="83606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Fecho do documento.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ARQUÉTIPO 01  ·  HERO COVER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76120"/>
            <a:ext cx="1380931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Uma frase que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marca a página</a:t>
            </a:r>
            <a:r>
              <a:rPr sz="12000" b="1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735320"/>
            <a:ext cx="9036875" cy="19278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Statement 120 sobre fundo saturado: o texto vira branco e o ponto, rosa.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317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D5E6D"/>
                </a:solidFill>
                <a:latin typeface="Avenir Next"/>
              </a:rPr>
              <a:t>2.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53000"/>
            <a:ext cx="13809313" cy="19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Chapter divider</a:t>
            </a:r>
          </a:p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sobre bege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899400"/>
            <a:ext cx="9036875" cy="1684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mesmo arquétipo do bloco 01, com fundo claro: Big Number e Manchete mantém a cor de tipo.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8771001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Uma tese por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9380601"/>
            <a:ext cx="4264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Se há duas, são dois slides.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34437" y="8771001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Três a cinco itens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4437" y="9380601"/>
            <a:ext cx="42644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Menos que três não pede o layout; mais que cinco não cabe.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8771001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Título em Tópico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9380601"/>
            <a:ext cx="4264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Corpo em Texto 15.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62000"/>
            <a:ext cx="1380931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ARQUÉTIPO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498600"/>
            <a:ext cx="13809313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Pillar dense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022600"/>
            <a:ext cx="13809313" cy="224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Coluna de argumento à esquerda, desdobramento à direita. É o layout de maior densidade que o sistema aceita sem virar poluição.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Use quando o conteúdo tem uma tese e três a cinco consequências.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FD5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14875" y="4691570"/>
            <a:ext cx="8020875" cy="19278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O painel carrega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o que o texto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afirma.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ARQUÉTIPO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98600"/>
            <a:ext cx="9036875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Quote 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022600"/>
            <a:ext cx="9036875" cy="224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Texto à esquerda, painel de cor à direita. O painel não é decoracao: ele carrega a citação, o número ou a amostra que sustenta o argumento do lado esquerdo.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Multi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5855250" cy="254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70000" y="3454400"/>
            <a:ext cx="48392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Dois a quatro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0000" y="4318000"/>
            <a:ext cx="4839250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Mais que quatro vira grade densa, que é outro arquétipo.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25250" y="2946400"/>
            <a:ext cx="5855250" cy="254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3250" y="3454400"/>
            <a:ext cx="48392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Mesma altura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3250" y="4318000"/>
            <a:ext cx="4839250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Cards de alturas diferentes quebram a leitura horizontal.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488500" y="2946400"/>
            <a:ext cx="5855250" cy="254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6500" y="3454400"/>
            <a:ext cx="48392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Gap de 20pt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6500" y="4318000"/>
            <a:ext cx="4839250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Sempre o módulo, nunca uma folga escolhida no olho.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Spec page sobre branco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946400"/>
            <a:ext cx="13809313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mesmo arquétipo de especificacao, em fundo branco. Todos os arquétipos aceitam os quatro fundos permitidos sem ajuste.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6604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57244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Branco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43604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84244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 e azul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16604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CONTRASTE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57244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Não dispara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43604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784244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Areas de respiro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Card grid em duas colunas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mesma grade, com menos colunas e mais corpo por item.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401500"/>
            <a:ext cx="9036875" cy="2362200"/>
          </a:xfrm>
          <a:prstGeom prst="roundRect">
            <a:avLst>
              <a:gd name="adj" fmla="val 107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70000" y="5909500"/>
            <a:ext cx="8020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VARIAÇÃO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0000" y="6315900"/>
            <a:ext cx="8020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Duas colunas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70000" y="6925500"/>
            <a:ext cx="80208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Dois módulos de largura cada, para item com texto.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06875" y="5401500"/>
            <a:ext cx="9036875" cy="2362200"/>
          </a:xfrm>
          <a:prstGeom prst="roundRect">
            <a:avLst>
              <a:gd name="adj" fmla="val 107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14875" y="5909500"/>
            <a:ext cx="8020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VARIAÇÃO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14875" y="6315900"/>
            <a:ext cx="8020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Quatro colunas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14875" y="6925500"/>
            <a:ext cx="80208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Uma coluna cada, para rótulo e número.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Grid plain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mesma grade sem caixa. Quando o item é curto, a caixa não acrescenta informação, só peso.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744400"/>
            <a:ext cx="4264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0800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Sem caixa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760400"/>
            <a:ext cx="42644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alinhamento sustenta o agrupamento.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5744400"/>
            <a:ext cx="4264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6150800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Mesma 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4437" y="6760400"/>
            <a:ext cx="42644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As colunas são as mesmas do card grid.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5744400"/>
            <a:ext cx="4264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6150800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Item curto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6760400"/>
            <a:ext cx="4264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Rótulo, título e uma linha de apoio.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79313" y="5744400"/>
            <a:ext cx="4264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79313" y="6150800"/>
            <a:ext cx="4264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Mais leve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79313" y="6760400"/>
            <a:ext cx="42644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Preferir quando houver seis itens ou mais.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8440801"/>
            <a:ext cx="4264437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9710801"/>
            <a:ext cx="4264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estilos na escala fechada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34437" y="8440801"/>
            <a:ext cx="4264437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4437" y="9710801"/>
            <a:ext cx="4264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cores na paleta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8440801"/>
            <a:ext cx="4264437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9710801"/>
            <a:ext cx="4264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pontos de módulo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79313" y="8440801"/>
            <a:ext cx="4264437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79313" y="9710801"/>
            <a:ext cx="4264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colunas na grade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762000"/>
            <a:ext cx="13809313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422400"/>
            <a:ext cx="13809313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Stat band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2946400"/>
            <a:ext cx="13809313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Variação da faixa inferior para números. A zona de cima sustenta o argumento e a faixa entrega a evidência, sem competir por atenção.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VARIAÇÃO DE FUNDO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Multi card sobre azul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9036875" cy="2209800"/>
          </a:xfrm>
          <a:prstGeom prst="roundRect">
            <a:avLst>
              <a:gd name="adj" fmla="val 1149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70000" y="3454400"/>
            <a:ext cx="8020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Fundo saturado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0000" y="4318000"/>
            <a:ext cx="80208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título vira branco pela regra de contraste, sem ninguém escolher.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06875" y="2946400"/>
            <a:ext cx="9036875" cy="2209800"/>
          </a:xfrm>
          <a:prstGeom prst="roundRect">
            <a:avLst>
              <a:gd name="adj" fmla="val 1149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14875" y="3454400"/>
            <a:ext cx="8020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Card claro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4875" y="4318000"/>
            <a:ext cx="80208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card mantém o fundo branco e o tipo volta às cores da marca.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317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6.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53000"/>
            <a:ext cx="13809313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985000"/>
            <a:ext cx="9036875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que o sistema nunca emite, e para onde vai o que ficou de fora.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Anti-vícios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lista do que o sistema recusa. Não é preferência estética: é o que mantém dois decks parecidos.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124200"/>
            <a:ext cx="9036875" cy="5054600"/>
          </a:xfrm>
          <a:prstGeom prst="roundRect">
            <a:avLst>
              <a:gd name="adj" fmla="val 50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70000" y="3632200"/>
            <a:ext cx="8020875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436AE1"/>
                </a:solidFill>
                <a:latin typeface="Avenir Next"/>
              </a:rPr>
              <a:t>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0000" y="4826000"/>
            <a:ext cx="8020875" cy="284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0"/>
              </a:spcAft>
            </a:pPr>
            <a:r>
              <a:rPr sz="2000" b="0">
                <a:solidFill>
                  <a:srgbClr val="436AE1"/>
                </a:solidFill>
                <a:latin typeface="Avenir Next"/>
              </a:rPr>
              <a:t>Corpo da escala dos treze</a:t>
            </a:r>
          </a:p>
          <a:p>
            <a:pPr algn="l">
              <a:lnSpc>
                <a:spcPct val="130000"/>
              </a:lnSpc>
              <a:spcAft>
                <a:spcPts val="4000"/>
              </a:spcAft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dos cinco slots</a:t>
            </a:r>
          </a:p>
          <a:p>
            <a:pPr algn="l">
              <a:lnSpc>
                <a:spcPct val="130000"/>
              </a:lnSpc>
              <a:spcAft>
                <a:spcPts val="4000"/>
              </a:spcAft>
            </a:pPr>
            <a:r>
              <a:rPr sz="2000" b="0">
                <a:solidFill>
                  <a:srgbClr val="436AE1"/>
                </a:solidFill>
                <a:latin typeface="Avenir Next"/>
              </a:rPr>
              <a:t>Entrelinha do estilo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Avenir Next, Regular ou Bold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06875" y="3124200"/>
            <a:ext cx="9036875" cy="5054600"/>
          </a:xfrm>
          <a:prstGeom prst="roundRect">
            <a:avLst>
              <a:gd name="adj" fmla="val 50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14875" y="3632200"/>
            <a:ext cx="8020875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Nunca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4875" y="4826000"/>
            <a:ext cx="8020875" cy="284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0"/>
              </a:spcAft>
            </a:pPr>
            <a:r>
              <a:rPr sz="2000" b="0">
                <a:solidFill>
                  <a:srgbClr val="436AE1"/>
                </a:solidFill>
                <a:latin typeface="Avenir Next"/>
              </a:rPr>
              <a:t>Linha decorativa ou divisória</a:t>
            </a:r>
          </a:p>
          <a:p>
            <a:pPr algn="l">
              <a:lnSpc>
                <a:spcPct val="130000"/>
              </a:lnSpc>
              <a:spcAft>
                <a:spcPts val="4000"/>
              </a:spcAft>
            </a:pPr>
            <a:r>
              <a:rPr sz="2000" b="0">
                <a:solidFill>
                  <a:srgbClr val="436AE1"/>
                </a:solidFill>
                <a:latin typeface="Avenir Next"/>
              </a:rPr>
              <a:t>Gradiente, sombra, brilho, contorno</a:t>
            </a:r>
          </a:p>
          <a:p>
            <a:pPr algn="l">
              <a:lnSpc>
                <a:spcPct val="130000"/>
              </a:lnSpc>
              <a:spcAft>
                <a:spcPts val="4000"/>
              </a:spcAft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ou corpo fora da tabela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Icone inventado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Checklist de auditoria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que olhar antes de mandar um deck para fora.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6362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70000" y="41442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0000" y="45506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Fonte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70000" y="51602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Toda run em Avenir Next.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4437" y="36362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42437" y="41442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42437" y="45506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42437" y="5160200"/>
            <a:ext cx="32484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Todo corpo na escala dos treze.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06875" y="36362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14875" y="41442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14875" y="45506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14875" y="51602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Toda cor nos cinco slots.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68366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70000" y="73446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0000" y="77510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0000" y="83606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Bate com a do estilo.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4437" y="68366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42437" y="73446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2437" y="77510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Margem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42437" y="83606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Nada invade os 76pt.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306875" y="6836600"/>
            <a:ext cx="4264437" cy="269240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14875" y="73446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6.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14875" y="77510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Contraste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14875" y="8360600"/>
            <a:ext cx="32484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Nenhum texto na cor do fundo.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Migração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286000"/>
            <a:ext cx="13809313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Corpos de versões anteriores que sairam da escala fechada. O botão Padronizar tipografia faz o arredondamento sozinho.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20084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55 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60724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60 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47084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36 E 32 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687724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34 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74084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22 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814724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24 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520084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16 E 14 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560724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15 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647084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ROTULO 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06875" y="687724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Título 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06875" y="774084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ACIMA DE 185 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06875" y="814724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250 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317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D5E6D"/>
                </a:solidFill>
                <a:latin typeface="Avenir Next"/>
              </a:rPr>
              <a:t>7.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53000"/>
            <a:ext cx="13809313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Outras mídias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985000"/>
            <a:ext cx="9036875" cy="561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Os tokens viajam. O que muda é a unidade.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OUTRAS MÍDIAS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 MESMA REGRA EM TRÊS UNIDADES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Web, impresso, social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5855250" cy="3200400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70000" y="3454400"/>
            <a:ext cx="48392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0000" y="4318000"/>
            <a:ext cx="4839250" cy="132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Use px da tabela (base 1080). A entrelinha vira line-height sem unidade: o multiplicador é o mesmo número. Raio de 25px, módulo de 24px.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25250" y="2946400"/>
            <a:ext cx="5855250" cy="3200400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3250" y="3454400"/>
            <a:ext cx="48392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Impresso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3250" y="4318000"/>
            <a:ext cx="48392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Use cm. A página é 55,8 x 31,4cm; em A4 paisagem o fator é 0,53. A escala não muda, só o tamanho fisico.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488500" y="2946400"/>
            <a:ext cx="5855250" cy="3200400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6500" y="3454400"/>
            <a:ext cx="483925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Social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6500" y="4318000"/>
            <a:ext cx="48392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Recorte a área útil, nunca a página inteira. A margem de 76pt existe para o conteúdo sobreviver ao corte.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OUTRAS MÍDIAS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14875" y="4619180"/>
            <a:ext cx="8020875" cy="2072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Duas cores de tipo.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Escala fechada.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Entrelinha do estilo.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Espacamento em módulo.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Contraste automatico.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O QUE NAO MUDA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98600"/>
            <a:ext cx="9036875" cy="144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hierarquia mora nas razões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708400"/>
            <a:ext cx="9036875" cy="3929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Se o layout não for 1920x1080, escale por proporção: nunca reescolha corpos.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A diferenca entre Título 60 e Texto 24 não está em 60 e 24: está na razão entre eles. Mantida a razão, o sistema sobrevive a qualquer tamanho de tela ou papel.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OUTRAS MÍDIAS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317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53000"/>
            <a:ext cx="13809313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Aplicação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985000"/>
            <a:ext cx="9036875" cy="561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Onde este sistema vira um clique.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APLICAÇÃO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faixa CBA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Os grupos da aba, e o que cada um resolve.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610800"/>
            <a:ext cx="4264437" cy="2717800"/>
          </a:xfrm>
          <a:prstGeom prst="roundRect">
            <a:avLst>
              <a:gd name="adj" fmla="val 934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70000" y="41188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INSERIR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0000" y="45252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Caixa e bloco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70000" y="51348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Já nascem no padrão.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4437" y="3610800"/>
            <a:ext cx="4264437" cy="2717800"/>
          </a:xfrm>
          <a:prstGeom prst="roundRect">
            <a:avLst>
              <a:gd name="adj" fmla="val 934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42437" y="41188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42437" y="45252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13 estilos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42437" y="5134800"/>
            <a:ext cx="32484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Um clique aplica quatro decisões.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06875" y="3610800"/>
            <a:ext cx="4264437" cy="2717800"/>
          </a:xfrm>
          <a:prstGeom prst="roundRect">
            <a:avLst>
              <a:gd name="adj" fmla="val 934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14875" y="41188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14875" y="45252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Por tamanho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14875" y="51348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Para texto sem estilo.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079313" y="3610800"/>
            <a:ext cx="4264437" cy="2717800"/>
          </a:xfrm>
          <a:prstGeom prst="roundRect">
            <a:avLst>
              <a:gd name="adj" fmla="val 934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87313" y="41188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TEXTO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87313" y="4525200"/>
            <a:ext cx="3248437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Peso e alinhamento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87313" y="54904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Negrito, esquerda, centro.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6836600"/>
            <a:ext cx="4264437" cy="2717800"/>
          </a:xfrm>
          <a:prstGeom prst="roundRect">
            <a:avLst>
              <a:gd name="adj" fmla="val 934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70000" y="73446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FONTE / FUNDO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0000" y="77510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70000" y="83606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Só os cinco slots.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34437" y="6836600"/>
            <a:ext cx="4264437" cy="2717800"/>
          </a:xfrm>
          <a:prstGeom prst="roundRect">
            <a:avLst>
              <a:gd name="adj" fmla="val 934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42437" y="73446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FORMAS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42437" y="77510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Raio e crop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2437" y="83606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Rounded, tirar, recortar.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06875" y="6836600"/>
            <a:ext cx="4264437" cy="2717800"/>
          </a:xfrm>
          <a:prstGeom prst="roundRect">
            <a:avLst>
              <a:gd name="adj" fmla="val 934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4875" y="73446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ALINHAR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14875" y="77510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Âncoras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14875" y="83606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Encaixe em medida fixa.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079313" y="6836600"/>
            <a:ext cx="4264437" cy="2717800"/>
          </a:xfrm>
          <a:prstGeom prst="roundRect">
            <a:avLst>
              <a:gd name="adj" fmla="val 934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587313" y="7344600"/>
            <a:ext cx="32484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AUDITORIA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87313" y="7751000"/>
            <a:ext cx="32484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Padronizar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87313" y="8360600"/>
            <a:ext cx="3248437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Encaixa o que fugiu.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APLICAÇÃO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Mudar os padroes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286000"/>
            <a:ext cx="13809313" cy="1684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A página de Brand Standards gera uma linha de configuração que a faixa aplica sem recompilar nada. É como o sistema evolui sem virar código novo.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1651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PÁGINA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52291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Padroes &gt; Abrir página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38651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APLICAR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79291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Padroes &gt; Aplicar 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611651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FORMATO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52291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chave=valor separado por 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386510"/>
            <a:ext cx="90368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ESTILO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792910"/>
            <a:ext cx="90368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s_&lt;id&gt; = corpo|bold|papel|entrelinha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APLICAÇÃO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674300"/>
            <a:ext cx="13809313" cy="396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Treze estilos,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cinco cores,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um módulo</a:t>
            </a:r>
            <a:r>
              <a:rPr sz="12000" b="1">
                <a:solidFill>
                  <a:srgbClr val="FD5E6D"/>
                </a:solidFill>
                <a:latin typeface="Avenir Next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